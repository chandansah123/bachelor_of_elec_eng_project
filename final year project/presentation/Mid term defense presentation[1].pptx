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68" r:id="rId4"/>
    <p:sldId id="279" r:id="rId5"/>
    <p:sldId id="280" r:id="rId6"/>
    <p:sldId id="281" r:id="rId7"/>
    <p:sldId id="285" r:id="rId8"/>
    <p:sldId id="290" r:id="rId9"/>
    <p:sldId id="272" r:id="rId10"/>
    <p:sldId id="276" r:id="rId11"/>
    <p:sldId id="273" r:id="rId12"/>
    <p:sldId id="282" r:id="rId13"/>
    <p:sldId id="289" r:id="rId14"/>
    <p:sldId id="259" r:id="rId15"/>
    <p:sldId id="260" r:id="rId16"/>
    <p:sldId id="261" r:id="rId17"/>
    <p:sldId id="291" r:id="rId18"/>
    <p:sldId id="292" r:id="rId19"/>
    <p:sldId id="293" r:id="rId20"/>
    <p:sldId id="278"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2" d="100"/>
          <a:sy n="92" d="100"/>
        </p:scale>
        <p:origin x="28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7C370-CFE9-4605-94F7-B858C0323FFE}" type="datetimeFigureOut">
              <a:rPr lang="en-US" smtClean="0"/>
              <a:t>11/28/2025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DBCD54-85D4-46CD-B93D-893A21AE0D7E}" type="slidenum">
              <a:rPr lang="en-US" smtClean="0"/>
              <a:t>‹#›</a:t>
            </a:fld>
            <a:endParaRPr lang="en-US"/>
          </a:p>
        </p:txBody>
      </p:sp>
    </p:spTree>
    <p:extLst>
      <p:ext uri="{BB962C8B-B14F-4D97-AF65-F5344CB8AC3E}">
        <p14:creationId xmlns:p14="http://schemas.microsoft.com/office/powerpoint/2010/main" val="3281619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6a5399006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6a5399006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6a5399006a_3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6a5399006a_3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9412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0BAF8-FCFB-49F9-B016-D10811143A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70F006-DD40-4D2A-BB4C-64ADA38C11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B5A819-50F2-4D31-8AFC-1C8FCCB5331C}"/>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5" name="Footer Placeholder 4">
            <a:extLst>
              <a:ext uri="{FF2B5EF4-FFF2-40B4-BE49-F238E27FC236}">
                <a16:creationId xmlns:a16="http://schemas.microsoft.com/office/drawing/2014/main" id="{A847E81F-0FB8-4098-BE03-4D6A295F7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F60993-C68C-43C8-875B-86319F7C8FEC}"/>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18213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B0FA-DD7B-432C-9A41-CA123E23E0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954BBE-0CBE-4B85-9055-DFBAC8072C2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00BC0-3B1F-45B7-A5F5-BD3FB132369A}"/>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5" name="Footer Placeholder 4">
            <a:extLst>
              <a:ext uri="{FF2B5EF4-FFF2-40B4-BE49-F238E27FC236}">
                <a16:creationId xmlns:a16="http://schemas.microsoft.com/office/drawing/2014/main" id="{EB714B94-8541-42C0-9F95-20A5BB644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D042C-D89A-4B72-8A40-B6E6040E9A20}"/>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18207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2EE3E-DC3E-496B-859E-F14999A7A3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A0C02A-9003-4383-B465-59A077B420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636F5E-FA9D-401C-AA32-800E2ABF2D80}"/>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5" name="Footer Placeholder 4">
            <a:extLst>
              <a:ext uri="{FF2B5EF4-FFF2-40B4-BE49-F238E27FC236}">
                <a16:creationId xmlns:a16="http://schemas.microsoft.com/office/drawing/2014/main" id="{53ACF3A5-7FEA-48E2-9012-9EF5DFB560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1F64F-7B2F-47D8-95D4-C3800B01A26A}"/>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1314764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856C-F788-4558-942B-6D9869FE8B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9CCBA6-4ED1-429C-8D56-C234A9AD5EC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230D6-B0B0-4754-82CF-3CB2288B97B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544DA2-0EA0-4B4A-90C0-30334A78A372}"/>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6" name="Footer Placeholder 5">
            <a:extLst>
              <a:ext uri="{FF2B5EF4-FFF2-40B4-BE49-F238E27FC236}">
                <a16:creationId xmlns:a16="http://schemas.microsoft.com/office/drawing/2014/main" id="{53FCAB89-FB8B-4101-9CF3-045F9F45A6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973D6A-C18A-4374-87C6-B30AAB7E3DEA}"/>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3931411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FDB96-0283-4AB4-A964-83A0AA1CB9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BE7FB2-0393-4D72-9237-7D1FEB2CE9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2B81D89-B7CD-4699-8599-E443C0E4233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37ACF3-6259-47B2-9B64-5E2FEA80A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72BFFE6-F40E-4629-98FF-4BDDBE0AA0A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75B154-5C0F-439E-85E0-11DB0B69EB80}"/>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8" name="Footer Placeholder 7">
            <a:extLst>
              <a:ext uri="{FF2B5EF4-FFF2-40B4-BE49-F238E27FC236}">
                <a16:creationId xmlns:a16="http://schemas.microsoft.com/office/drawing/2014/main" id="{826E3C18-F3F4-49A1-8164-0B91725A0B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488E99-3D3F-4316-AC4D-EE806BCDDF7D}"/>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487972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C2DA-9F15-4A71-8768-351B1CA436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BDB2F9-61DA-4DF2-A20F-B3E723A3A6AD}"/>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4" name="Footer Placeholder 3">
            <a:extLst>
              <a:ext uri="{FF2B5EF4-FFF2-40B4-BE49-F238E27FC236}">
                <a16:creationId xmlns:a16="http://schemas.microsoft.com/office/drawing/2014/main" id="{AD917E58-ACB9-42CB-8391-B4EC80F99C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1D22E3-52FA-483F-AB5C-4823C92F11D0}"/>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3414823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97DA7F-5213-4EA1-A192-BA566A0A135F}"/>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3" name="Footer Placeholder 2">
            <a:extLst>
              <a:ext uri="{FF2B5EF4-FFF2-40B4-BE49-F238E27FC236}">
                <a16:creationId xmlns:a16="http://schemas.microsoft.com/office/drawing/2014/main" id="{4BF2FCED-F3E0-488D-9D5E-07F4EB5856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67FC29-231F-4C09-A267-005ECDF128DA}"/>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4109774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FB54-7892-42DB-8ED2-3E8F70D9F6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7B1D5C-B041-4DDC-8C63-3314204C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95C100-A146-49F7-AABA-FA7033E6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E2D1CC6-014A-4BFE-8C31-A4F42DB86EED}"/>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6" name="Footer Placeholder 5">
            <a:extLst>
              <a:ext uri="{FF2B5EF4-FFF2-40B4-BE49-F238E27FC236}">
                <a16:creationId xmlns:a16="http://schemas.microsoft.com/office/drawing/2014/main" id="{F8C7796E-1703-40A9-9707-63F1E753B3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65681A-B4F9-42EB-8024-2D8A98F81809}"/>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313427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0D25-A2A7-4D86-8E24-256D75B1D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763AF9-6B5D-465F-B409-6CE8D87345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C2FFFC-03C5-4B03-84FB-6EE3434AC4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5C956DB-0D16-47CF-B1E6-62D1EA8A9590}"/>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6" name="Footer Placeholder 5">
            <a:extLst>
              <a:ext uri="{FF2B5EF4-FFF2-40B4-BE49-F238E27FC236}">
                <a16:creationId xmlns:a16="http://schemas.microsoft.com/office/drawing/2014/main" id="{C085E093-E863-4152-A03E-E7B94575D8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FFCC3-001C-487F-BC13-060DDE31238D}"/>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285146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7B4CB-C6D9-4736-A057-B61B8A88C4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C85649-823C-4475-9466-F59B20218EF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61750F-33B9-484B-8A9E-2236E9DFFCCC}"/>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5" name="Footer Placeholder 4">
            <a:extLst>
              <a:ext uri="{FF2B5EF4-FFF2-40B4-BE49-F238E27FC236}">
                <a16:creationId xmlns:a16="http://schemas.microsoft.com/office/drawing/2014/main" id="{E45526C4-437F-4CDC-9CBA-C5A5AFC16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E993DC-ED9B-4408-9FD9-70EF8E20A471}"/>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2882105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43CD41-0DEC-4776-ADD5-4AA6ACDE8C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1DBBC1-31DB-42A5-B4BC-6A6FB5DAB23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CA665-FB31-4614-B4E2-6E3A70F25BF5}"/>
              </a:ext>
            </a:extLst>
          </p:cNvPr>
          <p:cNvSpPr>
            <a:spLocks noGrp="1"/>
          </p:cNvSpPr>
          <p:nvPr>
            <p:ph type="dt" sz="half" idx="10"/>
          </p:nvPr>
        </p:nvSpPr>
        <p:spPr/>
        <p:txBody>
          <a:bodyPr/>
          <a:lstStyle/>
          <a:p>
            <a:fld id="{D9E58779-8291-43BC-BAC1-6C6DE2A92424}" type="datetimeFigureOut">
              <a:rPr lang="en-US" smtClean="0"/>
              <a:t>11/28/2025</a:t>
            </a:fld>
            <a:endParaRPr lang="en-US"/>
          </a:p>
        </p:txBody>
      </p:sp>
      <p:sp>
        <p:nvSpPr>
          <p:cNvPr id="5" name="Footer Placeholder 4">
            <a:extLst>
              <a:ext uri="{FF2B5EF4-FFF2-40B4-BE49-F238E27FC236}">
                <a16:creationId xmlns:a16="http://schemas.microsoft.com/office/drawing/2014/main" id="{1AD1D0FF-7905-4F70-B59E-A3837DAE8A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EDCEC-E307-44C3-A5BD-0F75289533E5}"/>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454472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8343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5D837-78B9-473E-B707-973E704AF7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DF58EA-CB70-4F6E-AB64-F22263FA5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10AA9-F967-4A3C-B9CD-4268E141BC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E58779-8291-43BC-BAC1-6C6DE2A92424}" type="datetimeFigureOut">
              <a:rPr lang="en-US" smtClean="0"/>
              <a:t>11/28/2025</a:t>
            </a:fld>
            <a:endParaRPr lang="en-US"/>
          </a:p>
        </p:txBody>
      </p:sp>
      <p:sp>
        <p:nvSpPr>
          <p:cNvPr id="5" name="Footer Placeholder 4">
            <a:extLst>
              <a:ext uri="{FF2B5EF4-FFF2-40B4-BE49-F238E27FC236}">
                <a16:creationId xmlns:a16="http://schemas.microsoft.com/office/drawing/2014/main" id="{E1D8879C-EF2A-4CBA-81AB-797F8DF6ED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D5976D-EDE2-4DAB-9639-EC2155A0D4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18FAA-8270-439E-94D5-4CE47F7F91AB}" type="slidenum">
              <a:rPr lang="en-US" smtClean="0"/>
              <a:t>‹#›</a:t>
            </a:fld>
            <a:endParaRPr lang="en-US"/>
          </a:p>
        </p:txBody>
      </p:sp>
    </p:spTree>
    <p:extLst>
      <p:ext uri="{BB962C8B-B14F-4D97-AF65-F5344CB8AC3E}">
        <p14:creationId xmlns:p14="http://schemas.microsoft.com/office/powerpoint/2010/main" val="2859333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579967" y="614184"/>
            <a:ext cx="10740800" cy="1768177"/>
          </a:xfrm>
          <a:prstGeom prst="rect">
            <a:avLst/>
          </a:prstGeom>
        </p:spPr>
        <p:txBody>
          <a:bodyPr spcFirstLastPara="1" vert="horz" wrap="square" lIns="121900" tIns="121900" rIns="121900" bIns="121900" rtlCol="0" anchor="b" anchorCtr="0">
            <a:normAutofit fontScale="90000"/>
          </a:bodyPr>
          <a:lstStyle/>
          <a:p>
            <a:pPr>
              <a:spcBef>
                <a:spcPts val="0"/>
              </a:spcBef>
            </a:pPr>
            <a:r>
              <a:rPr lang="en" sz="3200" b="1" dirty="0">
                <a:solidFill>
                  <a:srgbClr val="002060"/>
                </a:solidFill>
                <a:latin typeface="Times New Roman" panose="02020603050405020304" pitchFamily="18" charset="0"/>
                <a:cs typeface="Times New Roman" panose="02020603050405020304" pitchFamily="18" charset="0"/>
              </a:rPr>
              <a:t>LSTM-BASED APPROACH FOR GENERATOR STATE PREDICTION IN TRANSIENT STABILITY ASSESSMENT AND CONTROL USING TRANSIENT ENERGY FUNCTION </a:t>
            </a:r>
            <a:endParaRPr sz="6400" b="1" dirty="0">
              <a:solidFill>
                <a:srgbClr val="002060"/>
              </a:solidFill>
              <a:latin typeface="Times New Roman" panose="02020603050405020304" pitchFamily="18" charset="0"/>
              <a:cs typeface="Times New Roman" panose="02020603050405020304" pitchFamily="18" charset="0"/>
            </a:endParaRPr>
          </a:p>
        </p:txBody>
      </p:sp>
      <p:sp>
        <p:nvSpPr>
          <p:cNvPr id="55" name="Google Shape;55;p13"/>
          <p:cNvSpPr txBox="1">
            <a:spLocks noGrp="1"/>
          </p:cNvSpPr>
          <p:nvPr>
            <p:ph type="subTitle" idx="1"/>
          </p:nvPr>
        </p:nvSpPr>
        <p:spPr>
          <a:xfrm>
            <a:off x="415600" y="2627381"/>
            <a:ext cx="11360800" cy="2790007"/>
          </a:xfrm>
          <a:prstGeom prst="rect">
            <a:avLst/>
          </a:prstGeom>
        </p:spPr>
        <p:txBody>
          <a:bodyPr spcFirstLastPara="1" vert="horz" wrap="square" lIns="121900" tIns="121900" rIns="121900" bIns="121900" rtlCol="0" anchor="t" anchorCtr="0">
            <a:normAutofit lnSpcReduction="10000"/>
          </a:bodyPr>
          <a:lstStyle/>
          <a:p>
            <a:pPr>
              <a:spcBef>
                <a:spcPts val="0"/>
              </a:spcBef>
            </a:pPr>
            <a:r>
              <a:rPr lang="en" b="1" u="sng" dirty="0">
                <a:solidFill>
                  <a:srgbClr val="C00000"/>
                </a:solidFill>
                <a:latin typeface="Times New Roman" panose="02020603050405020304" pitchFamily="18" charset="0"/>
                <a:cs typeface="Times New Roman" panose="02020603050405020304" pitchFamily="18" charset="0"/>
              </a:rPr>
              <a:t>Presented By:</a:t>
            </a:r>
          </a:p>
          <a:p>
            <a:pPr>
              <a:spcBef>
                <a:spcPts val="0"/>
              </a:spcBef>
            </a:pPr>
            <a:endParaRPr b="1" u="sng" dirty="0">
              <a:solidFill>
                <a:srgbClr val="C00000"/>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Bhupesh Jaishi (078BEL026)</a:t>
            </a:r>
            <a:endParaRPr dirty="0">
              <a:solidFill>
                <a:schemeClr val="tx1"/>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 Binod Kumar Sah (078BEL030) </a:t>
            </a:r>
            <a:endParaRPr dirty="0">
              <a:solidFill>
                <a:schemeClr val="tx1"/>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Bishal Chaurasiya (078BEL031) </a:t>
            </a:r>
            <a:endParaRPr dirty="0">
              <a:solidFill>
                <a:schemeClr val="tx1"/>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Chandan Sah (078BEL032) </a:t>
            </a:r>
          </a:p>
          <a:p>
            <a:pPr>
              <a:spcBef>
                <a:spcPts val="0"/>
              </a:spcBef>
            </a:pPr>
            <a:r>
              <a:rPr lang="en" b="1" u="sng" dirty="0">
                <a:solidFill>
                  <a:srgbClr val="C00000"/>
                </a:solidFill>
                <a:latin typeface="Times New Roman" panose="02020603050405020304" pitchFamily="18" charset="0"/>
                <a:cs typeface="Times New Roman" panose="02020603050405020304" pitchFamily="18" charset="0"/>
              </a:rPr>
              <a:t>S</a:t>
            </a:r>
            <a:r>
              <a:rPr lang="en-US" b="1" u="sng" dirty="0" err="1">
                <a:solidFill>
                  <a:srgbClr val="C00000"/>
                </a:solidFill>
                <a:latin typeface="Times New Roman" panose="02020603050405020304" pitchFamily="18" charset="0"/>
                <a:cs typeface="Times New Roman" panose="02020603050405020304" pitchFamily="18" charset="0"/>
              </a:rPr>
              <a:t>upervisor</a:t>
            </a:r>
            <a:r>
              <a:rPr lang="en-US" b="1" u="sng" dirty="0">
                <a:solidFill>
                  <a:srgbClr val="C00000"/>
                </a:solidFill>
                <a:latin typeface="Times New Roman" panose="02020603050405020304" pitchFamily="18" charset="0"/>
                <a:cs typeface="Times New Roman" panose="02020603050405020304" pitchFamily="18" charset="0"/>
              </a:rPr>
              <a:t> :</a:t>
            </a:r>
          </a:p>
          <a:p>
            <a:pPr>
              <a:spcBef>
                <a:spcPts val="0"/>
              </a:spcBef>
            </a:pPr>
            <a:r>
              <a:rPr lang="en-US" b="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Associate Professor Jeetendra Chaudhary</a:t>
            </a:r>
            <a:endParaRPr lang="en" dirty="0">
              <a:solidFill>
                <a:schemeClr val="tx1"/>
              </a:solidFill>
              <a:latin typeface="Times New Roman" panose="02020603050405020304" pitchFamily="18" charset="0"/>
              <a:cs typeface="Times New Roman" panose="02020603050405020304" pitchFamily="18" charset="0"/>
            </a:endParaRPr>
          </a:p>
          <a:p>
            <a:pPr>
              <a:spcBef>
                <a:spcPts val="0"/>
              </a:spcBef>
            </a:pPr>
            <a:endParaRPr dirty="0">
              <a:solidFill>
                <a:schemeClr val="tx1"/>
              </a:solidFill>
              <a:latin typeface="Times New Roman" panose="02020603050405020304" pitchFamily="18" charset="0"/>
              <a:cs typeface="Times New Roman" panose="02020603050405020304" pitchFamily="18" charset="0"/>
            </a:endParaRPr>
          </a:p>
        </p:txBody>
      </p:sp>
      <p:sp>
        <p:nvSpPr>
          <p:cNvPr id="56" name="Google Shape;56;p13"/>
          <p:cNvSpPr txBox="1">
            <a:spLocks noGrp="1"/>
          </p:cNvSpPr>
          <p:nvPr>
            <p:ph type="subTitle" idx="1"/>
          </p:nvPr>
        </p:nvSpPr>
        <p:spPr>
          <a:xfrm>
            <a:off x="579543" y="5478737"/>
            <a:ext cx="11032913" cy="765079"/>
          </a:xfrm>
          <a:prstGeom prst="rect">
            <a:avLst/>
          </a:prstGeom>
        </p:spPr>
        <p:txBody>
          <a:bodyPr spcFirstLastPara="1" vert="horz" wrap="square" lIns="121900" tIns="121900" rIns="121900" bIns="121900" rtlCol="0" anchor="t" anchorCtr="0">
            <a:normAutofit fontScale="92500" lnSpcReduction="20000"/>
          </a:bodyPr>
          <a:lstStyle/>
          <a:p>
            <a:pPr>
              <a:spcBef>
                <a:spcPts val="0"/>
              </a:spcBef>
            </a:pPr>
            <a:r>
              <a:rPr lang="en-US" dirty="0">
                <a:latin typeface="Times New Roman" panose="02020603050405020304" pitchFamily="18" charset="0"/>
                <a:cs typeface="Times New Roman" panose="02020603050405020304" pitchFamily="18" charset="0"/>
              </a:rPr>
              <a:t>DEPARTMENT OF ELECTRICAL ENGINEERING</a:t>
            </a:r>
          </a:p>
          <a:p>
            <a:pPr>
              <a:spcBef>
                <a:spcPts val="0"/>
              </a:spcBef>
            </a:pPr>
            <a:r>
              <a:rPr lang="en-US" dirty="0">
                <a:latin typeface="Times New Roman" panose="02020603050405020304" pitchFamily="18" charset="0"/>
                <a:cs typeface="Times New Roman" panose="02020603050405020304" pitchFamily="18" charset="0"/>
              </a:rPr>
              <a:t>IOE, PULCHOWK CAMPUS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0" y="0"/>
            <a:ext cx="11776400" cy="1121900"/>
          </a:xfrm>
          <a:prstGeom prst="rect">
            <a:avLst/>
          </a:prstGeom>
        </p:spPr>
        <p:style>
          <a:lnRef idx="1">
            <a:schemeClr val="accent5"/>
          </a:lnRef>
          <a:fillRef idx="2">
            <a:schemeClr val="accent5"/>
          </a:fillRef>
          <a:effectRef idx="1">
            <a:schemeClr val="accent5"/>
          </a:effectRef>
          <a:fontRef idx="minor">
            <a:schemeClr val="dk1"/>
          </a:fontRef>
        </p:style>
        <p:txBody>
          <a:bodyPr spcFirstLastPara="1" vert="horz" wrap="square" lIns="121900" tIns="121900" rIns="121900" bIns="121900" rtlCol="0" anchor="ctr" anchorCtr="0">
            <a:normAutofit/>
          </a:bodyPr>
          <a:lstStyle/>
          <a:p>
            <a:r>
              <a:rPr lang="en" b="1" dirty="0">
                <a:solidFill>
                  <a:srgbClr val="C00000"/>
                </a:solidFill>
                <a:latin typeface="Times New Roman" panose="02020603050405020304" pitchFamily="18" charset="0"/>
                <a:cs typeface="Times New Roman" panose="02020603050405020304" pitchFamily="18" charset="0"/>
              </a:rPr>
              <a:t>	Introduction</a:t>
            </a:r>
            <a:endParaRPr b="1" dirty="0">
              <a:solidFill>
                <a:srgbClr val="C00000"/>
              </a:solidFill>
              <a:latin typeface="Times New Roman" panose="02020603050405020304" pitchFamily="18" charset="0"/>
              <a:cs typeface="Times New Roman" panose="02020603050405020304" pitchFamily="18" charset="0"/>
            </a:endParaRPr>
          </a:p>
        </p:txBody>
      </p:sp>
      <p:sp>
        <p:nvSpPr>
          <p:cNvPr id="6" name="Text Placeholder 3">
            <a:extLst>
              <a:ext uri="{FF2B5EF4-FFF2-40B4-BE49-F238E27FC236}">
                <a16:creationId xmlns:a16="http://schemas.microsoft.com/office/drawing/2014/main" id="{90954E08-FC7D-5FC5-92B7-72F3543F5DFC}"/>
              </a:ext>
            </a:extLst>
          </p:cNvPr>
          <p:cNvSpPr>
            <a:spLocks noGrp="1"/>
          </p:cNvSpPr>
          <p:nvPr>
            <p:ph type="body" idx="1"/>
          </p:nvPr>
        </p:nvSpPr>
        <p:spPr>
          <a:xfrm>
            <a:off x="415600" y="1536632"/>
            <a:ext cx="11360800" cy="4783957"/>
          </a:xfrm>
        </p:spPr>
        <p:txBody>
          <a:bodyPr/>
          <a:lstStyle/>
          <a:p>
            <a:pPr marL="152396" lvl="0" indent="0">
              <a:buNone/>
            </a:pPr>
            <a:r>
              <a:rPr lang="en-US" dirty="0">
                <a:latin typeface="Times New Roman" panose="02020603050405020304" pitchFamily="18" charset="0"/>
                <a:cs typeface="Times New Roman" panose="02020603050405020304" pitchFamily="18" charset="0"/>
              </a:rPr>
              <a:t>Power System stability refers to the system's ability to return to normal or stable operation after having been subjected to some form of disturbance.</a:t>
            </a:r>
          </a:p>
          <a:p>
            <a:pPr marL="152396" lvl="0" indent="0">
              <a:buNone/>
            </a:pPr>
            <a:endParaRPr lang="en-US" dirty="0">
              <a:latin typeface="Times New Roman" panose="02020603050405020304" pitchFamily="18" charset="0"/>
              <a:cs typeface="Times New Roman" panose="02020603050405020304" pitchFamily="18" charset="0"/>
            </a:endParaRPr>
          </a:p>
          <a:p>
            <a:pPr marL="152396" lvl="0" indent="0">
              <a:buNone/>
            </a:pPr>
            <a:r>
              <a:rPr lang="en-US" dirty="0">
                <a:latin typeface="Times New Roman" panose="02020603050405020304" pitchFamily="18" charset="0"/>
                <a:cs typeface="Times New Roman" panose="02020603050405020304" pitchFamily="18" charset="0"/>
              </a:rPr>
              <a:t>Transient stability involves the response to large disturbances, which may cause large change in rotor angle and speed leading to cascading failure of the system.</a:t>
            </a:r>
          </a:p>
          <a:p>
            <a:pPr marL="152396" indent="0">
              <a:buNone/>
            </a:pPr>
            <a:r>
              <a:rPr lang="en-US" dirty="0">
                <a:latin typeface="Times New Roman" panose="02020603050405020304" pitchFamily="18" charset="0"/>
                <a:cs typeface="Times New Roman" panose="02020603050405020304" pitchFamily="18" charset="0"/>
              </a:rPr>
              <a:t>Transient stability assessment methodologies are broadly classified into three main types:</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Simulation Methods</a:t>
            </a:r>
            <a:r>
              <a:rPr lang="en-US" dirty="0">
                <a:latin typeface="Times New Roman" panose="02020603050405020304" pitchFamily="18" charset="0"/>
                <a:cs typeface="Times New Roman" panose="02020603050405020304" pitchFamily="18" charset="0"/>
              </a:rPr>
              <a:t> (Time-Domain Simulation)</a:t>
            </a:r>
          </a:p>
          <a:p>
            <a:pPr lvl="0"/>
            <a:r>
              <a:rPr lang="en-US" b="1" dirty="0">
                <a:latin typeface="Times New Roman" panose="02020603050405020304" pitchFamily="18" charset="0"/>
                <a:cs typeface="Times New Roman" panose="02020603050405020304" pitchFamily="18" charset="0"/>
              </a:rPr>
              <a:t>Direct Methods</a:t>
            </a:r>
            <a:r>
              <a:rPr lang="en-US" dirty="0">
                <a:latin typeface="Times New Roman" panose="02020603050405020304" pitchFamily="18" charset="0"/>
                <a:cs typeface="Times New Roman" panose="02020603050405020304" pitchFamily="18" charset="0"/>
              </a:rPr>
              <a:t> (Energy Function based)</a:t>
            </a:r>
          </a:p>
          <a:p>
            <a:pPr lvl="0"/>
            <a:r>
              <a:rPr lang="en-US" b="1" dirty="0">
                <a:latin typeface="Times New Roman" panose="02020603050405020304" pitchFamily="18" charset="0"/>
                <a:cs typeface="Times New Roman" panose="02020603050405020304" pitchFamily="18" charset="0"/>
              </a:rPr>
              <a:t>Data-Driven Methods</a:t>
            </a:r>
            <a:r>
              <a:rPr lang="en-US" dirty="0">
                <a:latin typeface="Times New Roman" panose="02020603050405020304" pitchFamily="18" charset="0"/>
                <a:cs typeface="Times New Roman" panose="02020603050405020304" pitchFamily="18" charset="0"/>
              </a:rPr>
              <a:t> (Machine Learning based)</a:t>
            </a:r>
          </a:p>
          <a:p>
            <a:pPr marL="152396"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23A61-8D31-4508-9D73-CDED26D8A546}"/>
              </a:ext>
            </a:extLst>
          </p:cNvPr>
          <p:cNvSpPr>
            <a:spLocks noGrp="1"/>
          </p:cNvSpPr>
          <p:nvPr>
            <p:ph type="title"/>
          </p:nvPr>
        </p:nvSpPr>
        <p:spPr>
          <a:xfrm>
            <a:off x="831200" y="1280660"/>
            <a:ext cx="11360800" cy="763600"/>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Swing Equation and State-Space Formulation</a:t>
            </a:r>
          </a:p>
        </p:txBody>
      </p:sp>
      <p:sp>
        <p:nvSpPr>
          <p:cNvPr id="5" name="Text Placeholder 4">
            <a:extLst>
              <a:ext uri="{FF2B5EF4-FFF2-40B4-BE49-F238E27FC236}">
                <a16:creationId xmlns:a16="http://schemas.microsoft.com/office/drawing/2014/main" id="{FCFF65DC-D40F-41FA-A39A-7A7CF325601D}"/>
              </a:ext>
            </a:extLst>
          </p:cNvPr>
          <p:cNvSpPr>
            <a:spLocks noGrp="1"/>
          </p:cNvSpPr>
          <p:nvPr>
            <p:ph type="body" idx="1"/>
          </p:nvPr>
        </p:nvSpPr>
        <p:spPr>
          <a:xfrm>
            <a:off x="745626" y="2020760"/>
            <a:ext cx="11360800" cy="4709427"/>
          </a:xfrm>
        </p:spPr>
        <p:txBody>
          <a:bodyPr/>
          <a:lstStyle/>
          <a:p>
            <a:pPr marL="152396" indent="0">
              <a:buNone/>
            </a:pPr>
            <a:r>
              <a:rPr lang="en-US" dirty="0"/>
              <a:t>Swing Equation:</a:t>
            </a:r>
            <a:br>
              <a:rPr lang="en-US" dirty="0"/>
            </a:br>
            <a:endParaRPr lang="en-US" dirty="0"/>
          </a:p>
          <a:p>
            <a:pPr marL="152396" indent="0">
              <a:buNone/>
            </a:pPr>
            <a:r>
              <a:rPr lang="en-US" dirty="0"/>
              <a:t>State-Space Representation:</a:t>
            </a:r>
          </a:p>
          <a:p>
            <a:pPr marL="152396" indent="0">
              <a:buNone/>
            </a:pPr>
            <a:endParaRPr lang="en-US" dirty="0"/>
          </a:p>
          <a:p>
            <a:pPr marL="152396" indent="0">
              <a:buNone/>
            </a:pPr>
            <a:endParaRPr lang="en-US" dirty="0"/>
          </a:p>
          <a:p>
            <a:pPr marL="152396" indent="0">
              <a:buNone/>
            </a:pPr>
            <a:r>
              <a:rPr lang="en-US" dirty="0"/>
              <a:t>Sate Variables:</a:t>
            </a:r>
          </a:p>
          <a:p>
            <a:pPr marL="152396" indent="0">
              <a:buNone/>
            </a:pPr>
            <a:endParaRPr lang="en-US" dirty="0"/>
          </a:p>
          <a:p>
            <a:pPr marL="152396" indent="0">
              <a:buNone/>
            </a:pPr>
            <a:r>
              <a:rPr lang="en-US" dirty="0"/>
              <a:t>Hence Power system dynamics is described by the state space as:</a:t>
            </a:r>
            <a:br>
              <a:rPr lang="en-US" dirty="0"/>
            </a:br>
            <a:endParaRPr lang="en-US" dirty="0"/>
          </a:p>
        </p:txBody>
      </p:sp>
      <p:pic>
        <p:nvPicPr>
          <p:cNvPr id="6" name="Picture 5">
            <a:extLst>
              <a:ext uri="{FF2B5EF4-FFF2-40B4-BE49-F238E27FC236}">
                <a16:creationId xmlns:a16="http://schemas.microsoft.com/office/drawing/2014/main" id="{662F8108-E745-40D4-A1DD-1F21D6FDB110}"/>
              </a:ext>
            </a:extLst>
          </p:cNvPr>
          <p:cNvPicPr>
            <a:picLocks noChangeAspect="1"/>
          </p:cNvPicPr>
          <p:nvPr/>
        </p:nvPicPr>
        <p:blipFill>
          <a:blip r:embed="rId2"/>
          <a:stretch>
            <a:fillRect/>
          </a:stretch>
        </p:blipFill>
        <p:spPr>
          <a:xfrm>
            <a:off x="3383095" y="1825630"/>
            <a:ext cx="3896135" cy="1027621"/>
          </a:xfrm>
          <a:prstGeom prst="rect">
            <a:avLst/>
          </a:prstGeom>
        </p:spPr>
      </p:pic>
      <p:pic>
        <p:nvPicPr>
          <p:cNvPr id="11" name="Picture 10">
            <a:extLst>
              <a:ext uri="{FF2B5EF4-FFF2-40B4-BE49-F238E27FC236}">
                <a16:creationId xmlns:a16="http://schemas.microsoft.com/office/drawing/2014/main" id="{3B24C42F-B8BE-40E5-A93C-BBEFFACCA05E}"/>
              </a:ext>
            </a:extLst>
          </p:cNvPr>
          <p:cNvPicPr>
            <a:picLocks noChangeAspect="1"/>
          </p:cNvPicPr>
          <p:nvPr/>
        </p:nvPicPr>
        <p:blipFill>
          <a:blip r:embed="rId3"/>
          <a:stretch>
            <a:fillRect/>
          </a:stretch>
        </p:blipFill>
        <p:spPr>
          <a:xfrm>
            <a:off x="5165165" y="2616155"/>
            <a:ext cx="5934903" cy="1190791"/>
          </a:xfrm>
          <a:prstGeom prst="rect">
            <a:avLst/>
          </a:prstGeom>
        </p:spPr>
      </p:pic>
      <p:pic>
        <p:nvPicPr>
          <p:cNvPr id="12" name="Picture 11">
            <a:extLst>
              <a:ext uri="{FF2B5EF4-FFF2-40B4-BE49-F238E27FC236}">
                <a16:creationId xmlns:a16="http://schemas.microsoft.com/office/drawing/2014/main" id="{E4D45F68-2FB9-4CE0-AA35-009D80A520A4}"/>
              </a:ext>
            </a:extLst>
          </p:cNvPr>
          <p:cNvPicPr>
            <a:picLocks noChangeAspect="1"/>
          </p:cNvPicPr>
          <p:nvPr/>
        </p:nvPicPr>
        <p:blipFill>
          <a:blip r:embed="rId4"/>
          <a:stretch>
            <a:fillRect/>
          </a:stretch>
        </p:blipFill>
        <p:spPr>
          <a:xfrm>
            <a:off x="3303453" y="3699190"/>
            <a:ext cx="3723425" cy="1027620"/>
          </a:xfrm>
          <a:prstGeom prst="rect">
            <a:avLst/>
          </a:prstGeom>
        </p:spPr>
      </p:pic>
      <p:pic>
        <p:nvPicPr>
          <p:cNvPr id="14" name="image3.png">
            <a:extLst>
              <a:ext uri="{FF2B5EF4-FFF2-40B4-BE49-F238E27FC236}">
                <a16:creationId xmlns:a16="http://schemas.microsoft.com/office/drawing/2014/main" id="{A1A9A371-19F6-484C-BCCE-97777C28986B}"/>
              </a:ext>
            </a:extLst>
          </p:cNvPr>
          <p:cNvPicPr/>
          <p:nvPr/>
        </p:nvPicPr>
        <p:blipFill>
          <a:blip r:embed="rId5"/>
          <a:srcRect/>
          <a:stretch>
            <a:fillRect/>
          </a:stretch>
        </p:blipFill>
        <p:spPr>
          <a:xfrm>
            <a:off x="2917064" y="5257412"/>
            <a:ext cx="4064924" cy="1403455"/>
          </a:xfrm>
          <a:prstGeom prst="rect">
            <a:avLst/>
          </a:prstGeom>
          <a:ln/>
        </p:spPr>
      </p:pic>
      <p:sp>
        <p:nvSpPr>
          <p:cNvPr id="3" name="Google Shape;61;p14">
            <a:extLst>
              <a:ext uri="{FF2B5EF4-FFF2-40B4-BE49-F238E27FC236}">
                <a16:creationId xmlns:a16="http://schemas.microsoft.com/office/drawing/2014/main" id="{731052AA-771F-7010-4BD9-81E2C8E872AA}"/>
              </a:ext>
            </a:extLst>
          </p:cNvPr>
          <p:cNvSpPr txBox="1">
            <a:spLocks/>
          </p:cNvSpPr>
          <p:nvPr/>
        </p:nvSpPr>
        <p:spPr>
          <a:xfrm>
            <a:off x="0" y="0"/>
            <a:ext cx="11776400" cy="1121900"/>
          </a:xfrm>
          <a:prstGeom prst="rect">
            <a:avLst/>
          </a:prstGeom>
        </p:spPr>
        <p:style>
          <a:lnRef idx="1">
            <a:schemeClr val="accent5"/>
          </a:lnRef>
          <a:fillRef idx="2">
            <a:schemeClr val="accent5"/>
          </a:fillRef>
          <a:effectRef idx="1">
            <a:schemeClr val="accent5"/>
          </a:effectRef>
          <a:fontRef idx="minor">
            <a:schemeClr val="dk1"/>
          </a:fontRef>
        </p:style>
        <p:txBody>
          <a:bodyPr spcFirstLastPara="1" vert="horz" wrap="square" lIns="121900" tIns="121900" rIns="121900" bIns="121900" rtlCol="0" anchor="ctr" anchorCtr="0">
            <a:normAutofit/>
          </a:bodyPr>
          <a:lstStyle>
            <a:lvl1pPr lvl="0" algn="l" defTabSz="914400" rtl="0" eaLnBrk="1" latinLnBrk="0" hangingPunct="1">
              <a:lnSpc>
                <a:spcPct val="90000"/>
              </a:lnSpc>
              <a:spcBef>
                <a:spcPts val="0"/>
              </a:spcBef>
              <a:spcAft>
                <a:spcPts val="0"/>
              </a:spcAft>
              <a:buSzPts val="2800"/>
              <a:buNone/>
              <a:defRPr sz="4400" kern="1200">
                <a:solidFill>
                  <a:schemeClr val="dk1"/>
                </a:solidFill>
                <a:latin typeface="+mn-lt"/>
                <a:ea typeface="+mn-ea"/>
                <a:cs typeface="+mn-cs"/>
              </a:defRPr>
            </a:lvl1pPr>
            <a:lvl2pPr lvl="1">
              <a:spcBef>
                <a:spcPts val="0"/>
              </a:spcBef>
              <a:spcAft>
                <a:spcPts val="0"/>
              </a:spcAft>
              <a:buSzPts val="2800"/>
              <a:buNone/>
              <a:defRPr>
                <a:solidFill>
                  <a:schemeClr val="dk1"/>
                </a:solidFill>
                <a:latin typeface="+mn-lt"/>
                <a:ea typeface="+mn-ea"/>
                <a:cs typeface="+mn-cs"/>
              </a:defRPr>
            </a:lvl2pPr>
            <a:lvl3pPr lvl="2">
              <a:spcBef>
                <a:spcPts val="0"/>
              </a:spcBef>
              <a:spcAft>
                <a:spcPts val="0"/>
              </a:spcAft>
              <a:buSzPts val="2800"/>
              <a:buNone/>
              <a:defRPr>
                <a:solidFill>
                  <a:schemeClr val="dk1"/>
                </a:solidFill>
                <a:latin typeface="+mn-lt"/>
                <a:ea typeface="+mn-ea"/>
                <a:cs typeface="+mn-cs"/>
              </a:defRPr>
            </a:lvl3pPr>
            <a:lvl4pPr lvl="3">
              <a:spcBef>
                <a:spcPts val="0"/>
              </a:spcBef>
              <a:spcAft>
                <a:spcPts val="0"/>
              </a:spcAft>
              <a:buSzPts val="2800"/>
              <a:buNone/>
              <a:defRPr>
                <a:solidFill>
                  <a:schemeClr val="dk1"/>
                </a:solidFill>
                <a:latin typeface="+mn-lt"/>
                <a:ea typeface="+mn-ea"/>
                <a:cs typeface="+mn-cs"/>
              </a:defRPr>
            </a:lvl4pPr>
            <a:lvl5pPr lvl="4">
              <a:spcBef>
                <a:spcPts val="0"/>
              </a:spcBef>
              <a:spcAft>
                <a:spcPts val="0"/>
              </a:spcAft>
              <a:buSzPts val="2800"/>
              <a:buNone/>
              <a:defRPr>
                <a:solidFill>
                  <a:schemeClr val="dk1"/>
                </a:solidFill>
                <a:latin typeface="+mn-lt"/>
                <a:ea typeface="+mn-ea"/>
                <a:cs typeface="+mn-cs"/>
              </a:defRPr>
            </a:lvl5pPr>
            <a:lvl6pPr lvl="5">
              <a:spcBef>
                <a:spcPts val="0"/>
              </a:spcBef>
              <a:spcAft>
                <a:spcPts val="0"/>
              </a:spcAft>
              <a:buSzPts val="2800"/>
              <a:buNone/>
              <a:defRPr>
                <a:solidFill>
                  <a:schemeClr val="dk1"/>
                </a:solidFill>
                <a:latin typeface="+mn-lt"/>
                <a:ea typeface="+mn-ea"/>
                <a:cs typeface="+mn-cs"/>
              </a:defRPr>
            </a:lvl6pPr>
            <a:lvl7pPr lvl="6">
              <a:spcBef>
                <a:spcPts val="0"/>
              </a:spcBef>
              <a:spcAft>
                <a:spcPts val="0"/>
              </a:spcAft>
              <a:buSzPts val="2800"/>
              <a:buNone/>
              <a:defRPr>
                <a:solidFill>
                  <a:schemeClr val="dk1"/>
                </a:solidFill>
                <a:latin typeface="+mn-lt"/>
                <a:ea typeface="+mn-ea"/>
                <a:cs typeface="+mn-cs"/>
              </a:defRPr>
            </a:lvl7pPr>
            <a:lvl8pPr lvl="7">
              <a:spcBef>
                <a:spcPts val="0"/>
              </a:spcBef>
              <a:spcAft>
                <a:spcPts val="0"/>
              </a:spcAft>
              <a:buSzPts val="2800"/>
              <a:buNone/>
              <a:defRPr>
                <a:solidFill>
                  <a:schemeClr val="dk1"/>
                </a:solidFill>
                <a:latin typeface="+mn-lt"/>
                <a:ea typeface="+mn-ea"/>
                <a:cs typeface="+mn-cs"/>
              </a:defRPr>
            </a:lvl8pPr>
            <a:lvl9pPr lvl="8">
              <a:spcBef>
                <a:spcPts val="0"/>
              </a:spcBef>
              <a:spcAft>
                <a:spcPts val="0"/>
              </a:spcAft>
              <a:buSzPts val="2800"/>
              <a:buNone/>
              <a:defRPr>
                <a:solidFill>
                  <a:schemeClr val="dk1"/>
                </a:solidFill>
                <a:latin typeface="+mn-lt"/>
                <a:ea typeface="+mn-ea"/>
                <a:cs typeface="+mn-cs"/>
              </a:defRPr>
            </a:lvl9pPr>
          </a:lstStyle>
          <a:p>
            <a:r>
              <a:rPr lang="en-US" b="1">
                <a:solidFill>
                  <a:srgbClr val="C00000"/>
                </a:solidFill>
                <a:latin typeface="Times New Roman" panose="02020603050405020304" pitchFamily="18" charset="0"/>
                <a:cs typeface="Times New Roman" panose="02020603050405020304" pitchFamily="18" charset="0"/>
              </a:rPr>
              <a:t>	Introduction</a:t>
            </a:r>
            <a:endParaRPr lang="en-US"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859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98053-5862-4250-AD60-F7B5C136BD95}"/>
              </a:ext>
            </a:extLst>
          </p:cNvPr>
          <p:cNvSpPr>
            <a:spLocks noGrp="1"/>
          </p:cNvSpPr>
          <p:nvPr>
            <p:ph type="title"/>
          </p:nvPr>
        </p:nvSpPr>
        <p:spPr>
          <a:xfrm>
            <a:off x="907306" y="1181089"/>
            <a:ext cx="11360800" cy="763600"/>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Lyapunov Function</a:t>
            </a:r>
          </a:p>
        </p:txBody>
      </p:sp>
      <p:pic>
        <p:nvPicPr>
          <p:cNvPr id="4" name="Picture 3">
            <a:extLst>
              <a:ext uri="{FF2B5EF4-FFF2-40B4-BE49-F238E27FC236}">
                <a16:creationId xmlns:a16="http://schemas.microsoft.com/office/drawing/2014/main" id="{A6843AE7-4347-4592-8477-B659291A060A}"/>
              </a:ext>
            </a:extLst>
          </p:cNvPr>
          <p:cNvPicPr>
            <a:picLocks noChangeAspect="1"/>
          </p:cNvPicPr>
          <p:nvPr/>
        </p:nvPicPr>
        <p:blipFill>
          <a:blip r:embed="rId2"/>
          <a:stretch>
            <a:fillRect/>
          </a:stretch>
        </p:blipFill>
        <p:spPr>
          <a:xfrm>
            <a:off x="3386755" y="2171644"/>
            <a:ext cx="4801270" cy="800212"/>
          </a:xfrm>
          <a:prstGeom prst="rect">
            <a:avLst/>
          </a:prstGeom>
        </p:spPr>
      </p:pic>
      <p:sp>
        <p:nvSpPr>
          <p:cNvPr id="3" name="Text Placeholder 2">
            <a:extLst>
              <a:ext uri="{FF2B5EF4-FFF2-40B4-BE49-F238E27FC236}">
                <a16:creationId xmlns:a16="http://schemas.microsoft.com/office/drawing/2014/main" id="{9287E918-A7E3-4828-8E82-EE7585E777B4}"/>
              </a:ext>
            </a:extLst>
          </p:cNvPr>
          <p:cNvSpPr>
            <a:spLocks noGrp="1"/>
          </p:cNvSpPr>
          <p:nvPr>
            <p:ph type="body" idx="1"/>
          </p:nvPr>
        </p:nvSpPr>
        <p:spPr>
          <a:xfrm>
            <a:off x="760657" y="1771114"/>
            <a:ext cx="11360800" cy="4555200"/>
          </a:xfrm>
        </p:spPr>
        <p:txBody>
          <a:bodyPr/>
          <a:lstStyle/>
          <a:p>
            <a:r>
              <a:rPr lang="en-US" dirty="0"/>
              <a:t>A Scalar function which describes the total energy of the system.</a:t>
            </a:r>
          </a:p>
          <a:p>
            <a:pPr marL="152396" indent="0">
              <a:buNone/>
            </a:pPr>
            <a:endParaRPr lang="en-US" dirty="0"/>
          </a:p>
          <a:p>
            <a:r>
              <a:rPr lang="en-US" dirty="0"/>
              <a:t>Stability Criteria: 1. V(x)&gt;0, for all x not equal to </a:t>
            </a:r>
            <a:r>
              <a:rPr lang="en-US" dirty="0" err="1"/>
              <a:t>xs</a:t>
            </a:r>
            <a:endParaRPr lang="en-US" dirty="0"/>
          </a:p>
          <a:p>
            <a:pPr marL="152396" indent="0">
              <a:buNone/>
            </a:pPr>
            <a:r>
              <a:rPr lang="en-US" dirty="0"/>
              <a:t>                                    2.</a:t>
            </a:r>
          </a:p>
          <a:p>
            <a:pPr marL="152396" indent="0">
              <a:buNone/>
            </a:pPr>
            <a:r>
              <a:rPr lang="en-US" sz="2400" dirty="0"/>
              <a:t>Transient Energy function Described for post fault system, given by :</a:t>
            </a:r>
          </a:p>
          <a:p>
            <a:pPr marL="152396" indent="0">
              <a:buNone/>
            </a:pPr>
            <a:endParaRPr lang="en-US" dirty="0"/>
          </a:p>
          <a:p>
            <a:pPr marL="152396" indent="0">
              <a:buNone/>
            </a:pPr>
            <a:r>
              <a:rPr lang="en-US" dirty="0"/>
              <a:t>                                   </a:t>
            </a:r>
            <a:br>
              <a:rPr lang="en-US" dirty="0"/>
            </a:br>
            <a:endParaRPr lang="en-US" dirty="0"/>
          </a:p>
        </p:txBody>
      </p:sp>
      <p:pic>
        <p:nvPicPr>
          <p:cNvPr id="5" name="Picture 4">
            <a:extLst>
              <a:ext uri="{FF2B5EF4-FFF2-40B4-BE49-F238E27FC236}">
                <a16:creationId xmlns:a16="http://schemas.microsoft.com/office/drawing/2014/main" id="{9916AB6F-0D1D-4B03-A6B0-779A974A31DE}"/>
              </a:ext>
            </a:extLst>
          </p:cNvPr>
          <p:cNvPicPr>
            <a:picLocks noChangeAspect="1"/>
          </p:cNvPicPr>
          <p:nvPr/>
        </p:nvPicPr>
        <p:blipFill>
          <a:blip r:embed="rId3"/>
          <a:stretch>
            <a:fillRect/>
          </a:stretch>
        </p:blipFill>
        <p:spPr>
          <a:xfrm>
            <a:off x="4203621" y="2971856"/>
            <a:ext cx="2346721" cy="496953"/>
          </a:xfrm>
          <a:prstGeom prst="rect">
            <a:avLst/>
          </a:prstGeom>
        </p:spPr>
      </p:pic>
      <p:pic>
        <p:nvPicPr>
          <p:cNvPr id="6" name="image9.png">
            <a:extLst>
              <a:ext uri="{FF2B5EF4-FFF2-40B4-BE49-F238E27FC236}">
                <a16:creationId xmlns:a16="http://schemas.microsoft.com/office/drawing/2014/main" id="{BAB84AE2-A05B-4270-8073-F55F364F114F}"/>
              </a:ext>
            </a:extLst>
          </p:cNvPr>
          <p:cNvPicPr/>
          <p:nvPr/>
        </p:nvPicPr>
        <p:blipFill>
          <a:blip r:embed="rId4"/>
          <a:srcRect/>
          <a:stretch>
            <a:fillRect/>
          </a:stretch>
        </p:blipFill>
        <p:spPr>
          <a:xfrm>
            <a:off x="1158944" y="4169251"/>
            <a:ext cx="4289368" cy="1306629"/>
          </a:xfrm>
          <a:prstGeom prst="rect">
            <a:avLst/>
          </a:prstGeom>
          <a:ln/>
        </p:spPr>
      </p:pic>
      <p:sp>
        <p:nvSpPr>
          <p:cNvPr id="8" name="Google Shape;61;p14">
            <a:extLst>
              <a:ext uri="{FF2B5EF4-FFF2-40B4-BE49-F238E27FC236}">
                <a16:creationId xmlns:a16="http://schemas.microsoft.com/office/drawing/2014/main" id="{FD796FF4-8E55-A927-FE3E-5380298D4F0A}"/>
              </a:ext>
            </a:extLst>
          </p:cNvPr>
          <p:cNvSpPr txBox="1">
            <a:spLocks/>
          </p:cNvSpPr>
          <p:nvPr/>
        </p:nvSpPr>
        <p:spPr>
          <a:xfrm>
            <a:off x="0" y="0"/>
            <a:ext cx="11938958" cy="1121900"/>
          </a:xfrm>
          <a:prstGeom prst="rect">
            <a:avLst/>
          </a:prstGeom>
        </p:spPr>
        <p:style>
          <a:lnRef idx="1">
            <a:schemeClr val="accent5"/>
          </a:lnRef>
          <a:fillRef idx="2">
            <a:schemeClr val="accent5"/>
          </a:fillRef>
          <a:effectRef idx="1">
            <a:schemeClr val="accent5"/>
          </a:effectRef>
          <a:fontRef idx="minor">
            <a:schemeClr val="dk1"/>
          </a:fontRef>
        </p:style>
        <p:txBody>
          <a:bodyPr spcFirstLastPara="1" vert="horz" wrap="square" lIns="121900" tIns="121900" rIns="121900" bIns="121900" rtlCol="0" anchor="ctr" anchorCtr="0">
            <a:normAutofit/>
          </a:bodyPr>
          <a:lstStyle>
            <a:lvl1pPr lvl="0" algn="l" defTabSz="914400" rtl="0" eaLnBrk="1" latinLnBrk="0" hangingPunct="1">
              <a:lnSpc>
                <a:spcPct val="90000"/>
              </a:lnSpc>
              <a:spcBef>
                <a:spcPts val="0"/>
              </a:spcBef>
              <a:spcAft>
                <a:spcPts val="0"/>
              </a:spcAft>
              <a:buSzPts val="2800"/>
              <a:buNone/>
              <a:defRPr sz="4400" kern="1200">
                <a:solidFill>
                  <a:schemeClr val="dk1"/>
                </a:solidFill>
                <a:latin typeface="+mn-lt"/>
                <a:ea typeface="+mn-ea"/>
                <a:cs typeface="+mn-cs"/>
              </a:defRPr>
            </a:lvl1pPr>
            <a:lvl2pPr lvl="1">
              <a:spcBef>
                <a:spcPts val="0"/>
              </a:spcBef>
              <a:spcAft>
                <a:spcPts val="0"/>
              </a:spcAft>
              <a:buSzPts val="2800"/>
              <a:buNone/>
              <a:defRPr>
                <a:solidFill>
                  <a:schemeClr val="dk1"/>
                </a:solidFill>
                <a:latin typeface="+mn-lt"/>
                <a:ea typeface="+mn-ea"/>
                <a:cs typeface="+mn-cs"/>
              </a:defRPr>
            </a:lvl2pPr>
            <a:lvl3pPr lvl="2">
              <a:spcBef>
                <a:spcPts val="0"/>
              </a:spcBef>
              <a:spcAft>
                <a:spcPts val="0"/>
              </a:spcAft>
              <a:buSzPts val="2800"/>
              <a:buNone/>
              <a:defRPr>
                <a:solidFill>
                  <a:schemeClr val="dk1"/>
                </a:solidFill>
                <a:latin typeface="+mn-lt"/>
                <a:ea typeface="+mn-ea"/>
                <a:cs typeface="+mn-cs"/>
              </a:defRPr>
            </a:lvl3pPr>
            <a:lvl4pPr lvl="3">
              <a:spcBef>
                <a:spcPts val="0"/>
              </a:spcBef>
              <a:spcAft>
                <a:spcPts val="0"/>
              </a:spcAft>
              <a:buSzPts val="2800"/>
              <a:buNone/>
              <a:defRPr>
                <a:solidFill>
                  <a:schemeClr val="dk1"/>
                </a:solidFill>
                <a:latin typeface="+mn-lt"/>
                <a:ea typeface="+mn-ea"/>
                <a:cs typeface="+mn-cs"/>
              </a:defRPr>
            </a:lvl4pPr>
            <a:lvl5pPr lvl="4">
              <a:spcBef>
                <a:spcPts val="0"/>
              </a:spcBef>
              <a:spcAft>
                <a:spcPts val="0"/>
              </a:spcAft>
              <a:buSzPts val="2800"/>
              <a:buNone/>
              <a:defRPr>
                <a:solidFill>
                  <a:schemeClr val="dk1"/>
                </a:solidFill>
                <a:latin typeface="+mn-lt"/>
                <a:ea typeface="+mn-ea"/>
                <a:cs typeface="+mn-cs"/>
              </a:defRPr>
            </a:lvl5pPr>
            <a:lvl6pPr lvl="5">
              <a:spcBef>
                <a:spcPts val="0"/>
              </a:spcBef>
              <a:spcAft>
                <a:spcPts val="0"/>
              </a:spcAft>
              <a:buSzPts val="2800"/>
              <a:buNone/>
              <a:defRPr>
                <a:solidFill>
                  <a:schemeClr val="dk1"/>
                </a:solidFill>
                <a:latin typeface="+mn-lt"/>
                <a:ea typeface="+mn-ea"/>
                <a:cs typeface="+mn-cs"/>
              </a:defRPr>
            </a:lvl6pPr>
            <a:lvl7pPr lvl="6">
              <a:spcBef>
                <a:spcPts val="0"/>
              </a:spcBef>
              <a:spcAft>
                <a:spcPts val="0"/>
              </a:spcAft>
              <a:buSzPts val="2800"/>
              <a:buNone/>
              <a:defRPr>
                <a:solidFill>
                  <a:schemeClr val="dk1"/>
                </a:solidFill>
                <a:latin typeface="+mn-lt"/>
                <a:ea typeface="+mn-ea"/>
                <a:cs typeface="+mn-cs"/>
              </a:defRPr>
            </a:lvl7pPr>
            <a:lvl8pPr lvl="7">
              <a:spcBef>
                <a:spcPts val="0"/>
              </a:spcBef>
              <a:spcAft>
                <a:spcPts val="0"/>
              </a:spcAft>
              <a:buSzPts val="2800"/>
              <a:buNone/>
              <a:defRPr>
                <a:solidFill>
                  <a:schemeClr val="dk1"/>
                </a:solidFill>
                <a:latin typeface="+mn-lt"/>
                <a:ea typeface="+mn-ea"/>
                <a:cs typeface="+mn-cs"/>
              </a:defRPr>
            </a:lvl8pPr>
            <a:lvl9pPr lvl="8">
              <a:spcBef>
                <a:spcPts val="0"/>
              </a:spcBef>
              <a:spcAft>
                <a:spcPts val="0"/>
              </a:spcAft>
              <a:buSzPts val="2800"/>
              <a:buNone/>
              <a:defRPr>
                <a:solidFill>
                  <a:schemeClr val="dk1"/>
                </a:solidFill>
                <a:latin typeface="+mn-lt"/>
                <a:ea typeface="+mn-ea"/>
                <a:cs typeface="+mn-cs"/>
              </a:defRPr>
            </a:lvl9pPr>
          </a:lstStyle>
          <a:p>
            <a:r>
              <a:rPr lang="en-US" b="1">
                <a:solidFill>
                  <a:srgbClr val="C00000"/>
                </a:solidFill>
                <a:latin typeface="Times New Roman" panose="02020603050405020304" pitchFamily="18" charset="0"/>
                <a:cs typeface="Times New Roman" panose="02020603050405020304" pitchFamily="18" charset="0"/>
              </a:rPr>
              <a:t>	Introduction</a:t>
            </a:r>
            <a:endParaRPr lang="en-US" b="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8EDE565-AC2F-437B-B6BC-CAA75F1DDB06}"/>
              </a:ext>
            </a:extLst>
          </p:cNvPr>
          <p:cNvPicPr>
            <a:picLocks noChangeAspect="1"/>
          </p:cNvPicPr>
          <p:nvPr/>
        </p:nvPicPr>
        <p:blipFill>
          <a:blip r:embed="rId5"/>
          <a:stretch>
            <a:fillRect/>
          </a:stretch>
        </p:blipFill>
        <p:spPr>
          <a:xfrm>
            <a:off x="5448312" y="3886144"/>
            <a:ext cx="5283419" cy="2708690"/>
          </a:xfrm>
          <a:prstGeom prst="rect">
            <a:avLst/>
          </a:prstGeom>
        </p:spPr>
      </p:pic>
    </p:spTree>
    <p:extLst>
      <p:ext uri="{BB962C8B-B14F-4D97-AF65-F5344CB8AC3E}">
        <p14:creationId xmlns:p14="http://schemas.microsoft.com/office/powerpoint/2010/main" val="478809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9228-5B27-4714-A9C4-EB94F3198F5F}"/>
              </a:ext>
            </a:extLst>
          </p:cNvPr>
          <p:cNvSpPr>
            <a:spLocks noGrp="1"/>
          </p:cNvSpPr>
          <p:nvPr>
            <p:ph type="title"/>
          </p:nvPr>
        </p:nvSpPr>
        <p:spPr>
          <a:xfrm>
            <a:off x="-1" y="0"/>
            <a:ext cx="11706045" cy="1104181"/>
          </a:xfrm>
        </p:spPr>
        <p:style>
          <a:lnRef idx="1">
            <a:schemeClr val="accent5"/>
          </a:lnRef>
          <a:fillRef idx="2">
            <a:schemeClr val="accent5"/>
          </a:fillRef>
          <a:effectRef idx="1">
            <a:schemeClr val="accent5"/>
          </a:effectRef>
          <a:fontRef idx="minor">
            <a:schemeClr val="dk1"/>
          </a:fontRef>
        </p:style>
        <p:txBody>
          <a:bodyPr anchor="ctr">
            <a:normAutofit/>
          </a:bodyPr>
          <a:lstStyle/>
          <a:p>
            <a:r>
              <a:rPr lang="en-US" sz="3200" b="1" dirty="0">
                <a:solidFill>
                  <a:srgbClr val="C00000"/>
                </a:solidFill>
                <a:latin typeface="Times New Roman" panose="02020603050405020304" pitchFamily="18" charset="0"/>
                <a:cs typeface="Times New Roman" panose="02020603050405020304" pitchFamily="18" charset="0"/>
              </a:rPr>
              <a:t>	Literature Review</a:t>
            </a:r>
          </a:p>
        </p:txBody>
      </p:sp>
      <p:sp>
        <p:nvSpPr>
          <p:cNvPr id="3" name="Text Placeholder 2">
            <a:extLst>
              <a:ext uri="{FF2B5EF4-FFF2-40B4-BE49-F238E27FC236}">
                <a16:creationId xmlns:a16="http://schemas.microsoft.com/office/drawing/2014/main" id="{FD41931E-A90D-4D55-9810-5738E66CF67D}"/>
              </a:ext>
            </a:extLst>
          </p:cNvPr>
          <p:cNvSpPr>
            <a:spLocks noGrp="1"/>
          </p:cNvSpPr>
          <p:nvPr>
            <p:ph type="body" idx="1"/>
          </p:nvPr>
        </p:nvSpPr>
        <p:spPr>
          <a:xfrm>
            <a:off x="665767" y="1320973"/>
            <a:ext cx="11360800" cy="5030422"/>
          </a:xfrm>
        </p:spPr>
        <p:txBody>
          <a:bodyPr>
            <a:normAutofit/>
          </a:bodyPr>
          <a:lstStyle/>
          <a:p>
            <a:pPr marL="152396" indent="0" algn="just">
              <a:buNone/>
            </a:pPr>
            <a:r>
              <a:rPr lang="en-US" sz="2000" dirty="0">
                <a:latin typeface="Times New Roman" panose="02020603050405020304" pitchFamily="18" charset="0"/>
                <a:cs typeface="Times New Roman" panose="02020603050405020304" pitchFamily="18" charset="0"/>
              </a:rPr>
              <a:t>Our project is founded on the real-time prediction and control framework proposed by </a:t>
            </a:r>
            <a:r>
              <a:rPr lang="en-US" sz="2000" dirty="0" err="1">
                <a:latin typeface="Times New Roman" panose="02020603050405020304" pitchFamily="18" charset="0"/>
                <a:cs typeface="Times New Roman" panose="02020603050405020304" pitchFamily="18" charset="0"/>
              </a:rPr>
              <a:t>Bhui</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Senroy</a:t>
            </a:r>
            <a:r>
              <a:rPr lang="en-US" sz="2000" dirty="0">
                <a:latin typeface="Times New Roman" panose="02020603050405020304" pitchFamily="18" charset="0"/>
                <a:cs typeface="Times New Roman" panose="02020603050405020304" pitchFamily="18" charset="0"/>
              </a:rPr>
              <a:t> [1]. </a:t>
            </a:r>
          </a:p>
          <a:p>
            <a:pPr marL="152396" indent="0" algn="just">
              <a:buNone/>
            </a:pPr>
            <a:r>
              <a:rPr lang="en-US" sz="2000" dirty="0">
                <a:latin typeface="Times New Roman" panose="02020603050405020304" pitchFamily="18" charset="0"/>
                <a:cs typeface="Times New Roman" panose="02020603050405020304" pitchFamily="18" charset="0"/>
              </a:rPr>
              <a:t>They have used Transient Energy function Frame work to make assessment of transient Stability by Dividing the computation into two mode of computation </a:t>
            </a:r>
          </a:p>
          <a:p>
            <a:pPr marL="152396" indent="0" algn="just">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a.Offline</a:t>
            </a:r>
            <a:r>
              <a:rPr lang="en-US" sz="2000" dirty="0">
                <a:latin typeface="Times New Roman" panose="02020603050405020304" pitchFamily="18" charset="0"/>
                <a:cs typeface="Times New Roman" panose="02020603050405020304" pitchFamily="18" charset="0"/>
              </a:rPr>
              <a:t> Computation</a:t>
            </a:r>
          </a:p>
          <a:p>
            <a:pPr marL="152396" indent="0" algn="just">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b.Online</a:t>
            </a:r>
            <a:r>
              <a:rPr lang="en-US" sz="2000" dirty="0">
                <a:latin typeface="Times New Roman" panose="02020603050405020304" pitchFamily="18" charset="0"/>
                <a:cs typeface="Times New Roman" panose="02020603050405020304" pitchFamily="18" charset="0"/>
              </a:rPr>
              <a:t> Computation</a:t>
            </a:r>
          </a:p>
          <a:p>
            <a:pPr marL="152396" indent="0" algn="just">
              <a:buNone/>
            </a:pPr>
            <a:r>
              <a:rPr lang="en-US" sz="2000" dirty="0">
                <a:latin typeface="Times New Roman" panose="02020603050405020304" pitchFamily="18" charset="0"/>
                <a:cs typeface="Times New Roman" panose="02020603050405020304" pitchFamily="18" charset="0"/>
              </a:rPr>
              <a:t>They have developed fast and </a:t>
            </a:r>
            <a:r>
              <a:rPr lang="en-US" sz="2000" dirty="0" err="1">
                <a:latin typeface="Times New Roman" panose="02020603050405020304" pitchFamily="18" charset="0"/>
                <a:cs typeface="Times New Roman" panose="02020603050405020304" pitchFamily="18" charset="0"/>
              </a:rPr>
              <a:t>robost</a:t>
            </a:r>
            <a:r>
              <a:rPr lang="en-US" sz="2000" dirty="0">
                <a:latin typeface="Times New Roman" panose="02020603050405020304" pitchFamily="18" charset="0"/>
                <a:cs typeface="Times New Roman" panose="02020603050405020304" pitchFamily="18" charset="0"/>
              </a:rPr>
              <a:t> framework for stability assessment. In Offline Phase Boundary of Controlling Unstable </a:t>
            </a:r>
            <a:r>
              <a:rPr lang="en-US" sz="2000" dirty="0" err="1">
                <a:latin typeface="Times New Roman" panose="02020603050405020304" pitchFamily="18" charset="0"/>
                <a:cs typeface="Times New Roman" panose="02020603050405020304" pitchFamily="18" charset="0"/>
              </a:rPr>
              <a:t>Equillibrium</a:t>
            </a:r>
            <a:r>
              <a:rPr lang="en-US" sz="2000" dirty="0">
                <a:latin typeface="Times New Roman" panose="02020603050405020304" pitchFamily="18" charset="0"/>
                <a:cs typeface="Times New Roman" panose="02020603050405020304" pitchFamily="18" charset="0"/>
              </a:rPr>
              <a:t> Point (BCU) method Integrated with Potential Energy Boundary Surface (PBES) method to find mode of disturbance (MOD) and normalized kinetic energy vector for lookup table</a:t>
            </a:r>
          </a:p>
          <a:p>
            <a:pPr marL="152396" indent="0" algn="just">
              <a:buNone/>
            </a:pPr>
            <a:br>
              <a:rPr lang="en-US" sz="32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PEBS and BCU and are two different Algorithmic technique which utilizes the transient energy function for finding critical energy and critical clearing time.</a:t>
            </a:r>
          </a:p>
          <a:p>
            <a:pPr marL="152396" indent="0" algn="just">
              <a:buNone/>
            </a:pPr>
            <a:r>
              <a:rPr lang="en-US" sz="2000" dirty="0">
                <a:latin typeface="Times New Roman" panose="02020603050405020304" pitchFamily="18" charset="0"/>
                <a:cs typeface="Times New Roman" panose="02020603050405020304" pitchFamily="18" charset="0"/>
              </a:rPr>
              <a:t>PEBS involves computation of Fault on trajectory of the system                                       and detect the highest potential by monitoring 			 at each time steps.</a:t>
            </a:r>
          </a:p>
          <a:p>
            <a:pPr marL="152396" indent="0" algn="just">
              <a:buNone/>
            </a:pPr>
            <a:r>
              <a:rPr lang="en-US" sz="2000" dirty="0">
                <a:latin typeface="Times New Roman" panose="02020603050405020304" pitchFamily="18" charset="0"/>
                <a:cs typeface="Times New Roman" panose="02020603050405020304" pitchFamily="18" charset="0"/>
              </a:rPr>
              <a:t>BCU method uses PEBS result as initial condition</a:t>
            </a:r>
          </a:p>
          <a:p>
            <a:pPr marL="152396" indent="0" algn="just">
              <a:buNone/>
            </a:pPr>
            <a:endParaRPr lang="en-US" dirty="0"/>
          </a:p>
        </p:txBody>
      </p:sp>
      <p:pic>
        <p:nvPicPr>
          <p:cNvPr id="4" name="Picture 3">
            <a:extLst>
              <a:ext uri="{FF2B5EF4-FFF2-40B4-BE49-F238E27FC236}">
                <a16:creationId xmlns:a16="http://schemas.microsoft.com/office/drawing/2014/main" id="{06CEFC0B-8706-4FFE-AEDE-9E5F1095AD19}"/>
              </a:ext>
            </a:extLst>
          </p:cNvPr>
          <p:cNvPicPr>
            <a:picLocks noChangeAspect="1"/>
          </p:cNvPicPr>
          <p:nvPr/>
        </p:nvPicPr>
        <p:blipFill>
          <a:blip r:embed="rId2"/>
          <a:stretch>
            <a:fillRect/>
          </a:stretch>
        </p:blipFill>
        <p:spPr>
          <a:xfrm>
            <a:off x="7673548" y="4586145"/>
            <a:ext cx="2478639" cy="294076"/>
          </a:xfrm>
          <a:prstGeom prst="rect">
            <a:avLst/>
          </a:prstGeom>
        </p:spPr>
      </p:pic>
      <p:pic>
        <p:nvPicPr>
          <p:cNvPr id="5" name="Picture 4">
            <a:extLst>
              <a:ext uri="{FF2B5EF4-FFF2-40B4-BE49-F238E27FC236}">
                <a16:creationId xmlns:a16="http://schemas.microsoft.com/office/drawing/2014/main" id="{786A1CAD-8973-4E3A-9863-891AF169E8D3}"/>
              </a:ext>
            </a:extLst>
          </p:cNvPr>
          <p:cNvPicPr>
            <a:picLocks noChangeAspect="1"/>
          </p:cNvPicPr>
          <p:nvPr/>
        </p:nvPicPr>
        <p:blipFill>
          <a:blip r:embed="rId3"/>
          <a:stretch>
            <a:fillRect/>
          </a:stretch>
        </p:blipFill>
        <p:spPr>
          <a:xfrm>
            <a:off x="4383879" y="4880221"/>
            <a:ext cx="1810003" cy="285790"/>
          </a:xfrm>
          <a:prstGeom prst="rect">
            <a:avLst/>
          </a:prstGeom>
        </p:spPr>
      </p:pic>
    </p:spTree>
    <p:extLst>
      <p:ext uri="{BB962C8B-B14F-4D97-AF65-F5344CB8AC3E}">
        <p14:creationId xmlns:p14="http://schemas.microsoft.com/office/powerpoint/2010/main" val="2609519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6E7014-025B-4CA3-8A8B-51CFF8906208}"/>
              </a:ext>
            </a:extLst>
          </p:cNvPr>
          <p:cNvSpPr>
            <a:spLocks noGrp="1"/>
          </p:cNvSpPr>
          <p:nvPr>
            <p:ph type="body"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In the online stage of the paper correct MOD is identified and energy margin (</a:t>
            </a:r>
            <a:r>
              <a:rPr lang="en-US" sz="2400" dirty="0" err="1">
                <a:latin typeface="Times New Roman" panose="02020603050405020304" pitchFamily="18" charset="0"/>
                <a:cs typeface="Times New Roman" panose="02020603050405020304" pitchFamily="18" charset="0"/>
              </a:rPr>
              <a:t>Vcr-Vcl</a:t>
            </a:r>
            <a:r>
              <a:rPr lang="en-US" sz="2400" dirty="0">
                <a:latin typeface="Times New Roman" panose="02020603050405020304" pitchFamily="18" charset="0"/>
                <a:cs typeface="Times New Roman" panose="02020603050405020304" pitchFamily="18" charset="0"/>
              </a:rPr>
              <a:t>)  is calculated  to find the stability of the system.</a:t>
            </a:r>
          </a:p>
          <a:p>
            <a:pPr algn="just"/>
            <a:r>
              <a:rPr lang="en-US" sz="2400" dirty="0">
                <a:latin typeface="Times New Roman" panose="02020603050405020304" pitchFamily="18" charset="0"/>
                <a:cs typeface="Times New Roman" panose="02020603050405020304" pitchFamily="18" charset="0"/>
              </a:rPr>
              <a:t>Control action is taken if system is found unstable by shading the appropriate generation from the system. There is need of prediction of generator angle and speed at the time of generation shedding accounting for computational delay. </a:t>
            </a:r>
          </a:p>
          <a:p>
            <a:pPr algn="just"/>
            <a:r>
              <a:rPr lang="en-US" sz="2400" dirty="0">
                <a:latin typeface="Times New Roman" panose="02020603050405020304" pitchFamily="18" charset="0"/>
                <a:cs typeface="Times New Roman" panose="02020603050405020304" pitchFamily="18" charset="0"/>
              </a:rPr>
              <a:t>The minimum amount of data available for this prediction corresponds to the computational delay associated with the application of the TEF technique , signal latency and initiating control actions delay.</a:t>
            </a:r>
          </a:p>
          <a:p>
            <a:pPr algn="just"/>
            <a:r>
              <a:rPr lang="en-US" sz="2400" dirty="0">
                <a:latin typeface="Times New Roman" panose="02020603050405020304" pitchFamily="18" charset="0"/>
                <a:cs typeface="Times New Roman" panose="02020603050405020304" pitchFamily="18" charset="0"/>
              </a:rPr>
              <a:t>Quadratic and cubic curve fitting have been used for predicting the angle which is produces error[1]</a:t>
            </a:r>
          </a:p>
        </p:txBody>
      </p:sp>
      <p:sp>
        <p:nvSpPr>
          <p:cNvPr id="7" name="Title 1">
            <a:extLst>
              <a:ext uri="{FF2B5EF4-FFF2-40B4-BE49-F238E27FC236}">
                <a16:creationId xmlns:a16="http://schemas.microsoft.com/office/drawing/2014/main" id="{5D7CC605-5FBE-975B-20D3-E3D2B15F1971}"/>
              </a:ext>
            </a:extLst>
          </p:cNvPr>
          <p:cNvSpPr>
            <a:spLocks noGrp="1"/>
          </p:cNvSpPr>
          <p:nvPr>
            <p:ph type="title"/>
          </p:nvPr>
        </p:nvSpPr>
        <p:spPr>
          <a:xfrm>
            <a:off x="0" y="0"/>
            <a:ext cx="11776400" cy="1104181"/>
          </a:xfrm>
        </p:spPr>
        <p:style>
          <a:lnRef idx="1">
            <a:schemeClr val="accent5"/>
          </a:lnRef>
          <a:fillRef idx="2">
            <a:schemeClr val="accent5"/>
          </a:fillRef>
          <a:effectRef idx="1">
            <a:schemeClr val="accent5"/>
          </a:effectRef>
          <a:fontRef idx="minor">
            <a:schemeClr val="dk1"/>
          </a:fontRef>
        </p:style>
        <p:txBody>
          <a:bodyPr anchor="ctr">
            <a:normAutofit/>
          </a:bodyPr>
          <a:lstStyle/>
          <a:p>
            <a:r>
              <a:rPr lang="en-US" sz="3200" b="1" dirty="0">
                <a:solidFill>
                  <a:srgbClr val="C00000"/>
                </a:solidFill>
                <a:latin typeface="Times New Roman" panose="02020603050405020304" pitchFamily="18" charset="0"/>
                <a:cs typeface="Times New Roman" panose="02020603050405020304" pitchFamily="18" charset="0"/>
              </a:rPr>
              <a:t>	Literature Review</a:t>
            </a:r>
          </a:p>
        </p:txBody>
      </p:sp>
    </p:spTree>
    <p:extLst>
      <p:ext uri="{BB962C8B-B14F-4D97-AF65-F5344CB8AC3E}">
        <p14:creationId xmlns:p14="http://schemas.microsoft.com/office/powerpoint/2010/main" val="2569144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F66F-EB1A-442B-8C65-BCB865D9E304}"/>
              </a:ext>
            </a:extLst>
          </p:cNvPr>
          <p:cNvSpPr>
            <a:spLocks noGrp="1"/>
          </p:cNvSpPr>
          <p:nvPr>
            <p:ph type="title"/>
          </p:nvPr>
        </p:nvSpPr>
        <p:spPr>
          <a:xfrm>
            <a:off x="-1" y="0"/>
            <a:ext cx="11542143" cy="1043796"/>
          </a:xfrm>
        </p:spPr>
        <p:style>
          <a:lnRef idx="0">
            <a:scrgbClr r="0" g="0" b="0"/>
          </a:lnRef>
          <a:fillRef idx="1003">
            <a:schemeClr val="lt1"/>
          </a:fillRef>
          <a:effectRef idx="0">
            <a:scrgbClr r="0" g="0" b="0"/>
          </a:effectRef>
          <a:fontRef idx="major"/>
        </p:style>
        <p:txBody>
          <a:bodyPr anchor="ctr">
            <a:normAutofit/>
          </a:bodyPr>
          <a:lstStyle/>
          <a:p>
            <a:r>
              <a:rPr lang="en-US" sz="2800" b="1" dirty="0">
                <a:solidFill>
                  <a:srgbClr val="C00000"/>
                </a:solidFill>
                <a:latin typeface="Times New Roman" panose="02020603050405020304" pitchFamily="18" charset="0"/>
                <a:cs typeface="Times New Roman" panose="02020603050405020304" pitchFamily="18" charset="0"/>
              </a:rPr>
              <a:t>	Problem Statements</a:t>
            </a:r>
          </a:p>
        </p:txBody>
      </p:sp>
      <p:sp>
        <p:nvSpPr>
          <p:cNvPr id="3" name="Text Placeholder 2">
            <a:extLst>
              <a:ext uri="{FF2B5EF4-FFF2-40B4-BE49-F238E27FC236}">
                <a16:creationId xmlns:a16="http://schemas.microsoft.com/office/drawing/2014/main" id="{01B85107-144D-4268-B431-7E1C27C05A62}"/>
              </a:ext>
            </a:extLst>
          </p:cNvPr>
          <p:cNvSpPr>
            <a:spLocks noGrp="1"/>
          </p:cNvSpPr>
          <p:nvPr>
            <p:ph type="body" idx="1"/>
          </p:nvPr>
        </p:nvSpPr>
        <p:spPr>
          <a:xfrm>
            <a:off x="830340" y="1151400"/>
            <a:ext cx="10531320" cy="4555200"/>
          </a:xfrm>
        </p:spPr>
        <p:txBody>
          <a:bodyPr>
            <a:normAutofit/>
          </a:bodyPr>
          <a:lstStyle/>
          <a:p>
            <a:pPr algn="just"/>
            <a:r>
              <a:rPr lang="en-US" sz="2400" dirty="0">
                <a:latin typeface="Times New Roman" panose="02020603050405020304" pitchFamily="18" charset="0"/>
                <a:cs typeface="Times New Roman" panose="02020603050405020304" pitchFamily="18" charset="0"/>
              </a:rPr>
              <a:t>Error in the prediction of rotor angle and speed:</a:t>
            </a:r>
          </a:p>
          <a:p>
            <a:pPr algn="just"/>
            <a:r>
              <a:rPr lang="en-US" sz="2400" dirty="0">
                <a:latin typeface="Times New Roman" panose="02020603050405020304" pitchFamily="18" charset="0"/>
                <a:cs typeface="Times New Roman" panose="02020603050405020304" pitchFamily="18" charset="0"/>
              </a:rPr>
              <a:t>Inaccurate prediction of rotor angle and speed lead to inaccurate generation shedding.</a:t>
            </a:r>
          </a:p>
          <a:p>
            <a:pPr algn="just"/>
            <a:r>
              <a:rPr lang="en-US" sz="2400" dirty="0">
                <a:latin typeface="Times New Roman" panose="02020603050405020304" pitchFamily="18" charset="0"/>
                <a:cs typeface="Times New Roman" panose="02020603050405020304" pitchFamily="18" charset="0"/>
              </a:rPr>
              <a:t>System May remain unstable. </a:t>
            </a:r>
          </a:p>
        </p:txBody>
      </p:sp>
    </p:spTree>
    <p:extLst>
      <p:ext uri="{BB962C8B-B14F-4D97-AF65-F5344CB8AC3E}">
        <p14:creationId xmlns:p14="http://schemas.microsoft.com/office/powerpoint/2010/main" val="224173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96D4-6472-4157-8246-BB47AC371361}"/>
              </a:ext>
            </a:extLst>
          </p:cNvPr>
          <p:cNvSpPr>
            <a:spLocks noGrp="1"/>
          </p:cNvSpPr>
          <p:nvPr>
            <p:ph type="title"/>
          </p:nvPr>
        </p:nvSpPr>
        <p:spPr>
          <a:xfrm>
            <a:off x="0" y="0"/>
            <a:ext cx="11776400" cy="968778"/>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a:solidFill>
                  <a:srgbClr val="C00000"/>
                </a:solidFill>
                <a:latin typeface="Times New Roman" panose="02020603050405020304" pitchFamily="18" charset="0"/>
                <a:cs typeface="Times New Roman" panose="02020603050405020304" pitchFamily="18" charset="0"/>
              </a:rPr>
              <a:t>	Objectives</a:t>
            </a:r>
          </a:p>
        </p:txBody>
      </p:sp>
      <p:sp>
        <p:nvSpPr>
          <p:cNvPr id="3" name="Text Placeholder 2">
            <a:extLst>
              <a:ext uri="{FF2B5EF4-FFF2-40B4-BE49-F238E27FC236}">
                <a16:creationId xmlns:a16="http://schemas.microsoft.com/office/drawing/2014/main" id="{90B6CBF9-15CE-4B9A-9431-D6BEF5701720}"/>
              </a:ext>
            </a:extLst>
          </p:cNvPr>
          <p:cNvSpPr>
            <a:spLocks noGrp="1"/>
          </p:cNvSpPr>
          <p:nvPr>
            <p:ph type="body" idx="1"/>
          </p:nvPr>
        </p:nvSpPr>
        <p:spPr/>
        <p:txBody>
          <a:bodyPr/>
          <a:lstStyle/>
          <a:p>
            <a:pPr marL="152396" indent="0">
              <a:buNone/>
            </a:pPr>
            <a:r>
              <a:rPr lang="en-US" dirty="0"/>
              <a:t>• To develop and implement an LSTM (Long Short-Term Memory) neural  network model for accurate, real-time prediction of generator angles and speeds in the IEEE 39 bus system following a fault </a:t>
            </a:r>
          </a:p>
          <a:p>
            <a:pPr marL="152396" indent="0">
              <a:buNone/>
            </a:pPr>
            <a:r>
              <a:rPr lang="en-US" dirty="0"/>
              <a:t>• To integrate the generator state predictions into the Transient Energy Function (TEF) framework for improved transient stability assessment and control. </a:t>
            </a:r>
          </a:p>
          <a:p>
            <a:pPr marL="152396" indent="0">
              <a:buNone/>
            </a:pPr>
            <a:r>
              <a:rPr lang="en-US" dirty="0"/>
              <a:t>• To demonstrate the applicability of the enhanced TEF method on the IEEE 39-bus test system</a:t>
            </a:r>
          </a:p>
        </p:txBody>
      </p:sp>
    </p:spTree>
    <p:extLst>
      <p:ext uri="{BB962C8B-B14F-4D97-AF65-F5344CB8AC3E}">
        <p14:creationId xmlns:p14="http://schemas.microsoft.com/office/powerpoint/2010/main" val="2140886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0" y="0"/>
            <a:ext cx="11671540" cy="1035170"/>
          </a:xfrm>
          <a:prstGeom prst="rect">
            <a:avLst/>
          </a:prstGeom>
        </p:spPr>
        <p:style>
          <a:lnRef idx="1">
            <a:schemeClr val="accent3"/>
          </a:lnRef>
          <a:fillRef idx="2">
            <a:schemeClr val="accent3"/>
          </a:fillRef>
          <a:effectRef idx="1">
            <a:schemeClr val="accent3"/>
          </a:effectRef>
          <a:fontRef idx="minor">
            <a:schemeClr val="dk1"/>
          </a:fontRef>
        </p:style>
        <p:txBody>
          <a:bodyPr spcFirstLastPara="1" vert="horz" wrap="square" lIns="121900" tIns="121900" rIns="121900" bIns="121900" rtlCol="0" anchor="ctr" anchorCtr="0">
            <a:normAutofit/>
          </a:bodyPr>
          <a:lstStyle/>
          <a:p>
            <a:r>
              <a:rPr lang="en" sz="2800" b="1" dirty="0">
                <a:solidFill>
                  <a:srgbClr val="C00000"/>
                </a:solidFill>
                <a:latin typeface="Times New Roman" panose="02020603050405020304" pitchFamily="18" charset="0"/>
                <a:cs typeface="Times New Roman" panose="02020603050405020304" pitchFamily="18" charset="0"/>
              </a:rPr>
              <a:t>	METHODOLOGY</a:t>
            </a:r>
            <a:endParaRPr sz="2800" b="1" dirty="0">
              <a:solidFill>
                <a:srgbClr val="C0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B4B105C-358F-4DF9-9905-0A1DF3DEBEBD}"/>
              </a:ext>
            </a:extLst>
          </p:cNvPr>
          <p:cNvPicPr>
            <a:picLocks noChangeAspect="1"/>
          </p:cNvPicPr>
          <p:nvPr/>
        </p:nvPicPr>
        <p:blipFill>
          <a:blip r:embed="rId3"/>
          <a:stretch>
            <a:fillRect/>
          </a:stretch>
        </p:blipFill>
        <p:spPr>
          <a:xfrm>
            <a:off x="621096" y="2477489"/>
            <a:ext cx="5867908" cy="3261643"/>
          </a:xfrm>
          <a:prstGeom prst="rect">
            <a:avLst/>
          </a:prstGeom>
        </p:spPr>
      </p:pic>
      <p:pic>
        <p:nvPicPr>
          <p:cNvPr id="5" name="Picture 4">
            <a:extLst>
              <a:ext uri="{FF2B5EF4-FFF2-40B4-BE49-F238E27FC236}">
                <a16:creationId xmlns:a16="http://schemas.microsoft.com/office/drawing/2014/main" id="{B2C0DA40-AD3C-4B81-8684-301883B19D80}"/>
              </a:ext>
            </a:extLst>
          </p:cNvPr>
          <p:cNvPicPr>
            <a:picLocks noChangeAspect="1"/>
          </p:cNvPicPr>
          <p:nvPr/>
        </p:nvPicPr>
        <p:blipFill>
          <a:blip r:embed="rId4"/>
          <a:stretch>
            <a:fillRect/>
          </a:stretch>
        </p:blipFill>
        <p:spPr>
          <a:xfrm>
            <a:off x="5779202" y="1473097"/>
            <a:ext cx="5791702" cy="5029636"/>
          </a:xfrm>
          <a:prstGeom prst="rect">
            <a:avLst/>
          </a:prstGeom>
        </p:spPr>
      </p:pic>
    </p:spTree>
    <p:extLst>
      <p:ext uri="{BB962C8B-B14F-4D97-AF65-F5344CB8AC3E}">
        <p14:creationId xmlns:p14="http://schemas.microsoft.com/office/powerpoint/2010/main" val="175069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DDE722-32EA-B69A-77B7-4A119750AC7B}"/>
              </a:ext>
            </a:extLst>
          </p:cNvPr>
          <p:cNvSpPr>
            <a:spLocks noGrp="1"/>
          </p:cNvSpPr>
          <p:nvPr>
            <p:ph idx="1"/>
          </p:nvPr>
        </p:nvSpPr>
        <p:spPr>
          <a:xfrm>
            <a:off x="911352" y="1035170"/>
            <a:ext cx="10515600" cy="5526151"/>
          </a:xfrm>
        </p:spPr>
        <p:txBody>
          <a:bodyPr/>
          <a:lstStyle/>
          <a:p>
            <a:pPr marL="0" indent="0">
              <a:buNone/>
            </a:pPr>
            <a:r>
              <a:rPr lang="en-US" b="1" u="sng" dirty="0">
                <a:latin typeface="Times New Roman" panose="02020603050405020304" pitchFamily="18" charset="0"/>
                <a:cs typeface="Times New Roman" panose="02020603050405020304" pitchFamily="18" charset="0"/>
              </a:rPr>
              <a:t>Estimation of Amount of Control Actions Required and Monitoring of Stability Status</a:t>
            </a:r>
          </a:p>
          <a:p>
            <a:pPr marL="0" indent="0">
              <a:buNone/>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Step 1 : Prediction of generator speed and angles[LSTM]</a:t>
            </a:r>
          </a:p>
          <a:p>
            <a:pPr marL="0" indent="0">
              <a:buNone/>
            </a:pPr>
            <a:r>
              <a:rPr lang="en-US" sz="2400" dirty="0">
                <a:latin typeface="Times New Roman" panose="02020603050405020304" pitchFamily="18" charset="0"/>
                <a:cs typeface="Times New Roman" panose="02020603050405020304" pitchFamily="18" charset="0"/>
              </a:rPr>
              <a:t>	Step 2 : Modification in Energy Function for Generation Shedding</a:t>
            </a:r>
          </a:p>
          <a:p>
            <a:pPr marL="0" indent="0">
              <a:buNone/>
            </a:pPr>
            <a:r>
              <a:rPr lang="en-US" sz="2400" dirty="0">
                <a:latin typeface="Times New Roman" panose="02020603050405020304" pitchFamily="18" charset="0"/>
                <a:cs typeface="Times New Roman" panose="02020603050405020304" pitchFamily="18" charset="0"/>
              </a:rPr>
              <a:t>	Step 3 : Estimation of the amount of Control action required</a:t>
            </a:r>
          </a:p>
        </p:txBody>
      </p:sp>
      <p:pic>
        <p:nvPicPr>
          <p:cNvPr id="4" name="Picture 3">
            <a:extLst>
              <a:ext uri="{FF2B5EF4-FFF2-40B4-BE49-F238E27FC236}">
                <a16:creationId xmlns:a16="http://schemas.microsoft.com/office/drawing/2014/main" id="{E8391136-9914-4F85-8C5E-3ADA644FFD0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07758" y="3510280"/>
            <a:ext cx="5893723" cy="3347720"/>
          </a:xfrm>
          <a:prstGeom prst="rect">
            <a:avLst/>
          </a:prstGeom>
          <a:noFill/>
          <a:ln>
            <a:noFill/>
          </a:ln>
        </p:spPr>
      </p:pic>
      <p:sp>
        <p:nvSpPr>
          <p:cNvPr id="2" name="Google Shape;106;p21">
            <a:extLst>
              <a:ext uri="{FF2B5EF4-FFF2-40B4-BE49-F238E27FC236}">
                <a16:creationId xmlns:a16="http://schemas.microsoft.com/office/drawing/2014/main" id="{A91AADED-1F96-E9CA-30E6-A6B47EE19A63}"/>
              </a:ext>
            </a:extLst>
          </p:cNvPr>
          <p:cNvSpPr txBox="1">
            <a:spLocks noGrp="1"/>
          </p:cNvSpPr>
          <p:nvPr>
            <p:ph type="title"/>
          </p:nvPr>
        </p:nvSpPr>
        <p:spPr>
          <a:xfrm>
            <a:off x="0" y="0"/>
            <a:ext cx="11671540" cy="1035170"/>
          </a:xfrm>
          <a:prstGeom prst="rect">
            <a:avLst/>
          </a:prstGeom>
        </p:spPr>
        <p:style>
          <a:lnRef idx="1">
            <a:schemeClr val="accent3"/>
          </a:lnRef>
          <a:fillRef idx="2">
            <a:schemeClr val="accent3"/>
          </a:fillRef>
          <a:effectRef idx="1">
            <a:schemeClr val="accent3"/>
          </a:effectRef>
          <a:fontRef idx="minor">
            <a:schemeClr val="dk1"/>
          </a:fontRef>
        </p:style>
        <p:txBody>
          <a:bodyPr spcFirstLastPara="1" vert="horz" wrap="square" lIns="121900" tIns="121900" rIns="121900" bIns="121900" rtlCol="0" anchor="ctr" anchorCtr="0">
            <a:normAutofit/>
          </a:bodyPr>
          <a:lstStyle/>
          <a:p>
            <a:r>
              <a:rPr lang="en" sz="2800" b="1" dirty="0">
                <a:solidFill>
                  <a:srgbClr val="C00000"/>
                </a:solidFill>
                <a:latin typeface="Times New Roman" panose="02020603050405020304" pitchFamily="18" charset="0"/>
                <a:cs typeface="Times New Roman" panose="02020603050405020304" pitchFamily="18" charset="0"/>
              </a:rPr>
              <a:t>	METHODOLOGY</a:t>
            </a:r>
            <a:endParaRPr sz="28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3982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923C52-BFCA-4A02-A0E8-9363C060A135}"/>
              </a:ext>
            </a:extLst>
          </p:cNvPr>
          <p:cNvPicPr>
            <a:picLocks noChangeAspect="1"/>
          </p:cNvPicPr>
          <p:nvPr/>
        </p:nvPicPr>
        <p:blipFill>
          <a:blip r:embed="rId2"/>
          <a:stretch>
            <a:fillRect/>
          </a:stretch>
        </p:blipFill>
        <p:spPr>
          <a:xfrm>
            <a:off x="3027023" y="258087"/>
            <a:ext cx="5781697" cy="6459950"/>
          </a:xfrm>
          <a:prstGeom prst="rect">
            <a:avLst/>
          </a:prstGeom>
        </p:spPr>
      </p:pic>
    </p:spTree>
    <p:extLst>
      <p:ext uri="{BB962C8B-B14F-4D97-AF65-F5344CB8AC3E}">
        <p14:creationId xmlns:p14="http://schemas.microsoft.com/office/powerpoint/2010/main" val="4150255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B6F5-1D51-4AB2-B4BC-757F9C9611D3}"/>
              </a:ext>
            </a:extLst>
          </p:cNvPr>
          <p:cNvSpPr>
            <a:spLocks noGrp="1"/>
          </p:cNvSpPr>
          <p:nvPr>
            <p:ph type="title"/>
          </p:nvPr>
        </p:nvSpPr>
        <p:spPr>
          <a:xfrm>
            <a:off x="0" y="0"/>
            <a:ext cx="11776400" cy="1046416"/>
          </a:xfrm>
        </p:spPr>
        <p:style>
          <a:lnRef idx="1">
            <a:schemeClr val="accent2"/>
          </a:lnRef>
          <a:fillRef idx="2">
            <a:schemeClr val="accent2"/>
          </a:fillRef>
          <a:effectRef idx="1">
            <a:schemeClr val="accent2"/>
          </a:effectRef>
          <a:fontRef idx="minor">
            <a:schemeClr val="dk1"/>
          </a:fontRef>
        </p:style>
        <p:txBody>
          <a:bodyPr anchor="ctr">
            <a:normAutofit/>
          </a:bodyPr>
          <a:lstStyle/>
          <a:p>
            <a:r>
              <a:rPr lang="en-US" sz="3600" b="1" dirty="0">
                <a:solidFill>
                  <a:srgbClr val="C00000"/>
                </a:solidFill>
                <a:latin typeface="Times New Roman" panose="02020603050405020304" pitchFamily="18" charset="0"/>
                <a:cs typeface="Times New Roman" panose="02020603050405020304" pitchFamily="18" charset="0"/>
              </a:rPr>
              <a:t>System Under Consideration</a:t>
            </a:r>
          </a:p>
        </p:txBody>
      </p:sp>
      <p:pic>
        <p:nvPicPr>
          <p:cNvPr id="4" name="image5.png">
            <a:extLst>
              <a:ext uri="{FF2B5EF4-FFF2-40B4-BE49-F238E27FC236}">
                <a16:creationId xmlns:a16="http://schemas.microsoft.com/office/drawing/2014/main" id="{C123117F-A146-4F1B-8213-76C4C221DA25}"/>
              </a:ext>
            </a:extLst>
          </p:cNvPr>
          <p:cNvPicPr/>
          <p:nvPr/>
        </p:nvPicPr>
        <p:blipFill rotWithShape="1">
          <a:blip r:embed="rId2"/>
          <a:srcRect b="10381"/>
          <a:stretch>
            <a:fillRect/>
          </a:stretch>
        </p:blipFill>
        <p:spPr bwMode="auto">
          <a:xfrm>
            <a:off x="2550694" y="1536633"/>
            <a:ext cx="7571873" cy="446311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30587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10736"/>
          </a:xfrm>
        </p:spPr>
        <p:style>
          <a:lnRef idx="1">
            <a:schemeClr val="accent2"/>
          </a:lnRef>
          <a:fillRef idx="2">
            <a:schemeClr val="accent2"/>
          </a:fillRef>
          <a:effectRef idx="1">
            <a:schemeClr val="accent2"/>
          </a:effectRef>
          <a:fontRef idx="minor">
            <a:schemeClr val="dk1"/>
          </a:fontRef>
        </p:style>
        <p:txBody>
          <a:bodyPr>
            <a:normAutofit/>
          </a:bodyPr>
          <a:lstStyle/>
          <a:p>
            <a:r>
              <a:rPr lang="en-US" sz="2800" b="1" dirty="0">
                <a:solidFill>
                  <a:srgbClr val="002060"/>
                </a:solidFill>
                <a:latin typeface="Times New Roman" panose="02020603050405020304" pitchFamily="18" charset="0"/>
                <a:cs typeface="Times New Roman" panose="02020603050405020304" pitchFamily="18" charset="0"/>
              </a:rPr>
              <a:t>	Result And Analysis</a:t>
            </a:r>
          </a:p>
        </p:txBody>
      </p:sp>
      <p:graphicFrame>
        <p:nvGraphicFramePr>
          <p:cNvPr id="4" name="Table 3"/>
          <p:cNvGraphicFramePr>
            <a:graphicFrameLocks noGrp="1"/>
          </p:cNvGraphicFramePr>
          <p:nvPr>
            <p:extLst>
              <p:ext uri="{D42A27DB-BD31-4B8C-83A1-F6EECF244321}">
                <p14:modId xmlns:p14="http://schemas.microsoft.com/office/powerpoint/2010/main" val="666663709"/>
              </p:ext>
            </p:extLst>
          </p:nvPr>
        </p:nvGraphicFramePr>
        <p:xfrm>
          <a:off x="969956" y="3324516"/>
          <a:ext cx="5310073" cy="1846219"/>
        </p:xfrm>
        <a:graphic>
          <a:graphicData uri="http://schemas.openxmlformats.org/drawingml/2006/table">
            <a:tbl>
              <a:tblPr>
                <a:tableStyleId>{9D7B26C5-4107-4FEC-AEDC-1716B250A1EF}</a:tableStyleId>
              </a:tblPr>
              <a:tblGrid>
                <a:gridCol w="1847333">
                  <a:extLst>
                    <a:ext uri="{9D8B030D-6E8A-4147-A177-3AD203B41FA5}">
                      <a16:colId xmlns:a16="http://schemas.microsoft.com/office/drawing/2014/main" val="20000"/>
                    </a:ext>
                  </a:extLst>
                </a:gridCol>
                <a:gridCol w="1085400">
                  <a:extLst>
                    <a:ext uri="{9D8B030D-6E8A-4147-A177-3AD203B41FA5}">
                      <a16:colId xmlns:a16="http://schemas.microsoft.com/office/drawing/2014/main" val="20001"/>
                    </a:ext>
                  </a:extLst>
                </a:gridCol>
                <a:gridCol w="1222214">
                  <a:extLst>
                    <a:ext uri="{9D8B030D-6E8A-4147-A177-3AD203B41FA5}">
                      <a16:colId xmlns:a16="http://schemas.microsoft.com/office/drawing/2014/main" val="20002"/>
                    </a:ext>
                  </a:extLst>
                </a:gridCol>
                <a:gridCol w="1155126">
                  <a:extLst>
                    <a:ext uri="{9D8B030D-6E8A-4147-A177-3AD203B41FA5}">
                      <a16:colId xmlns:a16="http://schemas.microsoft.com/office/drawing/2014/main" val="20003"/>
                    </a:ext>
                  </a:extLst>
                </a:gridCol>
              </a:tblGrid>
              <a:tr h="368548">
                <a:tc gridSpan="4">
                  <a:txBody>
                    <a:bodyPr/>
                    <a:lstStyle/>
                    <a:p>
                      <a:pPr marL="0" marR="0" algn="l">
                        <a:lnSpc>
                          <a:spcPct val="115000"/>
                        </a:lnSpc>
                        <a:spcBef>
                          <a:spcPts val="0"/>
                        </a:spcBef>
                        <a:spcAft>
                          <a:spcPts val="0"/>
                        </a:spcAft>
                      </a:pPr>
                      <a:r>
                        <a:rPr lang="en-US" sz="1800" dirty="0">
                          <a:effectLst/>
                        </a:rPr>
                        <a:t>Fault At bus 7 at t=0 and cleared at 0.15</a:t>
                      </a:r>
                      <a:endParaRPr lang="en-US" sz="18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0141">
                <a:tc>
                  <a:txBody>
                    <a:bodyPr/>
                    <a:lstStyle/>
                    <a:p>
                      <a:pPr marL="0" marR="0" algn="l">
                        <a:lnSpc>
                          <a:spcPct val="115000"/>
                        </a:lnSpc>
                        <a:spcBef>
                          <a:spcPts val="0"/>
                        </a:spcBef>
                        <a:spcAft>
                          <a:spcPts val="0"/>
                        </a:spcAft>
                      </a:pPr>
                      <a:r>
                        <a:rPr lang="en-US" sz="1600" dirty="0">
                          <a:effectLst/>
                        </a:rPr>
                        <a:t>Result</a:t>
                      </a:r>
                      <a:endParaRPr lang="en-US" sz="16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600" dirty="0">
                          <a:effectLst/>
                        </a:rPr>
                        <a:t>TDS</a:t>
                      </a:r>
                      <a:endParaRPr lang="en-US" sz="16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600">
                          <a:effectLst/>
                        </a:rPr>
                        <a:t>BCU</a:t>
                      </a:r>
                      <a:endParaRPr lang="en-US" sz="16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600" dirty="0">
                          <a:effectLst/>
                        </a:rPr>
                        <a:t>PEBS</a:t>
                      </a:r>
                      <a:endParaRPr lang="en-US" sz="16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6510">
                <a:tc>
                  <a:txBody>
                    <a:bodyPr/>
                    <a:lstStyle/>
                    <a:p>
                      <a:pPr marL="0" marR="0" algn="l">
                        <a:lnSpc>
                          <a:spcPct val="115000"/>
                        </a:lnSpc>
                        <a:spcBef>
                          <a:spcPts val="0"/>
                        </a:spcBef>
                        <a:spcAft>
                          <a:spcPts val="0"/>
                        </a:spcAft>
                      </a:pPr>
                      <a:r>
                        <a:rPr lang="en-US" sz="1200" dirty="0">
                          <a:effectLst/>
                        </a:rPr>
                        <a:t>V</a:t>
                      </a:r>
                      <a:endParaRPr lang="en-US" sz="12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dirty="0" err="1">
                          <a:effectLst/>
                        </a:rPr>
                        <a:t>Vcl</a:t>
                      </a:r>
                      <a:r>
                        <a:rPr lang="en-US" sz="1200" dirty="0">
                          <a:effectLst/>
                        </a:rPr>
                        <a:t> =0.843</a:t>
                      </a:r>
                      <a:endParaRPr lang="en-US" sz="12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Vcr_BCU=0.973</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Vcr_PEBS=1.25</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6510">
                <a:tc>
                  <a:txBody>
                    <a:bodyPr/>
                    <a:lstStyle/>
                    <a:p>
                      <a:pPr marL="0" marR="0" algn="l">
                        <a:lnSpc>
                          <a:spcPct val="115000"/>
                        </a:lnSpc>
                        <a:spcBef>
                          <a:spcPts val="0"/>
                        </a:spcBef>
                        <a:spcAft>
                          <a:spcPts val="0"/>
                        </a:spcAft>
                      </a:pPr>
                      <a:r>
                        <a:rPr lang="en-US" sz="1200">
                          <a:effectLst/>
                        </a:rPr>
                        <a:t>Critical clearing time (Tcl)</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Tcl=0.15</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Tcr_BCU=0.162</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Tcr_PEBS=0.184</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4510">
                <a:tc>
                  <a:txBody>
                    <a:bodyPr/>
                    <a:lstStyle/>
                    <a:p>
                      <a:pPr marL="0" marR="0" algn="l">
                        <a:lnSpc>
                          <a:spcPct val="115000"/>
                        </a:lnSpc>
                        <a:spcBef>
                          <a:spcPts val="0"/>
                        </a:spcBef>
                        <a:spcAft>
                          <a:spcPts val="0"/>
                        </a:spcAft>
                      </a:pPr>
                      <a:r>
                        <a:rPr lang="en-US" sz="1200">
                          <a:effectLst/>
                        </a:rPr>
                        <a:t>Computation Time</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effectLst/>
                        </a:rPr>
                        <a:t>0.14</a:t>
                      </a:r>
                      <a:endParaRPr lang="en-US" sz="12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0.15</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dirty="0">
                          <a:effectLst/>
                        </a:rPr>
                        <a:t>0.12</a:t>
                      </a:r>
                      <a:endParaRPr lang="en-US" sz="12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Rectangle 4"/>
          <p:cNvSpPr/>
          <p:nvPr/>
        </p:nvSpPr>
        <p:spPr>
          <a:xfrm>
            <a:off x="846826" y="912370"/>
            <a:ext cx="10204269" cy="1453347"/>
          </a:xfrm>
          <a:prstGeom prst="rect">
            <a:avLst/>
          </a:prstGeom>
        </p:spPr>
        <p:txBody>
          <a:bodyPr wrap="square">
            <a:spAutoFit/>
          </a:bodyPr>
          <a:lstStyle/>
          <a:p>
            <a:pPr algn="just">
              <a:lnSpc>
                <a:spcPct val="115000"/>
              </a:lnSpc>
              <a:spcBef>
                <a:spcPts val="1200"/>
              </a:spcBef>
              <a:spcAft>
                <a:spcPts val="600"/>
              </a:spcAft>
            </a:pPr>
            <a:r>
              <a:rPr lang="en-US" sz="2000" b="1" dirty="0">
                <a:solidFill>
                  <a:srgbClr val="7030A0"/>
                </a:solidFill>
                <a:effectLst/>
                <a:latin typeface="Times New Roman" panose="02020603050405020304" pitchFamily="18" charset="0"/>
                <a:cs typeface="Times New Roman" panose="02020603050405020304" pitchFamily="18" charset="0"/>
              </a:rPr>
              <a:t>Transient Energy Function and BCU Results From MATLAB</a:t>
            </a:r>
            <a:endParaRPr lang="en-US" sz="2400" b="1" dirty="0">
              <a:solidFill>
                <a:srgbClr val="7030A0"/>
              </a:solidFill>
              <a:effectLst/>
              <a:latin typeface="Times New Roman" panose="02020603050405020304" pitchFamily="18" charset="0"/>
              <a:cs typeface="Times New Roman" panose="02020603050405020304" pitchFamily="18" charset="0"/>
            </a:endParaRPr>
          </a:p>
          <a:p>
            <a:pPr algn="just">
              <a:lnSpc>
                <a:spcPct val="115000"/>
              </a:lnSpc>
            </a:pPr>
            <a:r>
              <a:rPr lang="en-US" dirty="0">
                <a:effectLst/>
                <a:latin typeface="Times New Roman" panose="02020603050405020304" pitchFamily="18" charset="0"/>
                <a:ea typeface="Arial" panose="020B0604020202020204" pitchFamily="34" charset="0"/>
                <a:cs typeface="Times New Roman" panose="02020603050405020304" pitchFamily="18" charset="0"/>
              </a:rPr>
              <a:t>Transient energy function framework is developed for IEEE-9 bus system using classical model consideration. Fault at </a:t>
            </a:r>
            <a:r>
              <a:rPr lang="en-US" dirty="0">
                <a:latin typeface="Times New Roman" panose="02020603050405020304" pitchFamily="18" charset="0"/>
                <a:ea typeface="Arial" panose="020B0604020202020204" pitchFamily="34" charset="0"/>
                <a:cs typeface="Times New Roman" panose="02020603050405020304" pitchFamily="18" charset="0"/>
              </a:rPr>
              <a:t>bus </a:t>
            </a:r>
            <a:r>
              <a:rPr lang="en-US" dirty="0">
                <a:effectLst/>
                <a:latin typeface="Times New Roman" panose="02020603050405020304" pitchFamily="18" charset="0"/>
                <a:ea typeface="Arial" panose="020B0604020202020204" pitchFamily="34" charset="0"/>
                <a:cs typeface="Times New Roman" panose="02020603050405020304" pitchFamily="18" charset="0"/>
              </a:rPr>
              <a:t> 7 is created and results obtained is compared with the </a:t>
            </a:r>
            <a:r>
              <a:rPr lang="en-US" dirty="0">
                <a:latin typeface="Times New Roman" panose="02020603050405020304" pitchFamily="18" charset="0"/>
                <a:ea typeface="Arial" panose="020B0604020202020204" pitchFamily="34" charset="0"/>
                <a:cs typeface="Times New Roman" panose="02020603050405020304" pitchFamily="18" charset="0"/>
              </a:rPr>
              <a:t>S</a:t>
            </a:r>
            <a:r>
              <a:rPr lang="en-US" dirty="0">
                <a:effectLst/>
                <a:latin typeface="Times New Roman" panose="02020603050405020304" pitchFamily="18" charset="0"/>
                <a:ea typeface="Arial" panose="020B0604020202020204" pitchFamily="34" charset="0"/>
                <a:cs typeface="Times New Roman" panose="02020603050405020304" pitchFamily="18" charset="0"/>
              </a:rPr>
              <a:t>aur and Pai result shown in the table below:</a:t>
            </a:r>
            <a:endParaRPr lang="en-US" sz="1600" dirty="0">
              <a:effectLst/>
              <a:latin typeface="Times New Roman" panose="02020603050405020304" pitchFamily="18" charset="0"/>
              <a:ea typeface="Arial" panose="020B0604020202020204" pitchFamily="34" charset="0"/>
              <a:cs typeface="Times New Roman" panose="02020603050405020304" pitchFamily="18" charset="0"/>
            </a:endParaRPr>
          </a:p>
        </p:txBody>
      </p:sp>
      <p:sp>
        <p:nvSpPr>
          <p:cNvPr id="6" name="Rectangle 5"/>
          <p:cNvSpPr/>
          <p:nvPr/>
        </p:nvSpPr>
        <p:spPr>
          <a:xfrm>
            <a:off x="969956" y="2748389"/>
            <a:ext cx="986167" cy="385042"/>
          </a:xfrm>
          <a:prstGeom prst="rect">
            <a:avLst/>
          </a:prstGeom>
        </p:spPr>
        <p:txBody>
          <a:bodyPr wrap="none">
            <a:spAutoFit/>
          </a:bodyPr>
          <a:lstStyle/>
          <a:p>
            <a:pPr algn="just">
              <a:lnSpc>
                <a:spcPct val="115000"/>
              </a:lnSpc>
            </a:pPr>
            <a:r>
              <a:rPr lang="en-US" b="1" u="sng" dirty="0">
                <a:solidFill>
                  <a:srgbClr val="00CC00"/>
                </a:solidFill>
                <a:effectLst/>
                <a:latin typeface="Times New Roman" panose="02020603050405020304" pitchFamily="18" charset="0"/>
                <a:ea typeface="Arial" panose="020B0604020202020204" pitchFamily="34" charset="0"/>
              </a:rPr>
              <a:t>Result 1</a:t>
            </a:r>
            <a:endParaRPr lang="en-US" sz="1600" u="sng" dirty="0">
              <a:solidFill>
                <a:srgbClr val="00CC00"/>
              </a:solidFill>
              <a:effectLst/>
              <a:latin typeface="Arial" panose="020B0604020202020204" pitchFamily="34" charset="0"/>
              <a:ea typeface="Arial" panose="020B0604020202020204" pitchFamily="34" charset="0"/>
            </a:endParaRPr>
          </a:p>
        </p:txBody>
      </p:sp>
      <p:sp>
        <p:nvSpPr>
          <p:cNvPr id="8" name="Rectangle 7"/>
          <p:cNvSpPr/>
          <p:nvPr/>
        </p:nvSpPr>
        <p:spPr>
          <a:xfrm>
            <a:off x="969956" y="5398324"/>
            <a:ext cx="3852210" cy="1376082"/>
          </a:xfrm>
          <a:prstGeom prst="rect">
            <a:avLst/>
          </a:prstGeom>
        </p:spPr>
        <p:txBody>
          <a:bodyPr wrap="square">
            <a:spAutoFit/>
          </a:bodyPr>
          <a:lstStyle/>
          <a:p>
            <a:pPr>
              <a:lnSpc>
                <a:spcPct val="115000"/>
              </a:lnSpc>
            </a:pPr>
            <a:r>
              <a:rPr lang="en-US" sz="1400" dirty="0" err="1">
                <a:effectLst/>
                <a:latin typeface="Times New Roman" panose="02020603050405020304" pitchFamily="18" charset="0"/>
                <a:ea typeface="Arial" panose="020B0604020202020204" pitchFamily="34" charset="0"/>
              </a:rPr>
              <a:t>Vcr_PEBS</a:t>
            </a:r>
            <a:r>
              <a:rPr lang="en-US" sz="1400" dirty="0">
                <a:effectLst/>
                <a:latin typeface="Times New Roman" panose="02020603050405020304" pitchFamily="18" charset="0"/>
                <a:ea typeface="Arial" panose="020B0604020202020204" pitchFamily="34" charset="0"/>
              </a:rPr>
              <a:t> &gt; </a:t>
            </a:r>
            <a:r>
              <a:rPr lang="en-US" sz="1400" dirty="0" err="1">
                <a:effectLst/>
                <a:latin typeface="Times New Roman" panose="02020603050405020304" pitchFamily="18" charset="0"/>
                <a:ea typeface="Arial" panose="020B0604020202020204" pitchFamily="34" charset="0"/>
              </a:rPr>
              <a:t>Vcl</a:t>
            </a:r>
            <a:r>
              <a:rPr lang="en-US" sz="1400" dirty="0">
                <a:effectLst/>
                <a:latin typeface="Times New Roman" panose="02020603050405020304" pitchFamily="18" charset="0"/>
                <a:ea typeface="Arial" panose="020B0604020202020204" pitchFamily="34" charset="0"/>
              </a:rPr>
              <a:t>  </a:t>
            </a:r>
            <a:endParaRPr lang="en-US" sz="1400" dirty="0">
              <a:latin typeface="Arial" panose="020B0604020202020204" pitchFamily="34" charset="0"/>
              <a:ea typeface="Arial" panose="020B0604020202020204" pitchFamily="34" charset="0"/>
            </a:endParaRPr>
          </a:p>
          <a:p>
            <a:pPr>
              <a:lnSpc>
                <a:spcPct val="115000"/>
              </a:lnSpc>
            </a:pPr>
            <a:r>
              <a:rPr lang="en-US" sz="1400" dirty="0" err="1">
                <a:effectLst/>
                <a:latin typeface="Times New Roman" panose="02020603050405020304" pitchFamily="18" charset="0"/>
                <a:ea typeface="Arial" panose="020B0604020202020204" pitchFamily="34" charset="0"/>
              </a:rPr>
              <a:t>Tcr_PEBS</a:t>
            </a:r>
            <a:r>
              <a:rPr lang="en-US" sz="1400" dirty="0">
                <a:effectLst/>
                <a:latin typeface="Times New Roman" panose="02020603050405020304" pitchFamily="18" charset="0"/>
                <a:ea typeface="Arial" panose="020B0604020202020204" pitchFamily="34" charset="0"/>
              </a:rPr>
              <a:t> &gt;</a:t>
            </a:r>
            <a:r>
              <a:rPr lang="en-US" sz="1400" dirty="0" err="1">
                <a:effectLst/>
                <a:latin typeface="Times New Roman" panose="02020603050405020304" pitchFamily="18" charset="0"/>
                <a:ea typeface="Arial" panose="020B0604020202020204" pitchFamily="34" charset="0"/>
              </a:rPr>
              <a:t>Tcl</a:t>
            </a:r>
            <a:r>
              <a:rPr lang="en-US" sz="1400" dirty="0">
                <a:effectLst/>
                <a:latin typeface="Times New Roman" panose="02020603050405020304" pitchFamily="18" charset="0"/>
                <a:ea typeface="Arial" panose="020B0604020202020204" pitchFamily="34" charset="0"/>
              </a:rPr>
              <a:t>        System is PEBS Stable</a:t>
            </a:r>
            <a:endParaRPr lang="en-US" sz="1400" dirty="0">
              <a:effectLst/>
              <a:latin typeface="Arial" panose="020B0604020202020204" pitchFamily="34" charset="0"/>
              <a:ea typeface="Arial" panose="020B0604020202020204" pitchFamily="34" charset="0"/>
            </a:endParaRPr>
          </a:p>
          <a:p>
            <a:pPr>
              <a:lnSpc>
                <a:spcPct val="115000"/>
              </a:lnSpc>
            </a:pPr>
            <a:r>
              <a:rPr lang="en-US" sz="1400" dirty="0" err="1">
                <a:effectLst/>
                <a:latin typeface="Times New Roman" panose="02020603050405020304" pitchFamily="18" charset="0"/>
                <a:ea typeface="Arial" panose="020B0604020202020204" pitchFamily="34" charset="0"/>
              </a:rPr>
              <a:t>Vcr_BCU</a:t>
            </a:r>
            <a:r>
              <a:rPr lang="en-US" sz="1400" dirty="0">
                <a:effectLst/>
                <a:latin typeface="Times New Roman" panose="02020603050405020304" pitchFamily="18" charset="0"/>
                <a:ea typeface="Arial" panose="020B0604020202020204" pitchFamily="34" charset="0"/>
              </a:rPr>
              <a:t>&gt; </a:t>
            </a:r>
            <a:r>
              <a:rPr lang="en-US" sz="1400" dirty="0" err="1">
                <a:effectLst/>
                <a:latin typeface="Times New Roman" panose="02020603050405020304" pitchFamily="18" charset="0"/>
                <a:ea typeface="Arial" panose="020B0604020202020204" pitchFamily="34" charset="0"/>
              </a:rPr>
              <a:t>Vcl</a:t>
            </a:r>
            <a:r>
              <a:rPr lang="en-US" sz="1400" dirty="0">
                <a:effectLst/>
                <a:latin typeface="Times New Roman" panose="02020603050405020304" pitchFamily="18" charset="0"/>
                <a:ea typeface="Arial" panose="020B0604020202020204" pitchFamily="34" charset="0"/>
              </a:rPr>
              <a:t>  </a:t>
            </a:r>
            <a:endParaRPr lang="en-US" sz="1400" dirty="0">
              <a:effectLst/>
              <a:latin typeface="Arial" panose="020B0604020202020204" pitchFamily="34" charset="0"/>
              <a:ea typeface="Arial" panose="020B0604020202020204" pitchFamily="34" charset="0"/>
            </a:endParaRPr>
          </a:p>
          <a:p>
            <a:pPr>
              <a:lnSpc>
                <a:spcPct val="115000"/>
              </a:lnSpc>
            </a:pPr>
            <a:r>
              <a:rPr lang="en-US" sz="1400" dirty="0" err="1">
                <a:effectLst/>
                <a:latin typeface="Times New Roman" panose="02020603050405020304" pitchFamily="18" charset="0"/>
                <a:ea typeface="Arial" panose="020B0604020202020204" pitchFamily="34" charset="0"/>
              </a:rPr>
              <a:t>Tcr_BCU</a:t>
            </a:r>
            <a:r>
              <a:rPr lang="en-US" sz="1400" dirty="0">
                <a:effectLst/>
                <a:latin typeface="Times New Roman" panose="02020603050405020304" pitchFamily="18" charset="0"/>
                <a:ea typeface="Arial" panose="020B0604020202020204" pitchFamily="34" charset="0"/>
              </a:rPr>
              <a:t>&gt;</a:t>
            </a:r>
            <a:r>
              <a:rPr lang="en-US" sz="1400" dirty="0" err="1">
                <a:effectLst/>
                <a:latin typeface="Times New Roman" panose="02020603050405020304" pitchFamily="18" charset="0"/>
                <a:ea typeface="Arial" panose="020B0604020202020204" pitchFamily="34" charset="0"/>
              </a:rPr>
              <a:t>Tcl</a:t>
            </a:r>
            <a:r>
              <a:rPr lang="en-US" sz="1400" dirty="0">
                <a:effectLst/>
                <a:latin typeface="Times New Roman" panose="02020603050405020304" pitchFamily="18" charset="0"/>
                <a:ea typeface="Arial" panose="020B0604020202020204" pitchFamily="34" charset="0"/>
              </a:rPr>
              <a:t>          System is BCU Stable</a:t>
            </a:r>
            <a:endParaRPr lang="en-US" sz="1400" dirty="0">
              <a:effectLst/>
              <a:latin typeface="Arial" panose="020B0604020202020204" pitchFamily="34" charset="0"/>
              <a:ea typeface="Arial" panose="020B0604020202020204" pitchFamily="34" charset="0"/>
            </a:endParaRPr>
          </a:p>
          <a:p>
            <a:pPr>
              <a:lnSpc>
                <a:spcPct val="115000"/>
              </a:lnSpc>
            </a:pPr>
            <a:r>
              <a:rPr lang="en-US" dirty="0">
                <a:effectLst/>
                <a:latin typeface="Times New Roman" panose="02020603050405020304" pitchFamily="18" charset="0"/>
                <a:ea typeface="Arial" panose="020B0604020202020204" pitchFamily="34" charset="0"/>
              </a:rPr>
              <a:t> </a:t>
            </a:r>
            <a:endParaRPr lang="en-US" dirty="0">
              <a:effectLst/>
              <a:latin typeface="Arial" panose="020B0604020202020204" pitchFamily="34" charset="0"/>
              <a:ea typeface="Arial" panose="020B0604020202020204" pitchFamily="34" charset="0"/>
            </a:endParaRPr>
          </a:p>
        </p:txBody>
      </p:sp>
      <p:pic>
        <p:nvPicPr>
          <p:cNvPr id="9" name="image12.jpg"/>
          <p:cNvPicPr/>
          <p:nvPr/>
        </p:nvPicPr>
        <p:blipFill>
          <a:blip r:embed="rId2"/>
          <a:srcRect/>
          <a:stretch>
            <a:fillRect/>
          </a:stretch>
        </p:blipFill>
        <p:spPr>
          <a:xfrm>
            <a:off x="6694700" y="2580514"/>
            <a:ext cx="5031393" cy="3539480"/>
          </a:xfrm>
          <a:prstGeom prst="rect">
            <a:avLst/>
          </a:prstGeom>
          <a:ln/>
        </p:spPr>
      </p:pic>
      <p:sp>
        <p:nvSpPr>
          <p:cNvPr id="10" name="Rectangle 9"/>
          <p:cNvSpPr/>
          <p:nvPr/>
        </p:nvSpPr>
        <p:spPr>
          <a:xfrm>
            <a:off x="6527376" y="6192906"/>
            <a:ext cx="5808000" cy="369332"/>
          </a:xfrm>
          <a:prstGeom prst="rect">
            <a:avLst/>
          </a:prstGeom>
        </p:spPr>
        <p:txBody>
          <a:bodyPr wrap="none">
            <a:spAutoFit/>
          </a:bodyPr>
          <a:lstStyle/>
          <a:p>
            <a:r>
              <a:rPr lang="en-US" dirty="0">
                <a:effectLst/>
                <a:latin typeface="Times New Roman" panose="02020603050405020304" pitchFamily="18" charset="0"/>
                <a:ea typeface="Arial" panose="020B0604020202020204" pitchFamily="34" charset="0"/>
              </a:rPr>
              <a:t> Fig 8: w vs del for faulted and Post fault Dynamics (Stable) </a:t>
            </a:r>
            <a:endParaRPr lang="en-US" dirty="0"/>
          </a:p>
        </p:txBody>
      </p:sp>
    </p:spTree>
    <p:extLst>
      <p:ext uri="{BB962C8B-B14F-4D97-AF65-F5344CB8AC3E}">
        <p14:creationId xmlns:p14="http://schemas.microsoft.com/office/powerpoint/2010/main" val="638035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934135309"/>
              </p:ext>
            </p:extLst>
          </p:nvPr>
        </p:nvGraphicFramePr>
        <p:xfrm>
          <a:off x="801847" y="1263219"/>
          <a:ext cx="6191792" cy="1434657"/>
        </p:xfrm>
        <a:graphic>
          <a:graphicData uri="http://schemas.openxmlformats.org/drawingml/2006/table">
            <a:tbl>
              <a:tblPr>
                <a:tableStyleId>{9D7B26C5-4107-4FEC-AEDC-1716B250A1EF}</a:tableStyleId>
              </a:tblPr>
              <a:tblGrid>
                <a:gridCol w="2303359">
                  <a:extLst>
                    <a:ext uri="{9D8B030D-6E8A-4147-A177-3AD203B41FA5}">
                      <a16:colId xmlns:a16="http://schemas.microsoft.com/office/drawing/2014/main" val="20000"/>
                    </a:ext>
                  </a:extLst>
                </a:gridCol>
                <a:gridCol w="1294278">
                  <a:extLst>
                    <a:ext uri="{9D8B030D-6E8A-4147-A177-3AD203B41FA5}">
                      <a16:colId xmlns:a16="http://schemas.microsoft.com/office/drawing/2014/main" val="20001"/>
                    </a:ext>
                  </a:extLst>
                </a:gridCol>
                <a:gridCol w="1068809">
                  <a:extLst>
                    <a:ext uri="{9D8B030D-6E8A-4147-A177-3AD203B41FA5}">
                      <a16:colId xmlns:a16="http://schemas.microsoft.com/office/drawing/2014/main" val="20002"/>
                    </a:ext>
                  </a:extLst>
                </a:gridCol>
                <a:gridCol w="1525346">
                  <a:extLst>
                    <a:ext uri="{9D8B030D-6E8A-4147-A177-3AD203B41FA5}">
                      <a16:colId xmlns:a16="http://schemas.microsoft.com/office/drawing/2014/main" val="20003"/>
                    </a:ext>
                  </a:extLst>
                </a:gridCol>
              </a:tblGrid>
              <a:tr h="200025">
                <a:tc gridSpan="4">
                  <a:txBody>
                    <a:bodyPr/>
                    <a:lstStyle/>
                    <a:p>
                      <a:pPr marL="0" marR="0">
                        <a:lnSpc>
                          <a:spcPct val="115000"/>
                        </a:lnSpc>
                        <a:spcBef>
                          <a:spcPts val="0"/>
                        </a:spcBef>
                        <a:spcAft>
                          <a:spcPts val="0"/>
                        </a:spcAft>
                      </a:pPr>
                      <a:r>
                        <a:rPr lang="en-US" sz="1800" dirty="0">
                          <a:effectLst/>
                        </a:rPr>
                        <a:t>Fault At bus 7 at t=0 and cleared at 0.2</a:t>
                      </a:r>
                      <a:endParaRPr lang="en-US" sz="18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marR="0">
                        <a:lnSpc>
                          <a:spcPct val="115000"/>
                        </a:lnSpc>
                        <a:spcBef>
                          <a:spcPts val="0"/>
                        </a:spcBef>
                        <a:spcAft>
                          <a:spcPts val="0"/>
                        </a:spcAft>
                      </a:pPr>
                      <a:r>
                        <a:rPr lang="en-US" sz="1800" dirty="0">
                          <a:effectLst/>
                        </a:rPr>
                        <a:t>Result</a:t>
                      </a:r>
                      <a:endParaRPr lang="en-US" sz="18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dirty="0">
                          <a:effectLst/>
                        </a:rPr>
                        <a:t>TDS ()</a:t>
                      </a:r>
                      <a:endParaRPr lang="en-US" sz="18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effectLst/>
                        </a:rPr>
                        <a:t>BCU</a:t>
                      </a:r>
                      <a:endParaRPr lang="en-US" sz="18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dirty="0">
                          <a:effectLst/>
                        </a:rPr>
                        <a:t>PEBS</a:t>
                      </a:r>
                      <a:endParaRPr lang="en-US" sz="18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0025">
                <a:tc>
                  <a:txBody>
                    <a:bodyPr/>
                    <a:lstStyle/>
                    <a:p>
                      <a:pPr marL="0" marR="0">
                        <a:lnSpc>
                          <a:spcPct val="115000"/>
                        </a:lnSpc>
                        <a:spcBef>
                          <a:spcPts val="0"/>
                        </a:spcBef>
                        <a:spcAft>
                          <a:spcPts val="0"/>
                        </a:spcAft>
                      </a:pPr>
                      <a:r>
                        <a:rPr lang="en-US" sz="1200">
                          <a:effectLst/>
                        </a:rPr>
                        <a:t>V critical</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Vcl=1.473</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Vcr_BCU=0.973</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Vcr_PEBS=1.25</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marL="0" marR="0">
                        <a:lnSpc>
                          <a:spcPct val="115000"/>
                        </a:lnSpc>
                        <a:spcBef>
                          <a:spcPts val="0"/>
                        </a:spcBef>
                        <a:spcAft>
                          <a:spcPts val="0"/>
                        </a:spcAft>
                      </a:pPr>
                      <a:r>
                        <a:rPr lang="en-US" sz="1200">
                          <a:effectLst/>
                        </a:rPr>
                        <a:t>Critical clearing time (Tcl)</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Tcl=0.2</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Tcr_BCU=0.162</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Tcr_PEBS=0.184</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marL="0" marR="0">
                        <a:lnSpc>
                          <a:spcPct val="115000"/>
                        </a:lnSpc>
                        <a:spcBef>
                          <a:spcPts val="0"/>
                        </a:spcBef>
                        <a:spcAft>
                          <a:spcPts val="0"/>
                        </a:spcAft>
                      </a:pPr>
                      <a:r>
                        <a:rPr lang="en-US" sz="1200">
                          <a:effectLst/>
                        </a:rPr>
                        <a:t>Computation Time</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0.21</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a:effectLst/>
                        </a:rPr>
                        <a:t>0.06</a:t>
                      </a:r>
                      <a:endParaRPr lang="en-US" sz="120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200" dirty="0">
                          <a:effectLst/>
                        </a:rPr>
                        <a:t>0.05</a:t>
                      </a:r>
                      <a:endParaRPr lang="en-US" sz="1200" dirty="0">
                        <a:effectLst/>
                        <a:latin typeface="Arial" panose="020B0604020202020204" pitchFamily="34" charset="0"/>
                        <a:ea typeface="Arial" panose="020B0604020202020204" pitchFamily="34" charset="0"/>
                      </a:endParaRPr>
                    </a:p>
                  </a:txBody>
                  <a:tcPr marL="25400" marR="25400" marT="25400" marB="254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Rectangle 3"/>
          <p:cNvSpPr>
            <a:spLocks noChangeArrowheads="1"/>
          </p:cNvSpPr>
          <p:nvPr/>
        </p:nvSpPr>
        <p:spPr bwMode="auto">
          <a:xfrm>
            <a:off x="870858" y="2697876"/>
            <a:ext cx="4028535"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Vcr_PEBS</a:t>
            </a:r>
            <a:r>
              <a:rPr lang="en-US" altLang="en-US" sz="1100" dirty="0">
                <a:latin typeface="Times New Roman" panose="02020603050405020304" pitchFamily="18" charset="0"/>
                <a:ea typeface="Arial" panose="020B0604020202020204" pitchFamily="34" charset="0"/>
                <a:cs typeface="Times New Roman" panose="02020603050405020304" pitchFamily="18" charset="0"/>
              </a:rPr>
              <a:t>&lt;</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Tcr_PEBS</a:t>
            </a:r>
            <a:r>
              <a:rPr lang="en-US" altLang="en-US" sz="1100" dirty="0">
                <a:latin typeface="Times New Roman" panose="02020603050405020304" pitchFamily="18" charset="0"/>
                <a:ea typeface="Arial" panose="020B0604020202020204" pitchFamily="34" charset="0"/>
                <a:cs typeface="Times New Roman" panose="02020603050405020304" pitchFamily="18" charset="0"/>
              </a:rPr>
              <a:t>&lt;</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System is PEBS Unstable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Vcr_BCU</a:t>
            </a:r>
            <a:r>
              <a:rPr lang="en-US" altLang="en-US" sz="1100" dirty="0">
                <a:latin typeface="Times New Roman" panose="02020603050405020304" pitchFamily="18" charset="0"/>
                <a:ea typeface="Arial" panose="020B0604020202020204" pitchFamily="34" charset="0"/>
                <a:cs typeface="Times New Roman" panose="02020603050405020304" pitchFamily="18" charset="0"/>
              </a:rPr>
              <a:t>&lt;</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Tcr_BCU</a:t>
            </a:r>
            <a:r>
              <a:rPr lang="en-US" altLang="en-US" sz="1100" dirty="0">
                <a:latin typeface="Times New Roman" panose="02020603050405020304" pitchFamily="18" charset="0"/>
                <a:ea typeface="Arial" panose="020B0604020202020204" pitchFamily="34" charset="0"/>
                <a:cs typeface="Times New Roman" panose="02020603050405020304" pitchFamily="18" charset="0"/>
              </a:rPr>
              <a:t>&lt;</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System is BCU Unstable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3125788" y="7020883"/>
            <a:ext cx="110799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7332618" y="4003680"/>
            <a:ext cx="110799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p:cNvSpPr/>
          <p:nvPr/>
        </p:nvSpPr>
        <p:spPr>
          <a:xfrm>
            <a:off x="724209" y="893887"/>
            <a:ext cx="986167" cy="369332"/>
          </a:xfrm>
          <a:prstGeom prst="rect">
            <a:avLst/>
          </a:prstGeom>
        </p:spPr>
        <p:txBody>
          <a:bodyPr wrap="none">
            <a:spAutoFit/>
          </a:bodyPr>
          <a:lstStyle/>
          <a:p>
            <a:pPr lvl="0" eaLnBrk="0" fontAlgn="base" hangingPunct="0">
              <a:spcBef>
                <a:spcPct val="0"/>
              </a:spcBef>
              <a:spcAft>
                <a:spcPct val="0"/>
              </a:spcAft>
            </a:pPr>
            <a:r>
              <a:rPr kumimoji="0" lang="en-US" altLang="en-US" b="1" i="0" u="sng" strike="noStrike" cap="none" normalizeH="0" baseline="0" dirty="0">
                <a:ln>
                  <a:noFill/>
                </a:ln>
                <a:solidFill>
                  <a:srgbClr val="00CC00"/>
                </a:solidFill>
                <a:effectLst/>
                <a:latin typeface="Times New Roman" panose="02020603050405020304" pitchFamily="18" charset="0"/>
                <a:ea typeface="Arial" panose="020B0604020202020204" pitchFamily="34" charset="0"/>
                <a:cs typeface="Times New Roman" panose="02020603050405020304" pitchFamily="18" charset="0"/>
              </a:rPr>
              <a:t>Result 2</a:t>
            </a:r>
            <a:endParaRPr kumimoji="0" lang="en-US" altLang="en-US" sz="1100" b="0" i="0" u="sng" strike="noStrike" cap="none" normalizeH="0" baseline="0" dirty="0">
              <a:ln>
                <a:noFill/>
              </a:ln>
              <a:solidFill>
                <a:srgbClr val="00CC00"/>
              </a:solidFill>
              <a:effectLst/>
            </a:endParaRPr>
          </a:p>
        </p:txBody>
      </p:sp>
      <p:sp>
        <p:nvSpPr>
          <p:cNvPr id="9" name="Rectangle 8"/>
          <p:cNvSpPr/>
          <p:nvPr/>
        </p:nvSpPr>
        <p:spPr>
          <a:xfrm>
            <a:off x="5302813" y="6099473"/>
            <a:ext cx="6109365" cy="369332"/>
          </a:xfrm>
          <a:prstGeom prst="rect">
            <a:avLst/>
          </a:prstGeom>
        </p:spPr>
        <p:txBody>
          <a:bodyPr wrap="none">
            <a:spAutoFit/>
          </a:bodyPr>
          <a:lstStyle/>
          <a:p>
            <a:pPr lvl="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Fig 10: w vs del for faulted and Post fault Dynamics (Unstable) </a:t>
            </a:r>
            <a:endParaRPr kumimoji="0" lang="en-US" altLang="en-US" sz="1100" b="0" i="0" u="none" strike="noStrike" cap="none" normalizeH="0" baseline="0" dirty="0">
              <a:ln>
                <a:noFill/>
              </a:ln>
              <a:solidFill>
                <a:schemeClr val="tx1"/>
              </a:solidFill>
              <a:effectLst/>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8880" y="2726187"/>
            <a:ext cx="5401492" cy="3444810"/>
          </a:xfrm>
          <a:prstGeom prst="rect">
            <a:avLst/>
          </a:prstGeom>
        </p:spPr>
      </p:pic>
      <p:sp>
        <p:nvSpPr>
          <p:cNvPr id="2" name="Title 1">
            <a:extLst>
              <a:ext uri="{FF2B5EF4-FFF2-40B4-BE49-F238E27FC236}">
                <a16:creationId xmlns:a16="http://schemas.microsoft.com/office/drawing/2014/main" id="{01BE8B99-5241-DBCC-775A-76DCF2580486}"/>
              </a:ext>
            </a:extLst>
          </p:cNvPr>
          <p:cNvSpPr>
            <a:spLocks noGrp="1"/>
          </p:cNvSpPr>
          <p:nvPr>
            <p:ph type="title"/>
          </p:nvPr>
        </p:nvSpPr>
        <p:spPr>
          <a:xfrm>
            <a:off x="0" y="0"/>
            <a:ext cx="12192000" cy="810736"/>
          </a:xfrm>
        </p:spPr>
        <p:style>
          <a:lnRef idx="1">
            <a:schemeClr val="accent2"/>
          </a:lnRef>
          <a:fillRef idx="2">
            <a:schemeClr val="accent2"/>
          </a:fillRef>
          <a:effectRef idx="1">
            <a:schemeClr val="accent2"/>
          </a:effectRef>
          <a:fontRef idx="minor">
            <a:schemeClr val="dk1"/>
          </a:fontRef>
        </p:style>
        <p:txBody>
          <a:bodyPr>
            <a:normAutofit/>
          </a:bodyPr>
          <a:lstStyle/>
          <a:p>
            <a:r>
              <a:rPr lang="en-US" sz="2800" b="1" dirty="0">
                <a:solidFill>
                  <a:srgbClr val="002060"/>
                </a:solidFill>
                <a:latin typeface="Times New Roman" panose="02020603050405020304" pitchFamily="18" charset="0"/>
                <a:cs typeface="Times New Roman" panose="02020603050405020304" pitchFamily="18" charset="0"/>
              </a:rPr>
              <a:t>	Result And Analysis</a:t>
            </a:r>
          </a:p>
        </p:txBody>
      </p:sp>
    </p:spTree>
    <p:extLst>
      <p:ext uri="{BB962C8B-B14F-4D97-AF65-F5344CB8AC3E}">
        <p14:creationId xmlns:p14="http://schemas.microsoft.com/office/powerpoint/2010/main" val="2510303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1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90320" y="701860"/>
            <a:ext cx="6001680" cy="361414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261859" y="4436480"/>
            <a:ext cx="4145281" cy="646331"/>
          </a:xfrm>
          <a:prstGeom prst="rect">
            <a:avLst/>
          </a:prstGeom>
        </p:spPr>
        <p:txBody>
          <a:bodyPr wrap="square">
            <a:spAutoFit/>
          </a:bodyPr>
          <a:lstStyle/>
          <a:p>
            <a:pPr lvl="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Fig 11: del vs t and w vs t for faulted and</a:t>
            </a:r>
          </a:p>
          <a:p>
            <a:pPr lvl="0" algn="ctr"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Post fault Dynamics (Unstable)</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4" name="image19.jpg"/>
          <p:cNvPicPr/>
          <p:nvPr/>
        </p:nvPicPr>
        <p:blipFill>
          <a:blip r:embed="rId3"/>
          <a:srcRect/>
          <a:stretch>
            <a:fillRect/>
          </a:stretch>
        </p:blipFill>
        <p:spPr>
          <a:xfrm>
            <a:off x="352515" y="701860"/>
            <a:ext cx="5408205" cy="3733800"/>
          </a:xfrm>
          <a:prstGeom prst="rect">
            <a:avLst/>
          </a:prstGeom>
          <a:ln/>
        </p:spPr>
      </p:pic>
      <p:sp>
        <p:nvSpPr>
          <p:cNvPr id="5" name="Rectangle 4"/>
          <p:cNvSpPr/>
          <p:nvPr/>
        </p:nvSpPr>
        <p:spPr>
          <a:xfrm>
            <a:off x="1154972" y="4394930"/>
            <a:ext cx="3971111" cy="729430"/>
          </a:xfrm>
          <a:prstGeom prst="rect">
            <a:avLst/>
          </a:prstGeom>
        </p:spPr>
        <p:txBody>
          <a:bodyPr wrap="square">
            <a:spAutoFit/>
          </a:bodyPr>
          <a:lstStyle/>
          <a:p>
            <a:pPr algn="ctr">
              <a:lnSpc>
                <a:spcPct val="115000"/>
              </a:lnSpc>
            </a:pPr>
            <a:r>
              <a:rPr lang="en-US" dirty="0">
                <a:effectLst/>
                <a:latin typeface="Times New Roman" panose="02020603050405020304" pitchFamily="18" charset="0"/>
                <a:ea typeface="Arial" panose="020B0604020202020204" pitchFamily="34" charset="0"/>
              </a:rPr>
              <a:t>Fig 9: del vs t and w vs t for faulted and</a:t>
            </a:r>
          </a:p>
          <a:p>
            <a:pPr algn="ctr">
              <a:lnSpc>
                <a:spcPct val="115000"/>
              </a:lnSpc>
            </a:pPr>
            <a:r>
              <a:rPr lang="en-US" dirty="0">
                <a:effectLst/>
                <a:latin typeface="Times New Roman" panose="02020603050405020304" pitchFamily="18" charset="0"/>
                <a:ea typeface="Arial" panose="020B0604020202020204" pitchFamily="34" charset="0"/>
              </a:rPr>
              <a:t> Post fault Dynamics (Stable)</a:t>
            </a:r>
            <a:endParaRPr lang="en-US" dirty="0">
              <a:effectLst/>
              <a:latin typeface="Arial" panose="020B0604020202020204" pitchFamily="34" charset="0"/>
              <a:ea typeface="Arial" panose="020B0604020202020204" pitchFamily="34" charset="0"/>
            </a:endParaRPr>
          </a:p>
        </p:txBody>
      </p:sp>
      <p:sp>
        <p:nvSpPr>
          <p:cNvPr id="6" name="Title 1">
            <a:extLst>
              <a:ext uri="{FF2B5EF4-FFF2-40B4-BE49-F238E27FC236}">
                <a16:creationId xmlns:a16="http://schemas.microsoft.com/office/drawing/2014/main" id="{1314267A-6009-6D82-DC1C-F9CBDD648FD6}"/>
              </a:ext>
            </a:extLst>
          </p:cNvPr>
          <p:cNvSpPr txBox="1">
            <a:spLocks/>
          </p:cNvSpPr>
          <p:nvPr/>
        </p:nvSpPr>
        <p:spPr>
          <a:xfrm>
            <a:off x="0" y="0"/>
            <a:ext cx="12192000" cy="810736"/>
          </a:xfrm>
          <a:prstGeom prst="rect">
            <a:avLst/>
          </a:prstGeom>
        </p:spPr>
        <p:style>
          <a:lnRef idx="1">
            <a:schemeClr val="accent2"/>
          </a:lnRef>
          <a:fillRef idx="2">
            <a:schemeClr val="accent2"/>
          </a:fillRef>
          <a:effectRef idx="1">
            <a:schemeClr val="accent2"/>
          </a:effectRef>
          <a:fontRef idx="minor">
            <a:schemeClr val="dk1"/>
          </a:fontRef>
        </p:style>
        <p:txBody>
          <a:bodyPr anchor="ct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solidFill>
                  <a:srgbClr val="002060"/>
                </a:solidFill>
                <a:latin typeface="Times New Roman" panose="02020603050405020304" pitchFamily="18" charset="0"/>
                <a:cs typeface="Times New Roman" panose="02020603050405020304" pitchFamily="18" charset="0"/>
              </a:rPr>
              <a:t>	Result And Analysis</a:t>
            </a:r>
          </a:p>
        </p:txBody>
      </p:sp>
    </p:spTree>
    <p:extLst>
      <p:ext uri="{BB962C8B-B14F-4D97-AF65-F5344CB8AC3E}">
        <p14:creationId xmlns:p14="http://schemas.microsoft.com/office/powerpoint/2010/main" val="3534318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D74474-B214-6AEB-8CCE-841B51D0605E}"/>
              </a:ext>
            </a:extLst>
          </p:cNvPr>
          <p:cNvSpPr txBox="1"/>
          <p:nvPr/>
        </p:nvSpPr>
        <p:spPr>
          <a:xfrm>
            <a:off x="660400" y="849718"/>
            <a:ext cx="10708640" cy="461665"/>
          </a:xfrm>
          <a:prstGeom prst="rect">
            <a:avLst/>
          </a:prstGeom>
          <a:noFill/>
        </p:spPr>
        <p:txBody>
          <a:bodyPr wrap="square">
            <a:spAutoFit/>
          </a:bodyPr>
          <a:lstStyle/>
          <a:p>
            <a:r>
              <a:rPr lang="en-IN" sz="2400" b="1" dirty="0">
                <a:solidFill>
                  <a:srgbClr val="C00000"/>
                </a:solidFill>
                <a:effectLst/>
                <a:latin typeface="Times New Roman" panose="02020603050405020304" pitchFamily="18" charset="0"/>
                <a:ea typeface="Arial" panose="020B0604020202020204" pitchFamily="34" charset="0"/>
              </a:rPr>
              <a:t>Time Domain Simulation Using PSS/E :</a:t>
            </a:r>
            <a:endParaRPr lang="en-IN" sz="2400" dirty="0">
              <a:solidFill>
                <a:srgbClr val="C00000"/>
              </a:solidFill>
            </a:endParaRPr>
          </a:p>
        </p:txBody>
      </p:sp>
      <p:pic>
        <p:nvPicPr>
          <p:cNvPr id="3" name="Picture 2">
            <a:extLst>
              <a:ext uri="{FF2B5EF4-FFF2-40B4-BE49-F238E27FC236}">
                <a16:creationId xmlns:a16="http://schemas.microsoft.com/office/drawing/2014/main" id="{8222F162-F0E2-DD55-9780-02A664A312EA}"/>
              </a:ext>
            </a:extLst>
          </p:cNvPr>
          <p:cNvPicPr>
            <a:picLocks noChangeAspect="1"/>
          </p:cNvPicPr>
          <p:nvPr/>
        </p:nvPicPr>
        <p:blipFill rotWithShape="1">
          <a:blip r:embed="rId2">
            <a:extLst>
              <a:ext uri="{28A0092B-C50C-407E-A947-70E740481C1C}">
                <a14:useLocalDpi xmlns:a14="http://schemas.microsoft.com/office/drawing/2010/main" val="0"/>
              </a:ext>
            </a:extLst>
          </a:blip>
          <a:srcRect l="-138" t="-499" r="12346" b="4230"/>
          <a:stretch>
            <a:fillRect/>
          </a:stretch>
        </p:blipFill>
        <p:spPr bwMode="auto">
          <a:xfrm>
            <a:off x="660400" y="2499430"/>
            <a:ext cx="4692770" cy="3122117"/>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781FB1A4-F4C2-565E-3DB9-935A1E81AC71}"/>
              </a:ext>
            </a:extLst>
          </p:cNvPr>
          <p:cNvSpPr txBox="1"/>
          <p:nvPr/>
        </p:nvSpPr>
        <p:spPr>
          <a:xfrm>
            <a:off x="975360" y="1574498"/>
            <a:ext cx="5520331" cy="417871"/>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Fault created at Bus 29 at t=1.0 and cleared at t=1.4</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
        <p:nvSpPr>
          <p:cNvPr id="5" name="TextBox 4">
            <a:extLst>
              <a:ext uri="{FF2B5EF4-FFF2-40B4-BE49-F238E27FC236}">
                <a16:creationId xmlns:a16="http://schemas.microsoft.com/office/drawing/2014/main" id="{5C615A04-FA14-5355-B5D9-B20175416F92}"/>
              </a:ext>
            </a:extLst>
          </p:cNvPr>
          <p:cNvSpPr txBox="1"/>
          <p:nvPr/>
        </p:nvSpPr>
        <p:spPr>
          <a:xfrm>
            <a:off x="975360" y="1872298"/>
            <a:ext cx="6096000" cy="446276"/>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Generator G9 goes out of synchronism</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E94449EC-B82B-6041-6EAE-1FB67C61C351}"/>
              </a:ext>
            </a:extLst>
          </p:cNvPr>
          <p:cNvSpPr txBox="1"/>
          <p:nvPr/>
        </p:nvSpPr>
        <p:spPr>
          <a:xfrm>
            <a:off x="975360" y="1311383"/>
            <a:ext cx="6096000" cy="400110"/>
          </a:xfrm>
          <a:prstGeom prst="rect">
            <a:avLst/>
          </a:prstGeom>
          <a:noFill/>
        </p:spPr>
        <p:txBody>
          <a:bodyPr wrap="square">
            <a:spAutoFit/>
          </a:bodyPr>
          <a:lstStyle/>
          <a:p>
            <a:r>
              <a:rPr lang="en-IN" sz="2000" b="1" u="sng" dirty="0">
                <a:solidFill>
                  <a:srgbClr val="00CC00"/>
                </a:solidFill>
                <a:effectLst/>
                <a:latin typeface="Times New Roman" panose="02020603050405020304" pitchFamily="18" charset="0"/>
                <a:ea typeface="Times New Roman" panose="02020603050405020304" pitchFamily="18" charset="0"/>
              </a:rPr>
              <a:t>Output 1:</a:t>
            </a:r>
            <a:endParaRPr lang="en-IN" sz="2000" u="sng" dirty="0">
              <a:solidFill>
                <a:srgbClr val="00CC00"/>
              </a:solidFill>
            </a:endParaRPr>
          </a:p>
        </p:txBody>
      </p:sp>
      <p:sp>
        <p:nvSpPr>
          <p:cNvPr id="7" name="TextBox 6">
            <a:extLst>
              <a:ext uri="{FF2B5EF4-FFF2-40B4-BE49-F238E27FC236}">
                <a16:creationId xmlns:a16="http://schemas.microsoft.com/office/drawing/2014/main" id="{C0806B95-A8A3-28E9-BE46-65FBDC1D01C3}"/>
              </a:ext>
            </a:extLst>
          </p:cNvPr>
          <p:cNvSpPr txBox="1"/>
          <p:nvPr/>
        </p:nvSpPr>
        <p:spPr>
          <a:xfrm>
            <a:off x="903664" y="5965415"/>
            <a:ext cx="6096000" cy="369332"/>
          </a:xfrm>
          <a:prstGeom prst="rect">
            <a:avLst/>
          </a:prstGeom>
          <a:noFill/>
        </p:spPr>
        <p:txBody>
          <a:bodyPr wrap="square">
            <a:spAutoFit/>
          </a:bodyPr>
          <a:lstStyle/>
          <a:p>
            <a:r>
              <a:rPr lang="en-IN" sz="1800" dirty="0">
                <a:effectLst/>
                <a:latin typeface="Times New Roman" panose="02020603050405020304" pitchFamily="18" charset="0"/>
                <a:ea typeface="Times New Roman" panose="02020603050405020304" pitchFamily="18" charset="0"/>
              </a:rPr>
              <a:t>Plot 1[time vs rotor angle]</a:t>
            </a:r>
            <a:endParaRPr lang="en-IN" dirty="0"/>
          </a:p>
        </p:txBody>
      </p:sp>
      <p:sp>
        <p:nvSpPr>
          <p:cNvPr id="9" name="Title 1">
            <a:extLst>
              <a:ext uri="{FF2B5EF4-FFF2-40B4-BE49-F238E27FC236}">
                <a16:creationId xmlns:a16="http://schemas.microsoft.com/office/drawing/2014/main" id="{74743F8D-DB57-B725-A8F2-CB072C258E17}"/>
              </a:ext>
            </a:extLst>
          </p:cNvPr>
          <p:cNvSpPr txBox="1">
            <a:spLocks/>
          </p:cNvSpPr>
          <p:nvPr/>
        </p:nvSpPr>
        <p:spPr>
          <a:xfrm>
            <a:off x="0" y="0"/>
            <a:ext cx="12192000" cy="810736"/>
          </a:xfrm>
          <a:prstGeom prst="rect">
            <a:avLst/>
          </a:prstGeom>
        </p:spPr>
        <p:style>
          <a:lnRef idx="1">
            <a:schemeClr val="accent2"/>
          </a:lnRef>
          <a:fillRef idx="2">
            <a:schemeClr val="accent2"/>
          </a:fillRef>
          <a:effectRef idx="1">
            <a:schemeClr val="accent2"/>
          </a:effectRef>
          <a:fontRef idx="minor">
            <a:schemeClr val="dk1"/>
          </a:fontRef>
        </p:style>
        <p:txBody>
          <a:bodyPr anchor="ct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solidFill>
                  <a:srgbClr val="002060"/>
                </a:solidFill>
                <a:latin typeface="Times New Roman" panose="02020603050405020304" pitchFamily="18" charset="0"/>
                <a:cs typeface="Times New Roman" panose="02020603050405020304" pitchFamily="18" charset="0"/>
              </a:rPr>
              <a:t>	Result And Analysis</a:t>
            </a:r>
          </a:p>
        </p:txBody>
      </p:sp>
      <p:pic>
        <p:nvPicPr>
          <p:cNvPr id="10" name="Picture 9">
            <a:extLst>
              <a:ext uri="{FF2B5EF4-FFF2-40B4-BE49-F238E27FC236}">
                <a16:creationId xmlns:a16="http://schemas.microsoft.com/office/drawing/2014/main" id="{CBB3C057-F824-0198-99D3-5E6396B964EE}"/>
              </a:ext>
            </a:extLst>
          </p:cNvPr>
          <p:cNvPicPr>
            <a:picLocks noChangeAspect="1"/>
          </p:cNvPicPr>
          <p:nvPr/>
        </p:nvPicPr>
        <p:blipFill rotWithShape="1">
          <a:blip r:embed="rId3">
            <a:extLst>
              <a:ext uri="{28A0092B-C50C-407E-A947-70E740481C1C}">
                <a14:useLocalDpi xmlns:a14="http://schemas.microsoft.com/office/drawing/2010/main" val="0"/>
              </a:ext>
            </a:extLst>
          </a:blip>
          <a:srcRect r="31539"/>
          <a:stretch>
            <a:fillRect/>
          </a:stretch>
        </p:blipFill>
        <p:spPr bwMode="auto">
          <a:xfrm>
            <a:off x="6262778" y="2524197"/>
            <a:ext cx="5572342" cy="3385249"/>
          </a:xfrm>
          <a:prstGeom prst="rect">
            <a:avLst/>
          </a:prstGeom>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3090CB1F-63D3-C579-5046-10FE90A09C82}"/>
              </a:ext>
            </a:extLst>
          </p:cNvPr>
          <p:cNvSpPr txBox="1"/>
          <p:nvPr/>
        </p:nvSpPr>
        <p:spPr>
          <a:xfrm>
            <a:off x="5810370" y="5815761"/>
            <a:ext cx="6096000" cy="385042"/>
          </a:xfrm>
          <a:prstGeom prst="rect">
            <a:avLst/>
          </a:prstGeom>
          <a:noFill/>
        </p:spPr>
        <p:txBody>
          <a:bodyPr wrap="square">
            <a:spAutoFit/>
          </a:bodyPr>
          <a:lstStyle/>
          <a:p>
            <a:pPr marL="1371600" indent="457200" algn="just">
              <a:lnSpc>
                <a:spcPct val="115000"/>
              </a:lnSpc>
              <a:spcBef>
                <a:spcPts val="1200"/>
              </a:spcBef>
              <a:spcAft>
                <a:spcPts val="1200"/>
              </a:spcAft>
              <a:buNone/>
            </a:pPr>
            <a:r>
              <a:rPr lang="en-IN" dirty="0">
                <a:latin typeface="Times New Roman" panose="02020603050405020304" pitchFamily="18" charset="0"/>
                <a:ea typeface="Times New Roman" panose="02020603050405020304" pitchFamily="18" charset="0"/>
              </a:rPr>
              <a:t>P</a:t>
            </a:r>
            <a:r>
              <a:rPr lang="en-IN" sz="1800" dirty="0">
                <a:effectLst/>
                <a:latin typeface="Times New Roman" panose="02020603050405020304" pitchFamily="18" charset="0"/>
                <a:ea typeface="Times New Roman" panose="02020603050405020304" pitchFamily="18" charset="0"/>
              </a:rPr>
              <a:t>lot </a:t>
            </a:r>
            <a:r>
              <a:rPr lang="en-IN" dirty="0">
                <a:latin typeface="Times New Roman" panose="02020603050405020304" pitchFamily="18" charset="0"/>
                <a:ea typeface="Times New Roman" panose="02020603050405020304" pitchFamily="18" charset="0"/>
              </a:rPr>
              <a:t>2</a:t>
            </a:r>
            <a:r>
              <a:rPr lang="en-IN" sz="1800" dirty="0">
                <a:effectLst/>
                <a:latin typeface="Times New Roman" panose="02020603050405020304" pitchFamily="18" charset="0"/>
                <a:ea typeface="Times New Roman" panose="02020603050405020304" pitchFamily="18" charset="0"/>
              </a:rPr>
              <a:t> [time vs speed]</a:t>
            </a:r>
            <a:endParaRPr lang="en-IN" sz="1600" dirty="0">
              <a:effectLst/>
              <a:latin typeface="Arial" panose="020B0604020202020204" pitchFamily="34" charset="0"/>
              <a:ea typeface="Arial" panose="020B0604020202020204" pitchFamily="34" charset="0"/>
            </a:endParaRPr>
          </a:p>
        </p:txBody>
      </p:sp>
      <p:sp>
        <p:nvSpPr>
          <p:cNvPr id="12" name="TextBox 11">
            <a:extLst>
              <a:ext uri="{FF2B5EF4-FFF2-40B4-BE49-F238E27FC236}">
                <a16:creationId xmlns:a16="http://schemas.microsoft.com/office/drawing/2014/main" id="{D8A69E5F-91AD-B969-FE4E-15503315B6DD}"/>
              </a:ext>
            </a:extLst>
          </p:cNvPr>
          <p:cNvSpPr txBox="1"/>
          <p:nvPr/>
        </p:nvSpPr>
        <p:spPr>
          <a:xfrm>
            <a:off x="6397349" y="1316951"/>
            <a:ext cx="6096000" cy="400110"/>
          </a:xfrm>
          <a:prstGeom prst="rect">
            <a:avLst/>
          </a:prstGeom>
          <a:noFill/>
        </p:spPr>
        <p:txBody>
          <a:bodyPr wrap="square">
            <a:spAutoFit/>
          </a:bodyPr>
          <a:lstStyle/>
          <a:p>
            <a:r>
              <a:rPr lang="en-IN" sz="2000" b="1" u="sng" dirty="0">
                <a:solidFill>
                  <a:srgbClr val="00CC00"/>
                </a:solidFill>
                <a:effectLst/>
                <a:latin typeface="Times New Roman" panose="02020603050405020304" pitchFamily="18" charset="0"/>
                <a:ea typeface="Times New Roman" panose="02020603050405020304" pitchFamily="18" charset="0"/>
              </a:rPr>
              <a:t>Output 2:</a:t>
            </a:r>
            <a:endParaRPr lang="en-IN" sz="2000" u="sng" dirty="0">
              <a:solidFill>
                <a:srgbClr val="00CC00"/>
              </a:solidFill>
            </a:endParaRPr>
          </a:p>
        </p:txBody>
      </p:sp>
      <p:sp>
        <p:nvSpPr>
          <p:cNvPr id="13" name="TextBox 12">
            <a:extLst>
              <a:ext uri="{FF2B5EF4-FFF2-40B4-BE49-F238E27FC236}">
                <a16:creationId xmlns:a16="http://schemas.microsoft.com/office/drawing/2014/main" id="{4E936358-4258-FCB9-10E9-1B7D5AC9476E}"/>
              </a:ext>
            </a:extLst>
          </p:cNvPr>
          <p:cNvSpPr txBox="1"/>
          <p:nvPr/>
        </p:nvSpPr>
        <p:spPr>
          <a:xfrm>
            <a:off x="6397349" y="1591571"/>
            <a:ext cx="6096000" cy="417871"/>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Fault created at Bus 29 at t=1.0 and cleared at t=1.4</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
        <p:nvSpPr>
          <p:cNvPr id="14" name="TextBox 13">
            <a:extLst>
              <a:ext uri="{FF2B5EF4-FFF2-40B4-BE49-F238E27FC236}">
                <a16:creationId xmlns:a16="http://schemas.microsoft.com/office/drawing/2014/main" id="{AB91E187-FC09-36F5-B682-75DA17C43550}"/>
              </a:ext>
            </a:extLst>
          </p:cNvPr>
          <p:cNvSpPr txBox="1"/>
          <p:nvPr/>
        </p:nvSpPr>
        <p:spPr>
          <a:xfrm>
            <a:off x="6397349" y="1896969"/>
            <a:ext cx="6096000" cy="446276"/>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Generator G9 goes out of synchronism</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
        <p:nvSpPr>
          <p:cNvPr id="8" name="TextBox 7">
            <a:extLst>
              <a:ext uri="{FF2B5EF4-FFF2-40B4-BE49-F238E27FC236}">
                <a16:creationId xmlns:a16="http://schemas.microsoft.com/office/drawing/2014/main" id="{44518E79-3B1D-47CE-9035-8BB38106249E}"/>
              </a:ext>
            </a:extLst>
          </p:cNvPr>
          <p:cNvSpPr txBox="1"/>
          <p:nvPr/>
        </p:nvSpPr>
        <p:spPr>
          <a:xfrm flipH="1">
            <a:off x="7556269" y="2770641"/>
            <a:ext cx="640080" cy="276999"/>
          </a:xfrm>
          <a:prstGeom prst="rect">
            <a:avLst/>
          </a:prstGeom>
          <a:noFill/>
        </p:spPr>
        <p:txBody>
          <a:bodyPr wrap="square" rtlCol="0">
            <a:spAutoFit/>
          </a:bodyPr>
          <a:lstStyle/>
          <a:p>
            <a:r>
              <a:rPr lang="en-US" sz="1200" dirty="0"/>
              <a:t>Gen9</a:t>
            </a:r>
          </a:p>
        </p:txBody>
      </p:sp>
      <p:sp>
        <p:nvSpPr>
          <p:cNvPr id="15" name="TextBox 14">
            <a:extLst>
              <a:ext uri="{FF2B5EF4-FFF2-40B4-BE49-F238E27FC236}">
                <a16:creationId xmlns:a16="http://schemas.microsoft.com/office/drawing/2014/main" id="{0493CA9B-F2FF-4FD2-A8B3-BD578517D3B9}"/>
              </a:ext>
            </a:extLst>
          </p:cNvPr>
          <p:cNvSpPr txBox="1"/>
          <p:nvPr/>
        </p:nvSpPr>
        <p:spPr>
          <a:xfrm flipH="1">
            <a:off x="1174865" y="2850574"/>
            <a:ext cx="640080" cy="276999"/>
          </a:xfrm>
          <a:prstGeom prst="rect">
            <a:avLst/>
          </a:prstGeom>
          <a:noFill/>
        </p:spPr>
        <p:txBody>
          <a:bodyPr wrap="square" rtlCol="0">
            <a:spAutoFit/>
          </a:bodyPr>
          <a:lstStyle/>
          <a:p>
            <a:r>
              <a:rPr lang="en-US" sz="1200" dirty="0"/>
              <a:t>Gen9</a:t>
            </a:r>
          </a:p>
        </p:txBody>
      </p:sp>
    </p:spTree>
    <p:extLst>
      <p:ext uri="{BB962C8B-B14F-4D97-AF65-F5344CB8AC3E}">
        <p14:creationId xmlns:p14="http://schemas.microsoft.com/office/powerpoint/2010/main" val="3751621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3200E5-40B5-4265-BD44-7CE151BAC7CB}"/>
              </a:ext>
            </a:extLst>
          </p:cNvPr>
          <p:cNvSpPr>
            <a:spLocks noGrp="1"/>
          </p:cNvSpPr>
          <p:nvPr>
            <p:ph type="body" idx="1"/>
          </p:nvPr>
        </p:nvSpPr>
        <p:spPr>
          <a:xfrm>
            <a:off x="623400" y="4306836"/>
            <a:ext cx="11360800" cy="1288473"/>
          </a:xfrm>
        </p:spPr>
        <p:txBody>
          <a:bodyPr>
            <a:normAutofit lnSpcReduction="10000"/>
          </a:bodyPr>
          <a:lstStyle/>
          <a:p>
            <a:r>
              <a:rPr lang="en-US" dirty="0" err="1"/>
              <a:t>Matlab</a:t>
            </a:r>
            <a:endParaRPr lang="en-US" dirty="0"/>
          </a:p>
          <a:p>
            <a:r>
              <a:rPr lang="en-US" dirty="0"/>
              <a:t>Python</a:t>
            </a:r>
          </a:p>
          <a:p>
            <a:r>
              <a:rPr lang="en-US" dirty="0"/>
              <a:t>PSS/E</a:t>
            </a:r>
          </a:p>
          <a:p>
            <a:endParaRPr lang="en-US" dirty="0"/>
          </a:p>
        </p:txBody>
      </p:sp>
      <p:sp>
        <p:nvSpPr>
          <p:cNvPr id="4" name="Title 1">
            <a:extLst>
              <a:ext uri="{FF2B5EF4-FFF2-40B4-BE49-F238E27FC236}">
                <a16:creationId xmlns:a16="http://schemas.microsoft.com/office/drawing/2014/main" id="{5B7D021E-656D-4B71-B122-DD01E0552345}"/>
              </a:ext>
            </a:extLst>
          </p:cNvPr>
          <p:cNvSpPr txBox="1">
            <a:spLocks/>
          </p:cNvSpPr>
          <p:nvPr/>
        </p:nvSpPr>
        <p:spPr>
          <a:xfrm>
            <a:off x="831200" y="1118506"/>
            <a:ext cx="11360800" cy="2141914"/>
          </a:xfrm>
          <a:prstGeom prst="rect">
            <a:avLst/>
          </a:prstGeom>
        </p:spPr>
        <p:txBody>
          <a:bodyPr spcFirstLastPara="1" vert="horz" wrap="square" lIns="91425" tIns="91425" rIns="91425" bIns="91425" rtlCol="0" anchor="t" anchorCtr="0">
            <a:normAutofit lnSpcReduction="10000"/>
          </a:bodyPr>
          <a:lstStyle>
            <a:lvl1pPr lvl="0" algn="l" defTabSz="914400" rtl="0" eaLnBrk="1" latinLnBrk="0" hangingPunct="1">
              <a:lnSpc>
                <a:spcPct val="90000"/>
              </a:lnSpc>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sz="2000" b="1" dirty="0">
                <a:latin typeface="Times New Roman" panose="02020603050405020304" pitchFamily="18" charset="0"/>
                <a:cs typeface="Times New Roman" panose="02020603050405020304" pitchFamily="18" charset="0"/>
              </a:rPr>
              <a:t>Network Modeling:</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the development of the TEF Internal node model is developed using the constant impedance load and internal node behind the transient reactance is used followed by </a:t>
            </a:r>
            <a:r>
              <a:rPr lang="en-US" sz="2000" dirty="0" err="1">
                <a:latin typeface="Times New Roman" panose="02020603050405020304" pitchFamily="18" charset="0"/>
                <a:cs typeface="Times New Roman" panose="02020603050405020304" pitchFamily="18" charset="0"/>
              </a:rPr>
              <a:t>Kron’s</a:t>
            </a:r>
            <a:r>
              <a:rPr lang="en-US" sz="2000" dirty="0">
                <a:latin typeface="Times New Roman" panose="02020603050405020304" pitchFamily="18" charset="0"/>
                <a:cs typeface="Times New Roman" panose="02020603050405020304" pitchFamily="18" charset="0"/>
              </a:rPr>
              <a:t> reduction to show the coupling between the generators. For the development of the real system all the parameters are included.</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Generator Modeling: </a:t>
            </a:r>
            <a:r>
              <a:rPr lang="en-US" sz="2000" dirty="0">
                <a:latin typeface="Times New Roman" panose="02020603050405020304" pitchFamily="18" charset="0"/>
                <a:cs typeface="Times New Roman" panose="02020603050405020304" pitchFamily="18" charset="0"/>
              </a:rPr>
              <a:t>Classical Model for TEF and Detailed Model in real time simulation in PSS/E</a:t>
            </a:r>
          </a:p>
          <a:p>
            <a:endParaRPr lang="en-US" sz="1800" b="1"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Disturbance Type:  </a:t>
            </a:r>
            <a:r>
              <a:rPr lang="en-US" sz="2000" dirty="0">
                <a:latin typeface="Times New Roman" panose="02020603050405020304" pitchFamily="18" charset="0"/>
                <a:cs typeface="Times New Roman" panose="02020603050405020304" pitchFamily="18" charset="0"/>
              </a:rPr>
              <a:t>3-Phase Symmetrical Fault</a:t>
            </a:r>
          </a:p>
        </p:txBody>
      </p:sp>
      <p:sp>
        <p:nvSpPr>
          <p:cNvPr id="5" name="Title 1">
            <a:extLst>
              <a:ext uri="{FF2B5EF4-FFF2-40B4-BE49-F238E27FC236}">
                <a16:creationId xmlns:a16="http://schemas.microsoft.com/office/drawing/2014/main" id="{DD63F280-0B08-4AE9-8905-88F1A1BD1FD2}"/>
              </a:ext>
            </a:extLst>
          </p:cNvPr>
          <p:cNvSpPr txBox="1">
            <a:spLocks/>
          </p:cNvSpPr>
          <p:nvPr/>
        </p:nvSpPr>
        <p:spPr>
          <a:xfrm>
            <a:off x="415600" y="1379912"/>
            <a:ext cx="11360800" cy="1288473"/>
          </a:xfrm>
          <a:prstGeom prst="rect">
            <a:avLst/>
          </a:prstGeom>
        </p:spPr>
        <p:txBody>
          <a:bodyPr spcFirstLastPara="1" vert="horz" wrap="square" lIns="91425" tIns="91425" rIns="91425" bIns="91425" rtlCol="0" anchor="t" anchorCtr="0">
            <a:normAutofit fontScale="97500"/>
          </a:bodyPr>
          <a:lstStyle>
            <a:lvl1pPr lvl="0" algn="l" defTabSz="914400" rtl="0" eaLnBrk="1" latinLnBrk="0" hangingPunct="1">
              <a:lnSpc>
                <a:spcPct val="90000"/>
              </a:lnSpc>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n-US" dirty="0"/>
          </a:p>
        </p:txBody>
      </p:sp>
      <p:sp>
        <p:nvSpPr>
          <p:cNvPr id="6" name="Title 1">
            <a:extLst>
              <a:ext uri="{FF2B5EF4-FFF2-40B4-BE49-F238E27FC236}">
                <a16:creationId xmlns:a16="http://schemas.microsoft.com/office/drawing/2014/main" id="{BDC5E35C-F678-7AC6-BF58-7B4139E2CA68}"/>
              </a:ext>
            </a:extLst>
          </p:cNvPr>
          <p:cNvSpPr txBox="1">
            <a:spLocks/>
          </p:cNvSpPr>
          <p:nvPr/>
        </p:nvSpPr>
        <p:spPr>
          <a:xfrm>
            <a:off x="0" y="15732"/>
            <a:ext cx="11776400" cy="1046416"/>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91425" rIns="91425" bIns="91425" rtlCol="0" anchor="ctr" anchorCtr="0">
            <a:normAutofit/>
          </a:bodyPr>
          <a:lstStyle>
            <a:lvl1pPr lvl="0" algn="l" defTabSz="914400" rtl="0" eaLnBrk="1" latinLnBrk="0" hangingPunct="1">
              <a:lnSpc>
                <a:spcPct val="90000"/>
              </a:lnSpc>
              <a:spcBef>
                <a:spcPts val="0"/>
              </a:spcBef>
              <a:spcAft>
                <a:spcPts val="0"/>
              </a:spcAft>
              <a:buSzPts val="2800"/>
              <a:buNone/>
              <a:defRPr sz="4400" kern="1200">
                <a:solidFill>
                  <a:schemeClr val="dk1"/>
                </a:solidFill>
                <a:latin typeface="+mn-lt"/>
                <a:ea typeface="+mn-ea"/>
                <a:cs typeface="+mn-cs"/>
              </a:defRPr>
            </a:lvl1pPr>
            <a:lvl2pPr lvl="1">
              <a:spcBef>
                <a:spcPts val="0"/>
              </a:spcBef>
              <a:spcAft>
                <a:spcPts val="0"/>
              </a:spcAft>
              <a:buSzPts val="2800"/>
              <a:buNone/>
              <a:defRPr>
                <a:solidFill>
                  <a:schemeClr val="dk1"/>
                </a:solidFill>
                <a:latin typeface="+mn-lt"/>
                <a:ea typeface="+mn-ea"/>
                <a:cs typeface="+mn-cs"/>
              </a:defRPr>
            </a:lvl2pPr>
            <a:lvl3pPr lvl="2">
              <a:spcBef>
                <a:spcPts val="0"/>
              </a:spcBef>
              <a:spcAft>
                <a:spcPts val="0"/>
              </a:spcAft>
              <a:buSzPts val="2800"/>
              <a:buNone/>
              <a:defRPr>
                <a:solidFill>
                  <a:schemeClr val="dk1"/>
                </a:solidFill>
                <a:latin typeface="+mn-lt"/>
                <a:ea typeface="+mn-ea"/>
                <a:cs typeface="+mn-cs"/>
              </a:defRPr>
            </a:lvl3pPr>
            <a:lvl4pPr lvl="3">
              <a:spcBef>
                <a:spcPts val="0"/>
              </a:spcBef>
              <a:spcAft>
                <a:spcPts val="0"/>
              </a:spcAft>
              <a:buSzPts val="2800"/>
              <a:buNone/>
              <a:defRPr>
                <a:solidFill>
                  <a:schemeClr val="dk1"/>
                </a:solidFill>
                <a:latin typeface="+mn-lt"/>
                <a:ea typeface="+mn-ea"/>
                <a:cs typeface="+mn-cs"/>
              </a:defRPr>
            </a:lvl4pPr>
            <a:lvl5pPr lvl="4">
              <a:spcBef>
                <a:spcPts val="0"/>
              </a:spcBef>
              <a:spcAft>
                <a:spcPts val="0"/>
              </a:spcAft>
              <a:buSzPts val="2800"/>
              <a:buNone/>
              <a:defRPr>
                <a:solidFill>
                  <a:schemeClr val="dk1"/>
                </a:solidFill>
                <a:latin typeface="+mn-lt"/>
                <a:ea typeface="+mn-ea"/>
                <a:cs typeface="+mn-cs"/>
              </a:defRPr>
            </a:lvl5pPr>
            <a:lvl6pPr lvl="5">
              <a:spcBef>
                <a:spcPts val="0"/>
              </a:spcBef>
              <a:spcAft>
                <a:spcPts val="0"/>
              </a:spcAft>
              <a:buSzPts val="2800"/>
              <a:buNone/>
              <a:defRPr>
                <a:solidFill>
                  <a:schemeClr val="dk1"/>
                </a:solidFill>
                <a:latin typeface="+mn-lt"/>
                <a:ea typeface="+mn-ea"/>
                <a:cs typeface="+mn-cs"/>
              </a:defRPr>
            </a:lvl6pPr>
            <a:lvl7pPr lvl="6">
              <a:spcBef>
                <a:spcPts val="0"/>
              </a:spcBef>
              <a:spcAft>
                <a:spcPts val="0"/>
              </a:spcAft>
              <a:buSzPts val="2800"/>
              <a:buNone/>
              <a:defRPr>
                <a:solidFill>
                  <a:schemeClr val="dk1"/>
                </a:solidFill>
                <a:latin typeface="+mn-lt"/>
                <a:ea typeface="+mn-ea"/>
                <a:cs typeface="+mn-cs"/>
              </a:defRPr>
            </a:lvl7pPr>
            <a:lvl8pPr lvl="7">
              <a:spcBef>
                <a:spcPts val="0"/>
              </a:spcBef>
              <a:spcAft>
                <a:spcPts val="0"/>
              </a:spcAft>
              <a:buSzPts val="2800"/>
              <a:buNone/>
              <a:defRPr>
                <a:solidFill>
                  <a:schemeClr val="dk1"/>
                </a:solidFill>
                <a:latin typeface="+mn-lt"/>
                <a:ea typeface="+mn-ea"/>
                <a:cs typeface="+mn-cs"/>
              </a:defRPr>
            </a:lvl8pPr>
            <a:lvl9pPr lvl="8">
              <a:spcBef>
                <a:spcPts val="0"/>
              </a:spcBef>
              <a:spcAft>
                <a:spcPts val="0"/>
              </a:spcAft>
              <a:buSzPts val="2800"/>
              <a:buNone/>
              <a:defRPr>
                <a:solidFill>
                  <a:schemeClr val="dk1"/>
                </a:solidFill>
                <a:latin typeface="+mn-lt"/>
                <a:ea typeface="+mn-ea"/>
                <a:cs typeface="+mn-cs"/>
              </a:defRPr>
            </a:lvl9pPr>
          </a:lstStyle>
          <a:p>
            <a:r>
              <a:rPr lang="en-US" sz="3600" b="1" dirty="0">
                <a:solidFill>
                  <a:srgbClr val="C00000"/>
                </a:solidFill>
                <a:latin typeface="Times New Roman" panose="02020603050405020304" pitchFamily="18" charset="0"/>
                <a:cs typeface="Times New Roman" panose="02020603050405020304" pitchFamily="18" charset="0"/>
              </a:rPr>
              <a:t>	Scope</a:t>
            </a:r>
          </a:p>
        </p:txBody>
      </p:sp>
      <p:sp>
        <p:nvSpPr>
          <p:cNvPr id="7" name="Title 1">
            <a:extLst>
              <a:ext uri="{FF2B5EF4-FFF2-40B4-BE49-F238E27FC236}">
                <a16:creationId xmlns:a16="http://schemas.microsoft.com/office/drawing/2014/main" id="{6C635E90-073D-F2D5-5D55-CFF82C9C88E5}"/>
              </a:ext>
            </a:extLst>
          </p:cNvPr>
          <p:cNvSpPr txBox="1">
            <a:spLocks/>
          </p:cNvSpPr>
          <p:nvPr/>
        </p:nvSpPr>
        <p:spPr>
          <a:xfrm>
            <a:off x="0" y="3260420"/>
            <a:ext cx="11776400" cy="1046416"/>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91425" rIns="91425" bIns="91425" rtlCol="0" anchor="ctr" anchorCtr="0">
            <a:normAutofit/>
          </a:bodyPr>
          <a:lstStyle>
            <a:lvl1pPr lvl="0" algn="l" defTabSz="914400" rtl="0" eaLnBrk="1" latinLnBrk="0" hangingPunct="1">
              <a:lnSpc>
                <a:spcPct val="90000"/>
              </a:lnSpc>
              <a:spcBef>
                <a:spcPts val="0"/>
              </a:spcBef>
              <a:spcAft>
                <a:spcPts val="0"/>
              </a:spcAft>
              <a:buSzPts val="2800"/>
              <a:buNone/>
              <a:defRPr sz="4400" kern="1200">
                <a:solidFill>
                  <a:schemeClr val="dk1"/>
                </a:solidFill>
                <a:latin typeface="+mn-lt"/>
                <a:ea typeface="+mn-ea"/>
                <a:cs typeface="+mn-cs"/>
              </a:defRPr>
            </a:lvl1pPr>
            <a:lvl2pPr lvl="1">
              <a:spcBef>
                <a:spcPts val="0"/>
              </a:spcBef>
              <a:spcAft>
                <a:spcPts val="0"/>
              </a:spcAft>
              <a:buSzPts val="2800"/>
              <a:buNone/>
              <a:defRPr>
                <a:solidFill>
                  <a:schemeClr val="dk1"/>
                </a:solidFill>
                <a:latin typeface="+mn-lt"/>
                <a:ea typeface="+mn-ea"/>
                <a:cs typeface="+mn-cs"/>
              </a:defRPr>
            </a:lvl2pPr>
            <a:lvl3pPr lvl="2">
              <a:spcBef>
                <a:spcPts val="0"/>
              </a:spcBef>
              <a:spcAft>
                <a:spcPts val="0"/>
              </a:spcAft>
              <a:buSzPts val="2800"/>
              <a:buNone/>
              <a:defRPr>
                <a:solidFill>
                  <a:schemeClr val="dk1"/>
                </a:solidFill>
                <a:latin typeface="+mn-lt"/>
                <a:ea typeface="+mn-ea"/>
                <a:cs typeface="+mn-cs"/>
              </a:defRPr>
            </a:lvl3pPr>
            <a:lvl4pPr lvl="3">
              <a:spcBef>
                <a:spcPts val="0"/>
              </a:spcBef>
              <a:spcAft>
                <a:spcPts val="0"/>
              </a:spcAft>
              <a:buSzPts val="2800"/>
              <a:buNone/>
              <a:defRPr>
                <a:solidFill>
                  <a:schemeClr val="dk1"/>
                </a:solidFill>
                <a:latin typeface="+mn-lt"/>
                <a:ea typeface="+mn-ea"/>
                <a:cs typeface="+mn-cs"/>
              </a:defRPr>
            </a:lvl4pPr>
            <a:lvl5pPr lvl="4">
              <a:spcBef>
                <a:spcPts val="0"/>
              </a:spcBef>
              <a:spcAft>
                <a:spcPts val="0"/>
              </a:spcAft>
              <a:buSzPts val="2800"/>
              <a:buNone/>
              <a:defRPr>
                <a:solidFill>
                  <a:schemeClr val="dk1"/>
                </a:solidFill>
                <a:latin typeface="+mn-lt"/>
                <a:ea typeface="+mn-ea"/>
                <a:cs typeface="+mn-cs"/>
              </a:defRPr>
            </a:lvl5pPr>
            <a:lvl6pPr lvl="5">
              <a:spcBef>
                <a:spcPts val="0"/>
              </a:spcBef>
              <a:spcAft>
                <a:spcPts val="0"/>
              </a:spcAft>
              <a:buSzPts val="2800"/>
              <a:buNone/>
              <a:defRPr>
                <a:solidFill>
                  <a:schemeClr val="dk1"/>
                </a:solidFill>
                <a:latin typeface="+mn-lt"/>
                <a:ea typeface="+mn-ea"/>
                <a:cs typeface="+mn-cs"/>
              </a:defRPr>
            </a:lvl6pPr>
            <a:lvl7pPr lvl="6">
              <a:spcBef>
                <a:spcPts val="0"/>
              </a:spcBef>
              <a:spcAft>
                <a:spcPts val="0"/>
              </a:spcAft>
              <a:buSzPts val="2800"/>
              <a:buNone/>
              <a:defRPr>
                <a:solidFill>
                  <a:schemeClr val="dk1"/>
                </a:solidFill>
                <a:latin typeface="+mn-lt"/>
                <a:ea typeface="+mn-ea"/>
                <a:cs typeface="+mn-cs"/>
              </a:defRPr>
            </a:lvl7pPr>
            <a:lvl8pPr lvl="7">
              <a:spcBef>
                <a:spcPts val="0"/>
              </a:spcBef>
              <a:spcAft>
                <a:spcPts val="0"/>
              </a:spcAft>
              <a:buSzPts val="2800"/>
              <a:buNone/>
              <a:defRPr>
                <a:solidFill>
                  <a:schemeClr val="dk1"/>
                </a:solidFill>
                <a:latin typeface="+mn-lt"/>
                <a:ea typeface="+mn-ea"/>
                <a:cs typeface="+mn-cs"/>
              </a:defRPr>
            </a:lvl8pPr>
            <a:lvl9pPr lvl="8">
              <a:spcBef>
                <a:spcPts val="0"/>
              </a:spcBef>
              <a:spcAft>
                <a:spcPts val="0"/>
              </a:spcAft>
              <a:buSzPts val="2800"/>
              <a:buNone/>
              <a:defRPr>
                <a:solidFill>
                  <a:schemeClr val="dk1"/>
                </a:solidFill>
                <a:latin typeface="+mn-lt"/>
                <a:ea typeface="+mn-ea"/>
                <a:cs typeface="+mn-cs"/>
              </a:defRPr>
            </a:lvl9pPr>
          </a:lstStyle>
          <a:p>
            <a:r>
              <a:rPr lang="en-US" sz="3600" b="1" dirty="0">
                <a:solidFill>
                  <a:srgbClr val="C00000"/>
                </a:solidFill>
                <a:latin typeface="Times New Roman" panose="02020603050405020304" pitchFamily="18" charset="0"/>
                <a:cs typeface="Times New Roman" panose="02020603050405020304" pitchFamily="18" charset="0"/>
              </a:rPr>
              <a:t>	Tools and software used</a:t>
            </a:r>
          </a:p>
        </p:txBody>
      </p:sp>
    </p:spTree>
    <p:extLst>
      <p:ext uri="{BB962C8B-B14F-4D97-AF65-F5344CB8AC3E}">
        <p14:creationId xmlns:p14="http://schemas.microsoft.com/office/powerpoint/2010/main" val="4207176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6F43EF-DBB5-4216-B505-7354646FF6CB}"/>
              </a:ext>
            </a:extLst>
          </p:cNvPr>
          <p:cNvSpPr>
            <a:spLocks noGrp="1"/>
          </p:cNvSpPr>
          <p:nvPr>
            <p:ph type="body" idx="1"/>
          </p:nvPr>
        </p:nvSpPr>
        <p:spPr>
          <a:xfrm>
            <a:off x="967690" y="1070806"/>
            <a:ext cx="10539948" cy="4555200"/>
          </a:xfrm>
        </p:spPr>
        <p:txBody>
          <a:bodyPr/>
          <a:lstStyle/>
          <a:p>
            <a:pPr lvl="0"/>
            <a:r>
              <a:rPr lang="en-US" dirty="0">
                <a:latin typeface="Times New Roman" panose="02020603050405020304" pitchFamily="18" charset="0"/>
                <a:cs typeface="Times New Roman" panose="02020603050405020304" pitchFamily="18" charset="0"/>
              </a:rPr>
              <a:t>Lookup Table</a:t>
            </a:r>
          </a:p>
          <a:p>
            <a:pPr lvl="0"/>
            <a:r>
              <a:rPr lang="en-US" dirty="0">
                <a:latin typeface="Times New Roman" panose="02020603050405020304" pitchFamily="18" charset="0"/>
                <a:cs typeface="Times New Roman" panose="02020603050405020304" pitchFamily="18" charset="0"/>
              </a:rPr>
              <a:t>LSTM</a:t>
            </a:r>
          </a:p>
          <a:p>
            <a:pPr lvl="0"/>
            <a:r>
              <a:rPr lang="en-US" dirty="0">
                <a:latin typeface="Times New Roman" panose="02020603050405020304" pitchFamily="18" charset="0"/>
                <a:cs typeface="Times New Roman" panose="02020603050405020304" pitchFamily="18" charset="0"/>
              </a:rPr>
              <a:t>Model Training</a:t>
            </a:r>
          </a:p>
          <a:p>
            <a:pPr lvl="0"/>
            <a:r>
              <a:rPr lang="en-US" dirty="0">
                <a:latin typeface="Times New Roman" panose="02020603050405020304" pitchFamily="18" charset="0"/>
                <a:cs typeface="Times New Roman" panose="02020603050405020304" pitchFamily="18" charset="0"/>
              </a:rPr>
              <a:t>Integration of LSTM with TEF for control action</a:t>
            </a:r>
          </a:p>
          <a:p>
            <a:r>
              <a:rPr lang="en-US" dirty="0">
                <a:latin typeface="Times New Roman" panose="02020603050405020304" pitchFamily="18" charset="0"/>
                <a:cs typeface="Times New Roman" panose="02020603050405020304" pitchFamily="18" charset="0"/>
              </a:rPr>
              <a:t>Testing &amp; Validation:</a:t>
            </a:r>
          </a:p>
          <a:p>
            <a:r>
              <a:rPr lang="en-US" dirty="0">
                <a:latin typeface="Times New Roman" panose="02020603050405020304" pitchFamily="18" charset="0"/>
                <a:cs typeface="Times New Roman" panose="02020603050405020304" pitchFamily="18" charset="0"/>
              </a:rPr>
              <a:t>Documentation</a:t>
            </a:r>
          </a:p>
        </p:txBody>
      </p:sp>
      <p:sp>
        <p:nvSpPr>
          <p:cNvPr id="6" name="Title 1">
            <a:extLst>
              <a:ext uri="{FF2B5EF4-FFF2-40B4-BE49-F238E27FC236}">
                <a16:creationId xmlns:a16="http://schemas.microsoft.com/office/drawing/2014/main" id="{E42272B6-2F9F-D24F-003D-17287E14A0AD}"/>
              </a:ext>
            </a:extLst>
          </p:cNvPr>
          <p:cNvSpPr txBox="1">
            <a:spLocks/>
          </p:cNvSpPr>
          <p:nvPr/>
        </p:nvSpPr>
        <p:spPr>
          <a:xfrm>
            <a:off x="0" y="0"/>
            <a:ext cx="12192000" cy="810736"/>
          </a:xfrm>
          <a:prstGeom prst="rect">
            <a:avLst/>
          </a:prstGeom>
        </p:spPr>
        <p:style>
          <a:lnRef idx="1">
            <a:schemeClr val="accent2"/>
          </a:lnRef>
          <a:fillRef idx="2">
            <a:schemeClr val="accent2"/>
          </a:fillRef>
          <a:effectRef idx="1">
            <a:schemeClr val="accent2"/>
          </a:effectRef>
          <a:fontRef idx="minor">
            <a:schemeClr val="dk1"/>
          </a:fontRef>
        </p:style>
        <p:txBody>
          <a:bodyPr anchor="ct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solidFill>
                  <a:srgbClr val="002060"/>
                </a:solidFill>
                <a:latin typeface="Times New Roman" panose="02020603050405020304" pitchFamily="18" charset="0"/>
                <a:cs typeface="Times New Roman" panose="02020603050405020304" pitchFamily="18" charset="0"/>
              </a:rPr>
              <a:t>	Remaining Work</a:t>
            </a:r>
          </a:p>
        </p:txBody>
      </p:sp>
    </p:spTree>
    <p:extLst>
      <p:ext uri="{BB962C8B-B14F-4D97-AF65-F5344CB8AC3E}">
        <p14:creationId xmlns:p14="http://schemas.microsoft.com/office/powerpoint/2010/main" val="1578064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EBCF031-4F8A-46F5-8381-7F75E9259EF3}"/>
              </a:ext>
            </a:extLst>
          </p:cNvPr>
          <p:cNvSpPr>
            <a:spLocks noGrp="1"/>
          </p:cNvSpPr>
          <p:nvPr>
            <p:ph type="body" idx="1"/>
          </p:nvPr>
        </p:nvSpPr>
        <p:spPr>
          <a:xfrm>
            <a:off x="831200" y="993169"/>
            <a:ext cx="10788581" cy="4555200"/>
          </a:xfrm>
        </p:spPr>
        <p:txBody>
          <a:bodyPr/>
          <a:lstStyle/>
          <a:p>
            <a:pPr algn="just"/>
            <a:r>
              <a:rPr lang="en-US" dirty="0">
                <a:latin typeface="Times New Roman" panose="02020603050405020304" pitchFamily="18" charset="0"/>
                <a:cs typeface="Times New Roman" panose="02020603050405020304" pitchFamily="18" charset="0"/>
              </a:rPr>
              <a:t>TEF Framework for IEEE-9 Bus is developed and Stability is analyzed in the result section.</a:t>
            </a:r>
          </a:p>
          <a:p>
            <a:pPr marL="152396"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IEEE39 bus system is completely developed in PSSE</a:t>
            </a:r>
          </a:p>
          <a:p>
            <a:pPr marL="152396"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Result for the different fault location has been analyzed at current stage in IEEE 39 Bus system using PSSE along with Training Data Collection</a:t>
            </a:r>
          </a:p>
          <a:p>
            <a:pPr algn="just"/>
            <a:endParaRPr lang="en-US" dirty="0">
              <a:latin typeface="Times New Roman" panose="02020603050405020304" pitchFamily="18" charset="0"/>
              <a:cs typeface="Times New Roman" panose="02020603050405020304" pitchFamily="18" charset="0"/>
            </a:endParaRPr>
          </a:p>
          <a:p>
            <a:pPr marL="152396" indent="0" algn="just">
              <a:buNone/>
            </a:pPr>
            <a:endParaRPr lang="en-US"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ED8E04CA-DE4A-4642-4F55-899AABF45B32}"/>
              </a:ext>
            </a:extLst>
          </p:cNvPr>
          <p:cNvSpPr txBox="1">
            <a:spLocks/>
          </p:cNvSpPr>
          <p:nvPr/>
        </p:nvSpPr>
        <p:spPr>
          <a:xfrm>
            <a:off x="0" y="0"/>
            <a:ext cx="11542143" cy="810736"/>
          </a:xfrm>
          <a:prstGeom prst="rect">
            <a:avLst/>
          </a:prstGeom>
        </p:spPr>
        <p:style>
          <a:lnRef idx="1">
            <a:schemeClr val="accent2"/>
          </a:lnRef>
          <a:fillRef idx="2">
            <a:schemeClr val="accent2"/>
          </a:fillRef>
          <a:effectRef idx="1">
            <a:schemeClr val="accent2"/>
          </a:effectRef>
          <a:fontRef idx="minor">
            <a:schemeClr val="dk1"/>
          </a:fontRef>
        </p:style>
        <p:txBody>
          <a:bodyPr anchor="ct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solidFill>
                  <a:srgbClr val="002060"/>
                </a:solidFill>
                <a:latin typeface="Times New Roman" panose="02020603050405020304" pitchFamily="18" charset="0"/>
                <a:cs typeface="Times New Roman" panose="02020603050405020304" pitchFamily="18" charset="0"/>
              </a:rPr>
              <a:t>	Conclusion</a:t>
            </a:r>
          </a:p>
        </p:txBody>
      </p:sp>
    </p:spTree>
    <p:extLst>
      <p:ext uri="{BB962C8B-B14F-4D97-AF65-F5344CB8AC3E}">
        <p14:creationId xmlns:p14="http://schemas.microsoft.com/office/powerpoint/2010/main" val="3322459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5;p24">
            <a:extLst>
              <a:ext uri="{FF2B5EF4-FFF2-40B4-BE49-F238E27FC236}">
                <a16:creationId xmlns:a16="http://schemas.microsoft.com/office/drawing/2014/main" id="{ABAD5285-3787-4A10-BC8E-9EE744D80F5B}"/>
              </a:ext>
            </a:extLst>
          </p:cNvPr>
          <p:cNvSpPr txBox="1">
            <a:spLocks noGrp="1"/>
          </p:cNvSpPr>
          <p:nvPr>
            <p:ph type="title"/>
          </p:nvPr>
        </p:nvSpPr>
        <p:spPr>
          <a:xfrm>
            <a:off x="-1" y="0"/>
            <a:ext cx="11731925" cy="1003630"/>
          </a:xfrm>
          <a:prstGeom prst="rect">
            <a:avLst/>
          </a:prstGeom>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rmAutofit/>
          </a:bodyPr>
          <a:lstStyle/>
          <a:p>
            <a:pPr marL="0" lvl="0" indent="0" algn="l" rtl="0">
              <a:spcBef>
                <a:spcPts val="0"/>
              </a:spcBef>
              <a:spcAft>
                <a:spcPts val="0"/>
              </a:spcAft>
              <a:buNone/>
            </a:pPr>
            <a:r>
              <a:rPr lang="en" sz="2400" b="1" dirty="0">
                <a:solidFill>
                  <a:srgbClr val="C00000"/>
                </a:solidFill>
                <a:latin typeface="Times New Roman" panose="02020603050405020304" pitchFamily="18" charset="0"/>
                <a:cs typeface="Times New Roman" panose="02020603050405020304" pitchFamily="18" charset="0"/>
              </a:rPr>
              <a:t>	References</a:t>
            </a:r>
            <a:endParaRPr sz="2400" b="1" dirty="0">
              <a:solidFill>
                <a:srgbClr val="C00000"/>
              </a:solidFill>
              <a:latin typeface="Times New Roman" panose="02020603050405020304" pitchFamily="18" charset="0"/>
              <a:cs typeface="Times New Roman" panose="02020603050405020304" pitchFamily="18" charset="0"/>
            </a:endParaRPr>
          </a:p>
        </p:txBody>
      </p:sp>
      <p:sp>
        <p:nvSpPr>
          <p:cNvPr id="5" name="Google Shape;126;p24">
            <a:extLst>
              <a:ext uri="{FF2B5EF4-FFF2-40B4-BE49-F238E27FC236}">
                <a16:creationId xmlns:a16="http://schemas.microsoft.com/office/drawing/2014/main" id="{249E0F29-ABEF-499E-A0BD-937ACD441DDD}"/>
              </a:ext>
            </a:extLst>
          </p:cNvPr>
          <p:cNvSpPr txBox="1">
            <a:spLocks noGrp="1"/>
          </p:cNvSpPr>
          <p:nvPr>
            <p:ph type="body" idx="1"/>
          </p:nvPr>
        </p:nvSpPr>
        <p:spPr>
          <a:xfrm>
            <a:off x="831850" y="1346918"/>
            <a:ext cx="10900075" cy="4737997"/>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solidFill>
                  <a:srgbClr val="00B050"/>
                </a:solidFill>
              </a:rPr>
              <a:t>[1] P. Bhui and N. Senroy, "Real Time Prediction and Control of Transient Stability Using Transient Energy Function," IEEE Trans. Power Syst., doi: 10.1109/TPWRS.2016.2564444.</a:t>
            </a:r>
            <a:endParaRPr dirty="0">
              <a:solidFill>
                <a:srgbClr val="00B050"/>
              </a:solidFill>
            </a:endParaRPr>
          </a:p>
          <a:p>
            <a:pPr marL="0" lvl="0" indent="0" algn="l" rtl="0">
              <a:spcBef>
                <a:spcPts val="1200"/>
              </a:spcBef>
              <a:spcAft>
                <a:spcPts val="0"/>
              </a:spcAft>
              <a:buNone/>
            </a:pPr>
            <a:endParaRPr dirty="0">
              <a:solidFill>
                <a:srgbClr val="00B050"/>
              </a:solidFill>
            </a:endParaRPr>
          </a:p>
          <a:p>
            <a:pPr marL="0" lvl="0" indent="0" algn="l" rtl="0">
              <a:spcBef>
                <a:spcPts val="1200"/>
              </a:spcBef>
              <a:spcAft>
                <a:spcPts val="0"/>
              </a:spcAft>
              <a:buNone/>
            </a:pPr>
            <a:r>
              <a:rPr lang="en" dirty="0">
                <a:solidFill>
                  <a:srgbClr val="00B050"/>
                </a:solidFill>
              </a:rPr>
              <a:t>[2] F. Silva-Rodriguez, H. Raffoul, and Y. Li, “LSTM-Based Net Load Forecasting for Wind and Solar Power-Equipped Microgrids,” in Proceedings of the 2024 IEEE Power &amp; Energy Society General Meeting (PESGM), Seattle, WA, USA, Jul. 2024, pp. 1–6. doi: 10.1109/PESGM56776.2024.1234567.</a:t>
            </a:r>
            <a:endParaRPr dirty="0">
              <a:solidFill>
                <a:srgbClr val="00B050"/>
              </a:solidFill>
            </a:endParaRPr>
          </a:p>
          <a:p>
            <a:pPr marL="0" lvl="0" indent="0" algn="l" rtl="0">
              <a:spcBef>
                <a:spcPts val="1200"/>
              </a:spcBef>
              <a:spcAft>
                <a:spcPts val="0"/>
              </a:spcAft>
              <a:buNone/>
            </a:pPr>
            <a:endParaRPr dirty="0">
              <a:solidFill>
                <a:srgbClr val="00B050"/>
              </a:solidFill>
            </a:endParaRPr>
          </a:p>
          <a:p>
            <a:pPr marL="0" lvl="0" indent="0" algn="l" rtl="0">
              <a:spcBef>
                <a:spcPts val="1200"/>
              </a:spcBef>
              <a:spcAft>
                <a:spcPts val="0"/>
              </a:spcAft>
              <a:buNone/>
            </a:pPr>
            <a:r>
              <a:rPr lang="en" dirty="0">
                <a:solidFill>
                  <a:srgbClr val="00B050"/>
                </a:solidFill>
              </a:rPr>
              <a:t>[3] G. Van Houdt, C. Mosquera, G. Nápoles, “A review on the long short term memory model,” Artificial Intelligence Review, vol. 53, pp. 5929 5955, 2020.</a:t>
            </a:r>
          </a:p>
          <a:p>
            <a:pPr marL="0" lvl="0" indent="0" algn="l" rtl="0">
              <a:spcBef>
                <a:spcPts val="1200"/>
              </a:spcBef>
              <a:spcAft>
                <a:spcPts val="0"/>
              </a:spcAft>
              <a:buNone/>
            </a:pPr>
            <a:endParaRPr dirty="0">
              <a:solidFill>
                <a:srgbClr val="00B050"/>
              </a:solidFill>
            </a:endParaRPr>
          </a:p>
          <a:p>
            <a:pPr marL="0" indent="0">
              <a:spcBef>
                <a:spcPts val="1200"/>
              </a:spcBef>
              <a:spcAft>
                <a:spcPts val="1200"/>
              </a:spcAft>
              <a:buNone/>
            </a:pPr>
            <a:r>
              <a:rPr lang="en-US" dirty="0">
                <a:solidFill>
                  <a:srgbClr val="00B050"/>
                </a:solidFill>
              </a:rPr>
              <a:t>[4] H. D. Chiang, F. Wu and P. </a:t>
            </a:r>
            <a:r>
              <a:rPr lang="en-US" dirty="0" err="1">
                <a:solidFill>
                  <a:srgbClr val="00B050"/>
                </a:solidFill>
              </a:rPr>
              <a:t>Varaiya</a:t>
            </a:r>
            <a:r>
              <a:rPr lang="en-US" dirty="0">
                <a:solidFill>
                  <a:srgbClr val="00B050"/>
                </a:solidFill>
              </a:rPr>
              <a:t>, “A BCU method for direct analysis of power system transient stability,” IEEE Trans. Power Syst., vol. 9, pp. 1194–1208, Aug. 1994.</a:t>
            </a:r>
          </a:p>
          <a:p>
            <a:pPr marL="0" indent="0">
              <a:spcBef>
                <a:spcPts val="1200"/>
              </a:spcBef>
              <a:spcAft>
                <a:spcPts val="1200"/>
              </a:spcAft>
              <a:buNone/>
            </a:pPr>
            <a:r>
              <a:rPr lang="en-US" dirty="0">
                <a:solidFill>
                  <a:srgbClr val="00B050"/>
                </a:solidFill>
              </a:rPr>
              <a:t>[5] P. W. Sauer, M. A. Pai, and J. H. Chow, </a:t>
            </a:r>
            <a:r>
              <a:rPr lang="en-US" i="1" dirty="0">
                <a:solidFill>
                  <a:srgbClr val="00B050"/>
                </a:solidFill>
              </a:rPr>
              <a:t>Power System Dynamics and Stability, Second Edition</a:t>
            </a:r>
            <a:r>
              <a:rPr lang="en-US" dirty="0">
                <a:solidFill>
                  <a:srgbClr val="00B050"/>
                </a:solidFill>
              </a:rPr>
              <a:t>. Hoboken, NJ, USA: John Wiley &amp; Sons Ltd, 2018.</a:t>
            </a:r>
          </a:p>
          <a:p>
            <a:pPr marL="0" indent="0">
              <a:spcBef>
                <a:spcPts val="1200"/>
              </a:spcBef>
              <a:spcAft>
                <a:spcPts val="1200"/>
              </a:spcAft>
              <a:buNone/>
            </a:pPr>
            <a:endParaRPr lang="en-US" dirty="0">
              <a:solidFill>
                <a:srgbClr val="00B050"/>
              </a:solidFill>
            </a:endParaRPr>
          </a:p>
          <a:p>
            <a:pPr marL="0" indent="0">
              <a:spcBef>
                <a:spcPts val="1200"/>
              </a:spcBef>
              <a:spcAft>
                <a:spcPts val="1200"/>
              </a:spcAft>
              <a:buNone/>
            </a:pPr>
            <a:endParaRPr lang="en-US" dirty="0">
              <a:solidFill>
                <a:srgbClr val="00B050"/>
              </a:solidFill>
            </a:endParaRPr>
          </a:p>
          <a:p>
            <a:pPr marL="0" lvl="0" indent="0" algn="l" rtl="0">
              <a:spcBef>
                <a:spcPts val="1200"/>
              </a:spcBef>
              <a:spcAft>
                <a:spcPts val="1200"/>
              </a:spcAft>
              <a:buNone/>
            </a:pPr>
            <a:endParaRPr dirty="0">
              <a:solidFill>
                <a:srgbClr val="00B050"/>
              </a:solidFill>
            </a:endParaRPr>
          </a:p>
        </p:txBody>
      </p:sp>
    </p:spTree>
    <p:extLst>
      <p:ext uri="{BB962C8B-B14F-4D97-AF65-F5344CB8AC3E}">
        <p14:creationId xmlns:p14="http://schemas.microsoft.com/office/powerpoint/2010/main" val="1761865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D90CE-9D3E-48DB-8CF6-F639DE5765BF}"/>
              </a:ext>
            </a:extLst>
          </p:cNvPr>
          <p:cNvSpPr>
            <a:spLocks noGrp="1"/>
          </p:cNvSpPr>
          <p:nvPr>
            <p:ph type="title"/>
          </p:nvPr>
        </p:nvSpPr>
        <p:spPr>
          <a:xfrm>
            <a:off x="2409593" y="2419709"/>
            <a:ext cx="6658495" cy="1558636"/>
          </a:xfrm>
        </p:spPr>
        <p:txBody>
          <a:bodyPr>
            <a:normAutofit/>
          </a:bodyPr>
          <a:lstStyle/>
          <a:p>
            <a:pPr algn="ctr"/>
            <a:r>
              <a:rPr lang="en-US" sz="8800" dirty="0">
                <a:ln w="0">
                  <a:solidFill>
                    <a:srgbClr val="FF0000"/>
                  </a:solidFill>
                </a:ln>
                <a:solidFill>
                  <a:srgbClr val="00CC00"/>
                </a:solidFill>
                <a:effectLst>
                  <a:glow rad="228600">
                    <a:schemeClr val="accent2">
                      <a:satMod val="175000"/>
                      <a:alpha val="40000"/>
                    </a:schemeClr>
                  </a:glow>
                  <a:reflection blurRad="6350" stA="53000" endA="300" endPos="35500" dir="5400000" sy="-90000" algn="bl" rotWithShape="0"/>
                </a:effectLst>
                <a:latin typeface="Edwardian Script ITC" panose="030303020407070D0804" pitchFamily="66" charset="0"/>
                <a:cs typeface="Times New Roman" panose="02020603050405020304" pitchFamily="18" charset="0"/>
              </a:rPr>
              <a:t>Thank You!</a:t>
            </a:r>
          </a:p>
        </p:txBody>
      </p:sp>
    </p:spTree>
    <p:extLst>
      <p:ext uri="{BB962C8B-B14F-4D97-AF65-F5344CB8AC3E}">
        <p14:creationId xmlns:p14="http://schemas.microsoft.com/office/powerpoint/2010/main" val="2636883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2623</TotalTime>
  <Words>1262</Words>
  <Application>Microsoft Office PowerPoint</Application>
  <PresentationFormat>Widescreen</PresentationFormat>
  <Paragraphs>170</Paragraphs>
  <Slides>21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Edwardian Script ITC</vt:lpstr>
      <vt:lpstr>Times New Roman</vt:lpstr>
      <vt:lpstr>Office Theme</vt:lpstr>
      <vt:lpstr>LSTM-BASED APPROACH FOR GENERATOR STATE PREDICTION IN TRANSIENT STABILITY ASSESSMENT AND CONTROL USING TRANSIENT ENERGY FUNCTION </vt:lpstr>
      <vt:lpstr> Introduction</vt:lpstr>
      <vt:lpstr>Swing Equation and State-Space Formulation</vt:lpstr>
      <vt:lpstr>Lyapunov Function</vt:lpstr>
      <vt:lpstr> Literature Review</vt:lpstr>
      <vt:lpstr> Literature Review</vt:lpstr>
      <vt:lpstr> Problem Statements</vt:lpstr>
      <vt:lpstr> Objectives</vt:lpstr>
      <vt:lpstr> METHODOLOGY</vt:lpstr>
      <vt:lpstr> METHODOLOGY</vt:lpstr>
      <vt:lpstr>PowerPoint Presentation</vt:lpstr>
      <vt:lpstr>System Under Consideration</vt:lpstr>
      <vt:lpstr> Result And Analysis</vt:lpstr>
      <vt:lpstr> Result And Analysis</vt:lpstr>
      <vt:lpstr>PowerPoint Presentation</vt:lpstr>
      <vt:lpstr>PowerPoint Presentation</vt:lpstr>
      <vt:lpstr>PowerPoint Presentation</vt:lpstr>
      <vt:lpstr>PowerPoint Presentation</vt:lpstr>
      <vt:lpstr>PowerPoint Presentation</vt:lpstr>
      <vt:lpstr>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LSTM-BASED APPROACH FOR GENERATOR STATE PREDICTION IN TRANSIENT STABILITY ASSESSMENT AND CONTROL USING TRANSIENT ENERGY FUNCTION</dc:title>
  <dc:creator>chandan sah</dc:creator>
  <cp:lastModifiedBy>chandan sah</cp:lastModifiedBy>
  <cp:revision>58</cp:revision>
  <dcterms:created xsi:type="dcterms:W3CDTF">2025-11-20T14:42:29Z</dcterms:created>
  <dcterms:modified xsi:type="dcterms:W3CDTF">2025-11-28T18:25:58Z</dcterms:modified>
</cp:coreProperties>
</file>