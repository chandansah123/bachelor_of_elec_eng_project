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7" r:id="rId2"/>
    <p:sldId id="258" r:id="rId3"/>
    <p:sldId id="268" r:id="rId4"/>
    <p:sldId id="279" r:id="rId5"/>
    <p:sldId id="280" r:id="rId6"/>
    <p:sldId id="281" r:id="rId7"/>
    <p:sldId id="285" r:id="rId8"/>
    <p:sldId id="286" r:id="rId9"/>
    <p:sldId id="272" r:id="rId10"/>
    <p:sldId id="274" r:id="rId11"/>
    <p:sldId id="256" r:id="rId12"/>
    <p:sldId id="276" r:id="rId13"/>
    <p:sldId id="273" r:id="rId14"/>
    <p:sldId id="275" r:id="rId15"/>
    <p:sldId id="282" r:id="rId16"/>
    <p:sldId id="283" r:id="rId17"/>
    <p:sldId id="289" r:id="rId18"/>
    <p:sldId id="259" r:id="rId19"/>
    <p:sldId id="260" r:id="rId20"/>
    <p:sldId id="261" r:id="rId21"/>
    <p:sldId id="262" r:id="rId22"/>
    <p:sldId id="263" r:id="rId23"/>
    <p:sldId id="264" r:id="rId24"/>
    <p:sldId id="287" r:id="rId25"/>
    <p:sldId id="288" r:id="rId26"/>
    <p:sldId id="278" r:id="rId27"/>
    <p:sldId id="27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11" autoAdjust="0"/>
    <p:restoredTop sz="94660"/>
  </p:normalViewPr>
  <p:slideViewPr>
    <p:cSldViewPr snapToGrid="0">
      <p:cViewPr varScale="1">
        <p:scale>
          <a:sx n="92" d="100"/>
          <a:sy n="92" d="100"/>
        </p:scale>
        <p:origin x="34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7C370-CFE9-4605-94F7-B858C0323FFE}" type="datetimeFigureOut">
              <a:rPr lang="en-US" smtClean="0"/>
              <a:t>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DBCD54-85D4-46CD-B93D-893A21AE0D7E}" type="slidenum">
              <a:rPr lang="en-US" smtClean="0"/>
              <a:t>‹#›</a:t>
            </a:fld>
            <a:endParaRPr lang="en-US"/>
          </a:p>
        </p:txBody>
      </p:sp>
    </p:spTree>
    <p:extLst>
      <p:ext uri="{BB962C8B-B14F-4D97-AF65-F5344CB8AC3E}">
        <p14:creationId xmlns:p14="http://schemas.microsoft.com/office/powerpoint/2010/main" val="3281619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6a5399006a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6a5399006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6a5399006a_3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6a5399006a_3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9412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0BAF8-FCFB-49F9-B016-D10811143A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70F006-DD40-4D2A-BB4C-64ADA38C11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B5A819-50F2-4D31-8AFC-1C8FCCB5331C}"/>
              </a:ext>
            </a:extLst>
          </p:cNvPr>
          <p:cNvSpPr>
            <a:spLocks noGrp="1"/>
          </p:cNvSpPr>
          <p:nvPr>
            <p:ph type="dt" sz="half" idx="10"/>
          </p:nvPr>
        </p:nvSpPr>
        <p:spPr/>
        <p:txBody>
          <a:bodyPr/>
          <a:lstStyle/>
          <a:p>
            <a:fld id="{D9E58779-8291-43BC-BAC1-6C6DE2A92424}" type="datetimeFigureOut">
              <a:rPr lang="en-US" smtClean="0"/>
              <a:t>1/6/2026</a:t>
            </a:fld>
            <a:endParaRPr lang="en-US"/>
          </a:p>
        </p:txBody>
      </p:sp>
      <p:sp>
        <p:nvSpPr>
          <p:cNvPr id="5" name="Footer Placeholder 4">
            <a:extLst>
              <a:ext uri="{FF2B5EF4-FFF2-40B4-BE49-F238E27FC236}">
                <a16:creationId xmlns:a16="http://schemas.microsoft.com/office/drawing/2014/main" id="{A847E81F-0FB8-4098-BE03-4D6A295F7F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F60993-C68C-43C8-875B-86319F7C8FEC}"/>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182138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AB0FA-DD7B-432C-9A41-CA123E23E0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954BBE-0CBE-4B85-9055-DFBAC8072C2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900BC0-3B1F-45B7-A5F5-BD3FB132369A}"/>
              </a:ext>
            </a:extLst>
          </p:cNvPr>
          <p:cNvSpPr>
            <a:spLocks noGrp="1"/>
          </p:cNvSpPr>
          <p:nvPr>
            <p:ph type="dt" sz="half" idx="10"/>
          </p:nvPr>
        </p:nvSpPr>
        <p:spPr/>
        <p:txBody>
          <a:bodyPr/>
          <a:lstStyle/>
          <a:p>
            <a:fld id="{D9E58779-8291-43BC-BAC1-6C6DE2A92424}" type="datetimeFigureOut">
              <a:rPr lang="en-US" smtClean="0"/>
              <a:t>1/6/2026</a:t>
            </a:fld>
            <a:endParaRPr lang="en-US"/>
          </a:p>
        </p:txBody>
      </p:sp>
      <p:sp>
        <p:nvSpPr>
          <p:cNvPr id="5" name="Footer Placeholder 4">
            <a:extLst>
              <a:ext uri="{FF2B5EF4-FFF2-40B4-BE49-F238E27FC236}">
                <a16:creationId xmlns:a16="http://schemas.microsoft.com/office/drawing/2014/main" id="{EB714B94-8541-42C0-9F95-20A5BB644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3D042C-D89A-4B72-8A40-B6E6040E9A20}"/>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182070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2EE3E-DC3E-496B-859E-F14999A7A3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A0C02A-9003-4383-B465-59A077B420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5636F5E-FA9D-401C-AA32-800E2ABF2D80}"/>
              </a:ext>
            </a:extLst>
          </p:cNvPr>
          <p:cNvSpPr>
            <a:spLocks noGrp="1"/>
          </p:cNvSpPr>
          <p:nvPr>
            <p:ph type="dt" sz="half" idx="10"/>
          </p:nvPr>
        </p:nvSpPr>
        <p:spPr/>
        <p:txBody>
          <a:bodyPr/>
          <a:lstStyle/>
          <a:p>
            <a:fld id="{D9E58779-8291-43BC-BAC1-6C6DE2A92424}" type="datetimeFigureOut">
              <a:rPr lang="en-US" smtClean="0"/>
              <a:t>1/6/2026</a:t>
            </a:fld>
            <a:endParaRPr lang="en-US"/>
          </a:p>
        </p:txBody>
      </p:sp>
      <p:sp>
        <p:nvSpPr>
          <p:cNvPr id="5" name="Footer Placeholder 4">
            <a:extLst>
              <a:ext uri="{FF2B5EF4-FFF2-40B4-BE49-F238E27FC236}">
                <a16:creationId xmlns:a16="http://schemas.microsoft.com/office/drawing/2014/main" id="{53ACF3A5-7FEA-48E2-9012-9EF5DFB560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E1F64F-7B2F-47D8-95D4-C3800B01A26A}"/>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1314764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4856C-F788-4558-942B-6D9869FE8B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9CCBA6-4ED1-429C-8D56-C234A9AD5EC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8230D6-B0B0-4754-82CF-3CB2288B97B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544DA2-0EA0-4B4A-90C0-30334A78A372}"/>
              </a:ext>
            </a:extLst>
          </p:cNvPr>
          <p:cNvSpPr>
            <a:spLocks noGrp="1"/>
          </p:cNvSpPr>
          <p:nvPr>
            <p:ph type="dt" sz="half" idx="10"/>
          </p:nvPr>
        </p:nvSpPr>
        <p:spPr/>
        <p:txBody>
          <a:bodyPr/>
          <a:lstStyle/>
          <a:p>
            <a:fld id="{D9E58779-8291-43BC-BAC1-6C6DE2A92424}" type="datetimeFigureOut">
              <a:rPr lang="en-US" smtClean="0"/>
              <a:t>1/6/2026</a:t>
            </a:fld>
            <a:endParaRPr lang="en-US"/>
          </a:p>
        </p:txBody>
      </p:sp>
      <p:sp>
        <p:nvSpPr>
          <p:cNvPr id="6" name="Footer Placeholder 5">
            <a:extLst>
              <a:ext uri="{FF2B5EF4-FFF2-40B4-BE49-F238E27FC236}">
                <a16:creationId xmlns:a16="http://schemas.microsoft.com/office/drawing/2014/main" id="{53FCAB89-FB8B-4101-9CF3-045F9F45A6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973D6A-C18A-4374-87C6-B30AAB7E3DEA}"/>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3931411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FDB96-0283-4AB4-A964-83A0AA1CB9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BE7FB2-0393-4D72-9237-7D1FEB2CE9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2B81D89-B7CD-4699-8599-E443C0E4233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37ACF3-6259-47B2-9B64-5E2FEA80A8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72BFFE6-F40E-4629-98FF-4BDDBE0AA0A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75B154-5C0F-439E-85E0-11DB0B69EB80}"/>
              </a:ext>
            </a:extLst>
          </p:cNvPr>
          <p:cNvSpPr>
            <a:spLocks noGrp="1"/>
          </p:cNvSpPr>
          <p:nvPr>
            <p:ph type="dt" sz="half" idx="10"/>
          </p:nvPr>
        </p:nvSpPr>
        <p:spPr/>
        <p:txBody>
          <a:bodyPr/>
          <a:lstStyle/>
          <a:p>
            <a:fld id="{D9E58779-8291-43BC-BAC1-6C6DE2A92424}" type="datetimeFigureOut">
              <a:rPr lang="en-US" smtClean="0"/>
              <a:t>1/6/2026</a:t>
            </a:fld>
            <a:endParaRPr lang="en-US"/>
          </a:p>
        </p:txBody>
      </p:sp>
      <p:sp>
        <p:nvSpPr>
          <p:cNvPr id="8" name="Footer Placeholder 7">
            <a:extLst>
              <a:ext uri="{FF2B5EF4-FFF2-40B4-BE49-F238E27FC236}">
                <a16:creationId xmlns:a16="http://schemas.microsoft.com/office/drawing/2014/main" id="{826E3C18-F3F4-49A1-8164-0B91725A0B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F488E99-3D3F-4316-AC4D-EE806BCDDF7D}"/>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487972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DC2DA-9F15-4A71-8768-351B1CA436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BDB2F9-61DA-4DF2-A20F-B3E723A3A6AD}"/>
              </a:ext>
            </a:extLst>
          </p:cNvPr>
          <p:cNvSpPr>
            <a:spLocks noGrp="1"/>
          </p:cNvSpPr>
          <p:nvPr>
            <p:ph type="dt" sz="half" idx="10"/>
          </p:nvPr>
        </p:nvSpPr>
        <p:spPr/>
        <p:txBody>
          <a:bodyPr/>
          <a:lstStyle/>
          <a:p>
            <a:fld id="{D9E58779-8291-43BC-BAC1-6C6DE2A92424}" type="datetimeFigureOut">
              <a:rPr lang="en-US" smtClean="0"/>
              <a:t>1/6/2026</a:t>
            </a:fld>
            <a:endParaRPr lang="en-US"/>
          </a:p>
        </p:txBody>
      </p:sp>
      <p:sp>
        <p:nvSpPr>
          <p:cNvPr id="4" name="Footer Placeholder 3">
            <a:extLst>
              <a:ext uri="{FF2B5EF4-FFF2-40B4-BE49-F238E27FC236}">
                <a16:creationId xmlns:a16="http://schemas.microsoft.com/office/drawing/2014/main" id="{AD917E58-ACB9-42CB-8391-B4EC80F99C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1D22E3-52FA-483F-AB5C-4823C92F11D0}"/>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3414823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97DA7F-5213-4EA1-A192-BA566A0A135F}"/>
              </a:ext>
            </a:extLst>
          </p:cNvPr>
          <p:cNvSpPr>
            <a:spLocks noGrp="1"/>
          </p:cNvSpPr>
          <p:nvPr>
            <p:ph type="dt" sz="half" idx="10"/>
          </p:nvPr>
        </p:nvSpPr>
        <p:spPr/>
        <p:txBody>
          <a:bodyPr/>
          <a:lstStyle/>
          <a:p>
            <a:fld id="{D9E58779-8291-43BC-BAC1-6C6DE2A92424}" type="datetimeFigureOut">
              <a:rPr lang="en-US" smtClean="0"/>
              <a:t>1/6/2026</a:t>
            </a:fld>
            <a:endParaRPr lang="en-US"/>
          </a:p>
        </p:txBody>
      </p:sp>
      <p:sp>
        <p:nvSpPr>
          <p:cNvPr id="3" name="Footer Placeholder 2">
            <a:extLst>
              <a:ext uri="{FF2B5EF4-FFF2-40B4-BE49-F238E27FC236}">
                <a16:creationId xmlns:a16="http://schemas.microsoft.com/office/drawing/2014/main" id="{4BF2FCED-F3E0-488D-9D5E-07F4EB5856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67FC29-231F-4C09-A267-005ECDF128DA}"/>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4109774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FFB54-7892-42DB-8ED2-3E8F70D9F6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7B1D5C-B041-4DDC-8C63-3314204C51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95C100-A146-49F7-AABA-FA7033E62E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E2D1CC6-014A-4BFE-8C31-A4F42DB86EED}"/>
              </a:ext>
            </a:extLst>
          </p:cNvPr>
          <p:cNvSpPr>
            <a:spLocks noGrp="1"/>
          </p:cNvSpPr>
          <p:nvPr>
            <p:ph type="dt" sz="half" idx="10"/>
          </p:nvPr>
        </p:nvSpPr>
        <p:spPr/>
        <p:txBody>
          <a:bodyPr/>
          <a:lstStyle/>
          <a:p>
            <a:fld id="{D9E58779-8291-43BC-BAC1-6C6DE2A92424}" type="datetimeFigureOut">
              <a:rPr lang="en-US" smtClean="0"/>
              <a:t>1/6/2026</a:t>
            </a:fld>
            <a:endParaRPr lang="en-US"/>
          </a:p>
        </p:txBody>
      </p:sp>
      <p:sp>
        <p:nvSpPr>
          <p:cNvPr id="6" name="Footer Placeholder 5">
            <a:extLst>
              <a:ext uri="{FF2B5EF4-FFF2-40B4-BE49-F238E27FC236}">
                <a16:creationId xmlns:a16="http://schemas.microsoft.com/office/drawing/2014/main" id="{F8C7796E-1703-40A9-9707-63F1E753B3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65681A-B4F9-42EB-8024-2D8A98F81809}"/>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313427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C0D25-A2A7-4D86-8E24-256D75B1D2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763AF9-6B5D-465F-B409-6CE8D87345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C2FFFC-03C5-4B03-84FB-6EE3434AC4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5C956DB-0D16-47CF-B1E6-62D1EA8A9590}"/>
              </a:ext>
            </a:extLst>
          </p:cNvPr>
          <p:cNvSpPr>
            <a:spLocks noGrp="1"/>
          </p:cNvSpPr>
          <p:nvPr>
            <p:ph type="dt" sz="half" idx="10"/>
          </p:nvPr>
        </p:nvSpPr>
        <p:spPr/>
        <p:txBody>
          <a:bodyPr/>
          <a:lstStyle/>
          <a:p>
            <a:fld id="{D9E58779-8291-43BC-BAC1-6C6DE2A92424}" type="datetimeFigureOut">
              <a:rPr lang="en-US" smtClean="0"/>
              <a:t>1/6/2026</a:t>
            </a:fld>
            <a:endParaRPr lang="en-US"/>
          </a:p>
        </p:txBody>
      </p:sp>
      <p:sp>
        <p:nvSpPr>
          <p:cNvPr id="6" name="Footer Placeholder 5">
            <a:extLst>
              <a:ext uri="{FF2B5EF4-FFF2-40B4-BE49-F238E27FC236}">
                <a16:creationId xmlns:a16="http://schemas.microsoft.com/office/drawing/2014/main" id="{C085E093-E863-4152-A03E-E7B94575D8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FFCC3-001C-487F-BC13-060DDE31238D}"/>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285146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7B4CB-C6D9-4736-A057-B61B8A88C4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C85649-823C-4475-9466-F59B20218EF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61750F-33B9-484B-8A9E-2236E9DFFCCC}"/>
              </a:ext>
            </a:extLst>
          </p:cNvPr>
          <p:cNvSpPr>
            <a:spLocks noGrp="1"/>
          </p:cNvSpPr>
          <p:nvPr>
            <p:ph type="dt" sz="half" idx="10"/>
          </p:nvPr>
        </p:nvSpPr>
        <p:spPr/>
        <p:txBody>
          <a:bodyPr/>
          <a:lstStyle/>
          <a:p>
            <a:fld id="{D9E58779-8291-43BC-BAC1-6C6DE2A92424}" type="datetimeFigureOut">
              <a:rPr lang="en-US" smtClean="0"/>
              <a:t>1/6/2026</a:t>
            </a:fld>
            <a:endParaRPr lang="en-US"/>
          </a:p>
        </p:txBody>
      </p:sp>
      <p:sp>
        <p:nvSpPr>
          <p:cNvPr id="5" name="Footer Placeholder 4">
            <a:extLst>
              <a:ext uri="{FF2B5EF4-FFF2-40B4-BE49-F238E27FC236}">
                <a16:creationId xmlns:a16="http://schemas.microsoft.com/office/drawing/2014/main" id="{E45526C4-437F-4CDC-9CBA-C5A5AFC16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E993DC-ED9B-4408-9FD9-70EF8E20A471}"/>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2882105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43CD41-0DEC-4776-ADD5-4AA6ACDE8C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1DBBC1-31DB-42A5-B4BC-6A6FB5DAB23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8CA665-FB31-4614-B4E2-6E3A70F25BF5}"/>
              </a:ext>
            </a:extLst>
          </p:cNvPr>
          <p:cNvSpPr>
            <a:spLocks noGrp="1"/>
          </p:cNvSpPr>
          <p:nvPr>
            <p:ph type="dt" sz="half" idx="10"/>
          </p:nvPr>
        </p:nvSpPr>
        <p:spPr/>
        <p:txBody>
          <a:bodyPr/>
          <a:lstStyle/>
          <a:p>
            <a:fld id="{D9E58779-8291-43BC-BAC1-6C6DE2A92424}" type="datetimeFigureOut">
              <a:rPr lang="en-US" smtClean="0"/>
              <a:t>1/6/2026</a:t>
            </a:fld>
            <a:endParaRPr lang="en-US"/>
          </a:p>
        </p:txBody>
      </p:sp>
      <p:sp>
        <p:nvSpPr>
          <p:cNvPr id="5" name="Footer Placeholder 4">
            <a:extLst>
              <a:ext uri="{FF2B5EF4-FFF2-40B4-BE49-F238E27FC236}">
                <a16:creationId xmlns:a16="http://schemas.microsoft.com/office/drawing/2014/main" id="{1AD1D0FF-7905-4F70-B59E-A3837DAE8A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AEDCEC-E307-44C3-A5BD-0F75289533E5}"/>
              </a:ext>
            </a:extLst>
          </p:cNvPr>
          <p:cNvSpPr>
            <a:spLocks noGrp="1"/>
          </p:cNvSpPr>
          <p:nvPr>
            <p:ph type="sldNum" sz="quarter" idx="12"/>
          </p:nvPr>
        </p:nvSpPr>
        <p:spPr/>
        <p:txBody>
          <a:bodyPr/>
          <a:lstStyle/>
          <a:p>
            <a:fld id="{62C18FAA-8270-439E-94D5-4CE47F7F91AB}" type="slidenum">
              <a:rPr lang="en-US" smtClean="0"/>
              <a:t>‹#›</a:t>
            </a:fld>
            <a:endParaRPr lang="en-US"/>
          </a:p>
        </p:txBody>
      </p:sp>
    </p:spTree>
    <p:extLst>
      <p:ext uri="{BB962C8B-B14F-4D97-AF65-F5344CB8AC3E}">
        <p14:creationId xmlns:p14="http://schemas.microsoft.com/office/powerpoint/2010/main" val="454472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83433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75D837-78B9-473E-B707-973E704AF7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DF58EA-CB70-4F6E-AB64-F22263FA55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510AA9-F967-4A3C-B9CD-4268E141BC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E58779-8291-43BC-BAC1-6C6DE2A92424}" type="datetimeFigureOut">
              <a:rPr lang="en-US" smtClean="0"/>
              <a:t>1/6/2026</a:t>
            </a:fld>
            <a:endParaRPr lang="en-US"/>
          </a:p>
        </p:txBody>
      </p:sp>
      <p:sp>
        <p:nvSpPr>
          <p:cNvPr id="5" name="Footer Placeholder 4">
            <a:extLst>
              <a:ext uri="{FF2B5EF4-FFF2-40B4-BE49-F238E27FC236}">
                <a16:creationId xmlns:a16="http://schemas.microsoft.com/office/drawing/2014/main" id="{E1D8879C-EF2A-4CBA-81AB-797F8DF6ED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D5976D-EDE2-4DAB-9639-EC2155A0D4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C18FAA-8270-439E-94D5-4CE47F7F91AB}" type="slidenum">
              <a:rPr lang="en-US" smtClean="0"/>
              <a:t>‹#›</a:t>
            </a:fld>
            <a:endParaRPr lang="en-US"/>
          </a:p>
        </p:txBody>
      </p:sp>
    </p:spTree>
    <p:extLst>
      <p:ext uri="{BB962C8B-B14F-4D97-AF65-F5344CB8AC3E}">
        <p14:creationId xmlns:p14="http://schemas.microsoft.com/office/powerpoint/2010/main" val="2859333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579967" y="614184"/>
            <a:ext cx="10740800" cy="1768177"/>
          </a:xfrm>
          <a:prstGeom prst="rect">
            <a:avLst/>
          </a:prstGeom>
        </p:spPr>
        <p:txBody>
          <a:bodyPr spcFirstLastPara="1" vert="horz" wrap="square" lIns="121900" tIns="121900" rIns="121900" bIns="121900" rtlCol="0" anchor="b" anchorCtr="0">
            <a:normAutofit fontScale="90000"/>
          </a:bodyPr>
          <a:lstStyle/>
          <a:p>
            <a:pPr>
              <a:spcBef>
                <a:spcPts val="0"/>
              </a:spcBef>
            </a:pPr>
            <a:r>
              <a:rPr lang="en" sz="3200" b="1" dirty="0">
                <a:solidFill>
                  <a:srgbClr val="002060"/>
                </a:solidFill>
                <a:latin typeface="Times New Roman" panose="02020603050405020304" pitchFamily="18" charset="0"/>
                <a:cs typeface="Times New Roman" panose="02020603050405020304" pitchFamily="18" charset="0"/>
              </a:rPr>
              <a:t>LSTM-BASED APPROACH FOR GENERATOR STATE PREDICTION IN TRANSIENT STABILITY ASSESSMENT AND CONTROL USING TRANSIENT ENERGY FUNCTION </a:t>
            </a:r>
            <a:endParaRPr sz="6400" b="1" dirty="0">
              <a:solidFill>
                <a:srgbClr val="002060"/>
              </a:solidFill>
              <a:latin typeface="Times New Roman" panose="02020603050405020304" pitchFamily="18" charset="0"/>
              <a:cs typeface="Times New Roman" panose="02020603050405020304" pitchFamily="18" charset="0"/>
            </a:endParaRPr>
          </a:p>
        </p:txBody>
      </p:sp>
      <p:sp>
        <p:nvSpPr>
          <p:cNvPr id="55" name="Google Shape;55;p13"/>
          <p:cNvSpPr txBox="1">
            <a:spLocks noGrp="1"/>
          </p:cNvSpPr>
          <p:nvPr>
            <p:ph type="subTitle" idx="1"/>
          </p:nvPr>
        </p:nvSpPr>
        <p:spPr>
          <a:xfrm>
            <a:off x="415600" y="2627382"/>
            <a:ext cx="11360800" cy="2543134"/>
          </a:xfrm>
          <a:prstGeom prst="rect">
            <a:avLst/>
          </a:prstGeom>
        </p:spPr>
        <p:txBody>
          <a:bodyPr spcFirstLastPara="1" vert="horz" wrap="square" lIns="121900" tIns="121900" rIns="121900" bIns="121900" rtlCol="0" anchor="t" anchorCtr="0">
            <a:normAutofit lnSpcReduction="10000"/>
          </a:bodyPr>
          <a:lstStyle/>
          <a:p>
            <a:pPr>
              <a:spcBef>
                <a:spcPts val="0"/>
              </a:spcBef>
            </a:pPr>
            <a:r>
              <a:rPr lang="en" b="1" u="sng" dirty="0">
                <a:solidFill>
                  <a:srgbClr val="C00000"/>
                </a:solidFill>
                <a:latin typeface="Times New Roman" panose="02020603050405020304" pitchFamily="18" charset="0"/>
                <a:cs typeface="Times New Roman" panose="02020603050405020304" pitchFamily="18" charset="0"/>
              </a:rPr>
              <a:t>Presented By:</a:t>
            </a:r>
          </a:p>
          <a:p>
            <a:pPr>
              <a:spcBef>
                <a:spcPts val="0"/>
              </a:spcBef>
            </a:pPr>
            <a:endParaRPr b="1" u="sng" dirty="0">
              <a:solidFill>
                <a:srgbClr val="C00000"/>
              </a:solidFill>
              <a:latin typeface="Times New Roman" panose="02020603050405020304" pitchFamily="18" charset="0"/>
              <a:cs typeface="Times New Roman" panose="02020603050405020304" pitchFamily="18" charset="0"/>
            </a:endParaRPr>
          </a:p>
          <a:p>
            <a:pPr>
              <a:spcBef>
                <a:spcPts val="0"/>
              </a:spcBef>
            </a:pPr>
            <a:r>
              <a:rPr lang="en" dirty="0">
                <a:solidFill>
                  <a:schemeClr val="tx1"/>
                </a:solidFill>
                <a:latin typeface="Times New Roman" panose="02020603050405020304" pitchFamily="18" charset="0"/>
                <a:cs typeface="Times New Roman" panose="02020603050405020304" pitchFamily="18" charset="0"/>
              </a:rPr>
              <a:t>Bhupesh Jaishi (078BEL026)</a:t>
            </a:r>
            <a:endParaRPr dirty="0">
              <a:solidFill>
                <a:schemeClr val="tx1"/>
              </a:solidFill>
              <a:latin typeface="Times New Roman" panose="02020603050405020304" pitchFamily="18" charset="0"/>
              <a:cs typeface="Times New Roman" panose="02020603050405020304" pitchFamily="18" charset="0"/>
            </a:endParaRPr>
          </a:p>
          <a:p>
            <a:pPr>
              <a:spcBef>
                <a:spcPts val="0"/>
              </a:spcBef>
            </a:pPr>
            <a:r>
              <a:rPr lang="en" dirty="0">
                <a:solidFill>
                  <a:schemeClr val="tx1"/>
                </a:solidFill>
                <a:latin typeface="Times New Roman" panose="02020603050405020304" pitchFamily="18" charset="0"/>
                <a:cs typeface="Times New Roman" panose="02020603050405020304" pitchFamily="18" charset="0"/>
              </a:rPr>
              <a:t> Binod Kumar Sah (078BEL030) </a:t>
            </a:r>
            <a:endParaRPr dirty="0">
              <a:solidFill>
                <a:schemeClr val="tx1"/>
              </a:solidFill>
              <a:latin typeface="Times New Roman" panose="02020603050405020304" pitchFamily="18" charset="0"/>
              <a:cs typeface="Times New Roman" panose="02020603050405020304" pitchFamily="18" charset="0"/>
            </a:endParaRPr>
          </a:p>
          <a:p>
            <a:pPr>
              <a:spcBef>
                <a:spcPts val="0"/>
              </a:spcBef>
            </a:pPr>
            <a:r>
              <a:rPr lang="en" dirty="0">
                <a:solidFill>
                  <a:schemeClr val="tx1"/>
                </a:solidFill>
                <a:latin typeface="Times New Roman" panose="02020603050405020304" pitchFamily="18" charset="0"/>
                <a:cs typeface="Times New Roman" panose="02020603050405020304" pitchFamily="18" charset="0"/>
              </a:rPr>
              <a:t>Bishal Chaurasiya (078BEL031) </a:t>
            </a:r>
            <a:endParaRPr dirty="0">
              <a:solidFill>
                <a:schemeClr val="tx1"/>
              </a:solidFill>
              <a:latin typeface="Times New Roman" panose="02020603050405020304" pitchFamily="18" charset="0"/>
              <a:cs typeface="Times New Roman" panose="02020603050405020304" pitchFamily="18" charset="0"/>
            </a:endParaRPr>
          </a:p>
          <a:p>
            <a:pPr>
              <a:spcBef>
                <a:spcPts val="0"/>
              </a:spcBef>
            </a:pPr>
            <a:r>
              <a:rPr lang="en" dirty="0">
                <a:solidFill>
                  <a:schemeClr val="tx1"/>
                </a:solidFill>
                <a:latin typeface="Times New Roman" panose="02020603050405020304" pitchFamily="18" charset="0"/>
                <a:cs typeface="Times New Roman" panose="02020603050405020304" pitchFamily="18" charset="0"/>
              </a:rPr>
              <a:t>Chandan Sah (078BEL032) </a:t>
            </a:r>
          </a:p>
          <a:p>
            <a:pPr>
              <a:spcBef>
                <a:spcPts val="0"/>
              </a:spcBef>
            </a:pPr>
            <a:r>
              <a:rPr lang="en" dirty="0">
                <a:latin typeface="Times New Roman" panose="02020603050405020304" pitchFamily="18" charset="0"/>
                <a:cs typeface="Times New Roman" panose="02020603050405020304" pitchFamily="18" charset="0"/>
              </a:rPr>
              <a:t>S</a:t>
            </a:r>
            <a:r>
              <a:rPr lang="en-US" dirty="0" err="1">
                <a:latin typeface="Times New Roman" panose="02020603050405020304" pitchFamily="18" charset="0"/>
                <a:cs typeface="Times New Roman" panose="02020603050405020304" pitchFamily="18" charset="0"/>
              </a:rPr>
              <a:t>upervisor</a:t>
            </a:r>
            <a:r>
              <a:rPr lang="en-US" dirty="0">
                <a:latin typeface="Times New Roman" panose="02020603050405020304" pitchFamily="18" charset="0"/>
                <a:cs typeface="Times New Roman" panose="02020603050405020304" pitchFamily="18" charset="0"/>
              </a:rPr>
              <a:t> : Associate Professor Jitendra Chaudhary</a:t>
            </a:r>
            <a:endParaRPr lang="en" dirty="0">
              <a:solidFill>
                <a:schemeClr val="tx1"/>
              </a:solidFill>
              <a:latin typeface="Times New Roman" panose="02020603050405020304" pitchFamily="18" charset="0"/>
              <a:cs typeface="Times New Roman" panose="02020603050405020304" pitchFamily="18" charset="0"/>
            </a:endParaRPr>
          </a:p>
          <a:p>
            <a:pPr>
              <a:spcBef>
                <a:spcPts val="0"/>
              </a:spcBef>
            </a:pPr>
            <a:endParaRPr dirty="0">
              <a:solidFill>
                <a:schemeClr val="tx1"/>
              </a:solidFill>
              <a:latin typeface="Times New Roman" panose="02020603050405020304" pitchFamily="18" charset="0"/>
              <a:cs typeface="Times New Roman" panose="02020603050405020304" pitchFamily="18" charset="0"/>
            </a:endParaRPr>
          </a:p>
        </p:txBody>
      </p:sp>
      <p:sp>
        <p:nvSpPr>
          <p:cNvPr id="56" name="Google Shape;56;p13"/>
          <p:cNvSpPr txBox="1">
            <a:spLocks noGrp="1"/>
          </p:cNvSpPr>
          <p:nvPr>
            <p:ph type="subTitle" idx="1"/>
          </p:nvPr>
        </p:nvSpPr>
        <p:spPr>
          <a:xfrm>
            <a:off x="579543" y="5478737"/>
            <a:ext cx="11032913" cy="765079"/>
          </a:xfrm>
          <a:prstGeom prst="rect">
            <a:avLst/>
          </a:prstGeom>
        </p:spPr>
        <p:txBody>
          <a:bodyPr spcFirstLastPara="1" vert="horz" wrap="square" lIns="121900" tIns="121900" rIns="121900" bIns="121900" rtlCol="0" anchor="t" anchorCtr="0">
            <a:normAutofit fontScale="92500" lnSpcReduction="20000"/>
          </a:bodyPr>
          <a:lstStyle/>
          <a:p>
            <a:pPr>
              <a:spcBef>
                <a:spcPts val="0"/>
              </a:spcBef>
            </a:pPr>
            <a:r>
              <a:rPr lang="en-US" dirty="0">
                <a:latin typeface="Times New Roman" panose="02020603050405020304" pitchFamily="18" charset="0"/>
                <a:cs typeface="Times New Roman" panose="02020603050405020304" pitchFamily="18" charset="0"/>
              </a:rPr>
              <a:t>DEPARTMENT OF ELECTRICAL ENGINEERING</a:t>
            </a:r>
          </a:p>
          <a:p>
            <a:pPr>
              <a:spcBef>
                <a:spcPts val="0"/>
              </a:spcBef>
            </a:pPr>
            <a:r>
              <a:rPr lang="en-US" dirty="0">
                <a:latin typeface="Times New Roman" panose="02020603050405020304" pitchFamily="18" charset="0"/>
                <a:cs typeface="Times New Roman" panose="02020603050405020304" pitchFamily="18" charset="0"/>
              </a:rPr>
              <a:t>IOE, PULCHOWK CAMPUS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415600" y="358300"/>
            <a:ext cx="11360800" cy="763600"/>
          </a:xfrm>
          <a:prstGeom prst="rect">
            <a:avLst/>
          </a:prstGeom>
        </p:spPr>
        <p:txBody>
          <a:bodyPr spcFirstLastPara="1" vert="horz" wrap="square" lIns="121900" tIns="121900" rIns="121900" bIns="121900" rtlCol="0" anchor="t" anchorCtr="0">
            <a:normAutofit fontScale="90000"/>
          </a:bodyPr>
          <a:lstStyle/>
          <a:p>
            <a:r>
              <a:rPr lang="en" b="1" dirty="0">
                <a:solidFill>
                  <a:srgbClr val="C00000"/>
                </a:solidFill>
                <a:latin typeface="Times New Roman" panose="02020603050405020304" pitchFamily="18" charset="0"/>
                <a:cs typeface="Times New Roman" panose="02020603050405020304" pitchFamily="18" charset="0"/>
              </a:rPr>
              <a:t>Introduction</a:t>
            </a:r>
            <a:endParaRPr b="1" dirty="0">
              <a:solidFill>
                <a:srgbClr val="C00000"/>
              </a:solidFill>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DC50C116-EAEF-444D-8321-A75A38721879}"/>
              </a:ext>
            </a:extLst>
          </p:cNvPr>
          <p:cNvSpPr>
            <a:spLocks noGrp="1"/>
          </p:cNvSpPr>
          <p:nvPr>
            <p:ph type="body" idx="1"/>
          </p:nvPr>
        </p:nvSpPr>
        <p:spPr>
          <a:xfrm>
            <a:off x="415600" y="1536632"/>
            <a:ext cx="11360800" cy="4783957"/>
          </a:xfrm>
        </p:spPr>
        <p:txBody>
          <a:bodyPr/>
          <a:lstStyle/>
          <a:p>
            <a:pPr marL="152396" lvl="0" indent="0">
              <a:buNone/>
            </a:pPr>
            <a:r>
              <a:rPr lang="en-US" dirty="0"/>
              <a:t>Power System stability refers to the system's ability to return to normal or stable operation after having been subjected to some form of disturbance.</a:t>
            </a:r>
          </a:p>
          <a:p>
            <a:pPr marL="152396" lvl="0" indent="0">
              <a:buNone/>
            </a:pPr>
            <a:endParaRPr lang="en-US" dirty="0"/>
          </a:p>
          <a:p>
            <a:pPr marL="152396" lvl="0" indent="0">
              <a:buNone/>
            </a:pPr>
            <a:r>
              <a:rPr lang="en-US" dirty="0"/>
              <a:t>Transient stability involves the response to large disturbances, which may cause large change in rotor angle and speed leading to cascading failure of the system.</a:t>
            </a:r>
          </a:p>
          <a:p>
            <a:pPr marL="152396" indent="0">
              <a:buNone/>
            </a:pPr>
            <a:r>
              <a:rPr lang="en-US" dirty="0"/>
              <a:t>Transient stability assessment methodologies are broadly classified into three main types:</a:t>
            </a:r>
            <a:endParaRPr lang="en-US" b="1" dirty="0"/>
          </a:p>
          <a:p>
            <a:r>
              <a:rPr lang="en-US" b="1" dirty="0"/>
              <a:t>Simulation Methods</a:t>
            </a:r>
            <a:r>
              <a:rPr lang="en-US" dirty="0"/>
              <a:t> (Time-Domain Simulation)</a:t>
            </a:r>
          </a:p>
          <a:p>
            <a:pPr lvl="0"/>
            <a:r>
              <a:rPr lang="en-US" b="1" dirty="0"/>
              <a:t>Direct Methods</a:t>
            </a:r>
            <a:r>
              <a:rPr lang="en-US" dirty="0"/>
              <a:t> (Energy Function based)</a:t>
            </a:r>
          </a:p>
          <a:p>
            <a:pPr lvl="0"/>
            <a:r>
              <a:rPr lang="en-US" b="1" dirty="0"/>
              <a:t>Data-Driven Methods</a:t>
            </a:r>
            <a:r>
              <a:rPr lang="en-US" dirty="0"/>
              <a:t> (Machine Learning based)</a:t>
            </a:r>
          </a:p>
          <a:p>
            <a:pPr marL="152396"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23A61-8D31-4508-9D73-CDED26D8A546}"/>
              </a:ext>
            </a:extLst>
          </p:cNvPr>
          <p:cNvSpPr>
            <a:spLocks noGrp="1"/>
          </p:cNvSpPr>
          <p:nvPr>
            <p:ph type="title"/>
          </p:nvPr>
        </p:nvSpPr>
        <p:spPr/>
        <p:txBody>
          <a:bodyPr>
            <a:normAutofit/>
          </a:bodyPr>
          <a:lstStyle/>
          <a:p>
            <a:r>
              <a:rPr lang="en-US" sz="3200" b="1" dirty="0">
                <a:solidFill>
                  <a:srgbClr val="C00000"/>
                </a:solidFill>
                <a:latin typeface="Times New Roman" panose="02020603050405020304" pitchFamily="18" charset="0"/>
                <a:cs typeface="Times New Roman" panose="02020603050405020304" pitchFamily="18" charset="0"/>
              </a:rPr>
              <a:t>Swing Equation and State-State Formulation</a:t>
            </a:r>
          </a:p>
        </p:txBody>
      </p:sp>
      <p:sp>
        <p:nvSpPr>
          <p:cNvPr id="5" name="Text Placeholder 4">
            <a:extLst>
              <a:ext uri="{FF2B5EF4-FFF2-40B4-BE49-F238E27FC236}">
                <a16:creationId xmlns:a16="http://schemas.microsoft.com/office/drawing/2014/main" id="{FCFF65DC-D40F-41FA-A39A-7A7CF325601D}"/>
              </a:ext>
            </a:extLst>
          </p:cNvPr>
          <p:cNvSpPr>
            <a:spLocks noGrp="1"/>
          </p:cNvSpPr>
          <p:nvPr>
            <p:ph type="body" idx="1"/>
          </p:nvPr>
        </p:nvSpPr>
        <p:spPr/>
        <p:txBody>
          <a:bodyPr/>
          <a:lstStyle/>
          <a:p>
            <a:pPr marL="152396" indent="0">
              <a:buNone/>
            </a:pPr>
            <a:r>
              <a:rPr lang="en-US" dirty="0"/>
              <a:t>Swing Equation:</a:t>
            </a:r>
            <a:br>
              <a:rPr lang="en-US" dirty="0"/>
            </a:br>
            <a:endParaRPr lang="en-US" dirty="0"/>
          </a:p>
          <a:p>
            <a:pPr marL="152396" indent="0">
              <a:buNone/>
            </a:pPr>
            <a:r>
              <a:rPr lang="en-US" dirty="0"/>
              <a:t>State-Space Representation:</a:t>
            </a:r>
          </a:p>
          <a:p>
            <a:pPr marL="152396" indent="0">
              <a:buNone/>
            </a:pPr>
            <a:endParaRPr lang="en-US" dirty="0"/>
          </a:p>
          <a:p>
            <a:pPr marL="152396" indent="0">
              <a:buNone/>
            </a:pPr>
            <a:endParaRPr lang="en-US" dirty="0"/>
          </a:p>
          <a:p>
            <a:pPr marL="152396" indent="0">
              <a:buNone/>
            </a:pPr>
            <a:r>
              <a:rPr lang="en-US" dirty="0"/>
              <a:t>Sate Variables:</a:t>
            </a:r>
          </a:p>
          <a:p>
            <a:pPr marL="152396" indent="0">
              <a:buNone/>
            </a:pPr>
            <a:endParaRPr lang="en-US" dirty="0"/>
          </a:p>
          <a:p>
            <a:pPr marL="152396" indent="0">
              <a:buNone/>
            </a:pPr>
            <a:r>
              <a:rPr lang="en-US" dirty="0"/>
              <a:t>Hence Power system dynamics is described by the state space as:</a:t>
            </a:r>
            <a:br>
              <a:rPr lang="en-US" dirty="0"/>
            </a:br>
            <a:endParaRPr lang="en-US" dirty="0"/>
          </a:p>
        </p:txBody>
      </p:sp>
      <p:pic>
        <p:nvPicPr>
          <p:cNvPr id="6" name="Picture 5">
            <a:extLst>
              <a:ext uri="{FF2B5EF4-FFF2-40B4-BE49-F238E27FC236}">
                <a16:creationId xmlns:a16="http://schemas.microsoft.com/office/drawing/2014/main" id="{662F8108-E745-40D4-A1DD-1F21D6FDB110}"/>
              </a:ext>
            </a:extLst>
          </p:cNvPr>
          <p:cNvPicPr>
            <a:picLocks noChangeAspect="1"/>
          </p:cNvPicPr>
          <p:nvPr/>
        </p:nvPicPr>
        <p:blipFill>
          <a:blip r:embed="rId2"/>
          <a:stretch>
            <a:fillRect/>
          </a:stretch>
        </p:blipFill>
        <p:spPr>
          <a:xfrm>
            <a:off x="4392386" y="1356967"/>
            <a:ext cx="3896135" cy="1027621"/>
          </a:xfrm>
          <a:prstGeom prst="rect">
            <a:avLst/>
          </a:prstGeom>
        </p:spPr>
      </p:pic>
      <p:pic>
        <p:nvPicPr>
          <p:cNvPr id="11" name="Picture 10">
            <a:extLst>
              <a:ext uri="{FF2B5EF4-FFF2-40B4-BE49-F238E27FC236}">
                <a16:creationId xmlns:a16="http://schemas.microsoft.com/office/drawing/2014/main" id="{3B24C42F-B8BE-40E5-A93C-BBEFFACCA05E}"/>
              </a:ext>
            </a:extLst>
          </p:cNvPr>
          <p:cNvPicPr>
            <a:picLocks noChangeAspect="1"/>
          </p:cNvPicPr>
          <p:nvPr/>
        </p:nvPicPr>
        <p:blipFill>
          <a:blip r:embed="rId3"/>
          <a:stretch>
            <a:fillRect/>
          </a:stretch>
        </p:blipFill>
        <p:spPr>
          <a:xfrm>
            <a:off x="5165166" y="2238209"/>
            <a:ext cx="5934903" cy="1190791"/>
          </a:xfrm>
          <a:prstGeom prst="rect">
            <a:avLst/>
          </a:prstGeom>
        </p:spPr>
      </p:pic>
      <p:pic>
        <p:nvPicPr>
          <p:cNvPr id="12" name="Picture 11">
            <a:extLst>
              <a:ext uri="{FF2B5EF4-FFF2-40B4-BE49-F238E27FC236}">
                <a16:creationId xmlns:a16="http://schemas.microsoft.com/office/drawing/2014/main" id="{E4D45F68-2FB9-4CE0-AA35-009D80A520A4}"/>
              </a:ext>
            </a:extLst>
          </p:cNvPr>
          <p:cNvPicPr>
            <a:picLocks noChangeAspect="1"/>
          </p:cNvPicPr>
          <p:nvPr/>
        </p:nvPicPr>
        <p:blipFill>
          <a:blip r:embed="rId4"/>
          <a:stretch>
            <a:fillRect/>
          </a:stretch>
        </p:blipFill>
        <p:spPr>
          <a:xfrm>
            <a:off x="2917064" y="3296808"/>
            <a:ext cx="3723425" cy="1027620"/>
          </a:xfrm>
          <a:prstGeom prst="rect">
            <a:avLst/>
          </a:prstGeom>
        </p:spPr>
      </p:pic>
      <p:pic>
        <p:nvPicPr>
          <p:cNvPr id="14" name="image3.png">
            <a:extLst>
              <a:ext uri="{FF2B5EF4-FFF2-40B4-BE49-F238E27FC236}">
                <a16:creationId xmlns:a16="http://schemas.microsoft.com/office/drawing/2014/main" id="{A1A9A371-19F6-484C-BCCE-97777C28986B}"/>
              </a:ext>
            </a:extLst>
          </p:cNvPr>
          <p:cNvPicPr/>
          <p:nvPr/>
        </p:nvPicPr>
        <p:blipFill>
          <a:blip r:embed="rId5"/>
          <a:srcRect/>
          <a:stretch>
            <a:fillRect/>
          </a:stretch>
        </p:blipFill>
        <p:spPr>
          <a:xfrm>
            <a:off x="4006735" y="4688378"/>
            <a:ext cx="4064924" cy="1403455"/>
          </a:xfrm>
          <a:prstGeom prst="rect">
            <a:avLst/>
          </a:prstGeom>
          <a:ln/>
        </p:spPr>
      </p:pic>
    </p:spTree>
    <p:extLst>
      <p:ext uri="{BB962C8B-B14F-4D97-AF65-F5344CB8AC3E}">
        <p14:creationId xmlns:p14="http://schemas.microsoft.com/office/powerpoint/2010/main" val="498599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98053-5862-4250-AD60-F7B5C136BD95}"/>
              </a:ext>
            </a:extLst>
          </p:cNvPr>
          <p:cNvSpPr>
            <a:spLocks noGrp="1"/>
          </p:cNvSpPr>
          <p:nvPr>
            <p:ph type="title"/>
          </p:nvPr>
        </p:nvSpPr>
        <p:spPr/>
        <p:txBody>
          <a:bodyPr>
            <a:normAutofit fontScale="90000"/>
          </a:bodyPr>
          <a:lstStyle/>
          <a:p>
            <a:r>
              <a:rPr lang="en-US" b="1" dirty="0">
                <a:solidFill>
                  <a:srgbClr val="FF0000"/>
                </a:solidFill>
              </a:rPr>
              <a:t>Lyapunov Function</a:t>
            </a:r>
          </a:p>
        </p:txBody>
      </p:sp>
      <p:pic>
        <p:nvPicPr>
          <p:cNvPr id="4" name="Picture 3">
            <a:extLst>
              <a:ext uri="{FF2B5EF4-FFF2-40B4-BE49-F238E27FC236}">
                <a16:creationId xmlns:a16="http://schemas.microsoft.com/office/drawing/2014/main" id="{A6843AE7-4347-4592-8477-B659291A060A}"/>
              </a:ext>
            </a:extLst>
          </p:cNvPr>
          <p:cNvPicPr>
            <a:picLocks noChangeAspect="1"/>
          </p:cNvPicPr>
          <p:nvPr/>
        </p:nvPicPr>
        <p:blipFill>
          <a:blip r:embed="rId2"/>
          <a:stretch>
            <a:fillRect/>
          </a:stretch>
        </p:blipFill>
        <p:spPr>
          <a:xfrm>
            <a:off x="3386755" y="2171644"/>
            <a:ext cx="4801270" cy="800212"/>
          </a:xfrm>
          <a:prstGeom prst="rect">
            <a:avLst/>
          </a:prstGeom>
        </p:spPr>
      </p:pic>
      <p:sp>
        <p:nvSpPr>
          <p:cNvPr id="3" name="Text Placeholder 2">
            <a:extLst>
              <a:ext uri="{FF2B5EF4-FFF2-40B4-BE49-F238E27FC236}">
                <a16:creationId xmlns:a16="http://schemas.microsoft.com/office/drawing/2014/main" id="{9287E918-A7E3-4828-8E82-EE7585E777B4}"/>
              </a:ext>
            </a:extLst>
          </p:cNvPr>
          <p:cNvSpPr>
            <a:spLocks noGrp="1"/>
          </p:cNvSpPr>
          <p:nvPr>
            <p:ph type="body" idx="1"/>
          </p:nvPr>
        </p:nvSpPr>
        <p:spPr/>
        <p:txBody>
          <a:bodyPr/>
          <a:lstStyle/>
          <a:p>
            <a:r>
              <a:rPr lang="en-US" dirty="0"/>
              <a:t>A Scalar function which describes the total energy of the system.</a:t>
            </a:r>
          </a:p>
          <a:p>
            <a:endParaRPr lang="en-US" dirty="0"/>
          </a:p>
          <a:p>
            <a:endParaRPr lang="en-US" dirty="0"/>
          </a:p>
          <a:p>
            <a:r>
              <a:rPr lang="en-US" dirty="0"/>
              <a:t>Stability Criteria: 1. V(x)&gt;0, for all x not equal to </a:t>
            </a:r>
            <a:r>
              <a:rPr lang="en-US" dirty="0" err="1"/>
              <a:t>xs</a:t>
            </a:r>
            <a:endParaRPr lang="en-US" dirty="0"/>
          </a:p>
          <a:p>
            <a:pPr marL="152396" indent="0">
              <a:buNone/>
            </a:pPr>
            <a:r>
              <a:rPr lang="en-US" dirty="0"/>
              <a:t>                                    2.</a:t>
            </a:r>
          </a:p>
          <a:p>
            <a:pPr marL="152396" indent="0">
              <a:buNone/>
            </a:pPr>
            <a:endParaRPr lang="en-US" dirty="0"/>
          </a:p>
          <a:p>
            <a:pPr marL="152396" indent="0">
              <a:buNone/>
            </a:pPr>
            <a:r>
              <a:rPr lang="en-US" dirty="0"/>
              <a:t>Transient Energy function Described for post fault system, given By</a:t>
            </a:r>
          </a:p>
          <a:p>
            <a:pPr marL="152396" indent="0">
              <a:buNone/>
            </a:pPr>
            <a:endParaRPr lang="en-US" dirty="0"/>
          </a:p>
          <a:p>
            <a:pPr marL="152396" indent="0">
              <a:buNone/>
            </a:pPr>
            <a:r>
              <a:rPr lang="en-US" dirty="0"/>
              <a:t>                                   </a:t>
            </a:r>
            <a:br>
              <a:rPr lang="en-US" dirty="0"/>
            </a:br>
            <a:endParaRPr lang="en-US" dirty="0"/>
          </a:p>
        </p:txBody>
      </p:sp>
      <p:pic>
        <p:nvPicPr>
          <p:cNvPr id="5" name="Picture 4">
            <a:extLst>
              <a:ext uri="{FF2B5EF4-FFF2-40B4-BE49-F238E27FC236}">
                <a16:creationId xmlns:a16="http://schemas.microsoft.com/office/drawing/2014/main" id="{9916AB6F-0D1D-4B03-A6B0-779A974A31DE}"/>
              </a:ext>
            </a:extLst>
          </p:cNvPr>
          <p:cNvPicPr>
            <a:picLocks noChangeAspect="1"/>
          </p:cNvPicPr>
          <p:nvPr/>
        </p:nvPicPr>
        <p:blipFill>
          <a:blip r:embed="rId3"/>
          <a:stretch>
            <a:fillRect/>
          </a:stretch>
        </p:blipFill>
        <p:spPr>
          <a:xfrm>
            <a:off x="3823302" y="3151522"/>
            <a:ext cx="2346721" cy="496953"/>
          </a:xfrm>
          <a:prstGeom prst="rect">
            <a:avLst/>
          </a:prstGeom>
        </p:spPr>
      </p:pic>
      <p:pic>
        <p:nvPicPr>
          <p:cNvPr id="6" name="image9.png">
            <a:extLst>
              <a:ext uri="{FF2B5EF4-FFF2-40B4-BE49-F238E27FC236}">
                <a16:creationId xmlns:a16="http://schemas.microsoft.com/office/drawing/2014/main" id="{BAB84AE2-A05B-4270-8073-F55F364F114F}"/>
              </a:ext>
            </a:extLst>
          </p:cNvPr>
          <p:cNvPicPr/>
          <p:nvPr/>
        </p:nvPicPr>
        <p:blipFill>
          <a:blip r:embed="rId4"/>
          <a:srcRect/>
          <a:stretch>
            <a:fillRect/>
          </a:stretch>
        </p:blipFill>
        <p:spPr>
          <a:xfrm>
            <a:off x="3707477" y="4553843"/>
            <a:ext cx="4289368" cy="1306629"/>
          </a:xfrm>
          <a:prstGeom prst="rect">
            <a:avLst/>
          </a:prstGeom>
          <a:ln/>
        </p:spPr>
      </p:pic>
    </p:spTree>
    <p:extLst>
      <p:ext uri="{BB962C8B-B14F-4D97-AF65-F5344CB8AC3E}">
        <p14:creationId xmlns:p14="http://schemas.microsoft.com/office/powerpoint/2010/main" val="478809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29228-5B27-4714-A9C4-EB94F3198F5F}"/>
              </a:ext>
            </a:extLst>
          </p:cNvPr>
          <p:cNvSpPr>
            <a:spLocks noGrp="1"/>
          </p:cNvSpPr>
          <p:nvPr>
            <p:ph type="title"/>
          </p:nvPr>
        </p:nvSpPr>
        <p:spPr/>
        <p:txBody>
          <a:bodyPr>
            <a:normAutofit fontScale="90000"/>
          </a:bodyPr>
          <a:lstStyle/>
          <a:p>
            <a:r>
              <a:rPr lang="en-US" b="1" dirty="0">
                <a:solidFill>
                  <a:srgbClr val="FF0000"/>
                </a:solidFill>
              </a:rPr>
              <a:t>Literature Review</a:t>
            </a:r>
          </a:p>
        </p:txBody>
      </p:sp>
      <p:sp>
        <p:nvSpPr>
          <p:cNvPr id="3" name="Text Placeholder 2">
            <a:extLst>
              <a:ext uri="{FF2B5EF4-FFF2-40B4-BE49-F238E27FC236}">
                <a16:creationId xmlns:a16="http://schemas.microsoft.com/office/drawing/2014/main" id="{FD41931E-A90D-4D55-9810-5738E66CF67D}"/>
              </a:ext>
            </a:extLst>
          </p:cNvPr>
          <p:cNvSpPr>
            <a:spLocks noGrp="1"/>
          </p:cNvSpPr>
          <p:nvPr>
            <p:ph type="body" idx="1"/>
          </p:nvPr>
        </p:nvSpPr>
        <p:spPr>
          <a:xfrm>
            <a:off x="415600" y="1536633"/>
            <a:ext cx="11360800" cy="5030422"/>
          </a:xfrm>
        </p:spPr>
        <p:txBody>
          <a:bodyPr>
            <a:normAutofit/>
          </a:bodyPr>
          <a:lstStyle/>
          <a:p>
            <a:r>
              <a:rPr lang="en-US" sz="1800" dirty="0"/>
              <a:t>Our project is founded on the real-time prediction and control framework proposed by </a:t>
            </a:r>
            <a:r>
              <a:rPr lang="en-US" sz="1800" dirty="0" err="1"/>
              <a:t>Bhui</a:t>
            </a:r>
            <a:r>
              <a:rPr lang="en-US" sz="1800" dirty="0"/>
              <a:t> and </a:t>
            </a:r>
            <a:r>
              <a:rPr lang="en-US" sz="1800" dirty="0" err="1"/>
              <a:t>Senroy</a:t>
            </a:r>
            <a:r>
              <a:rPr lang="en-US" sz="1800" dirty="0"/>
              <a:t> [1]. </a:t>
            </a:r>
          </a:p>
          <a:p>
            <a:r>
              <a:rPr lang="en-US" sz="1800" dirty="0"/>
              <a:t>They have used Transient Energy function Frame work to make assessment of transient Stability. </a:t>
            </a:r>
          </a:p>
          <a:p>
            <a:pPr marL="152396" indent="0">
              <a:buNone/>
            </a:pPr>
            <a:r>
              <a:rPr lang="en-US" sz="1800" dirty="0"/>
              <a:t>          By Dividing the computation into two mode of computation </a:t>
            </a:r>
          </a:p>
          <a:p>
            <a:pPr marL="152396" indent="0">
              <a:buNone/>
            </a:pPr>
            <a:r>
              <a:rPr lang="en-US" sz="1800" dirty="0"/>
              <a:t>                                               </a:t>
            </a:r>
            <a:r>
              <a:rPr lang="en-US" sz="1800" dirty="0" err="1"/>
              <a:t>a.Offline</a:t>
            </a:r>
            <a:r>
              <a:rPr lang="en-US" sz="1800" dirty="0"/>
              <a:t> Computation</a:t>
            </a:r>
          </a:p>
          <a:p>
            <a:pPr marL="152396" indent="0">
              <a:buNone/>
            </a:pPr>
            <a:r>
              <a:rPr lang="en-US" sz="1800" dirty="0"/>
              <a:t>                                               </a:t>
            </a:r>
            <a:r>
              <a:rPr lang="en-US" sz="1800" dirty="0" err="1"/>
              <a:t>b.Online</a:t>
            </a:r>
            <a:r>
              <a:rPr lang="en-US" sz="1800" dirty="0"/>
              <a:t> Computation</a:t>
            </a:r>
          </a:p>
          <a:p>
            <a:pPr marL="152396" indent="0">
              <a:buNone/>
            </a:pPr>
            <a:endParaRPr lang="en-US" dirty="0"/>
          </a:p>
        </p:txBody>
      </p:sp>
      <p:pic>
        <p:nvPicPr>
          <p:cNvPr id="5" name="Picture 4">
            <a:extLst>
              <a:ext uri="{FF2B5EF4-FFF2-40B4-BE49-F238E27FC236}">
                <a16:creationId xmlns:a16="http://schemas.microsoft.com/office/drawing/2014/main" id="{786A1CAD-8973-4E3A-9863-891AF169E8D3}"/>
              </a:ext>
            </a:extLst>
          </p:cNvPr>
          <p:cNvPicPr>
            <a:picLocks noChangeAspect="1"/>
          </p:cNvPicPr>
          <p:nvPr/>
        </p:nvPicPr>
        <p:blipFill>
          <a:blip r:embed="rId2"/>
          <a:stretch>
            <a:fillRect/>
          </a:stretch>
        </p:blipFill>
        <p:spPr>
          <a:xfrm>
            <a:off x="7028112" y="5433785"/>
            <a:ext cx="1810003" cy="285790"/>
          </a:xfrm>
          <a:prstGeom prst="rect">
            <a:avLst/>
          </a:prstGeom>
        </p:spPr>
      </p:pic>
    </p:spTree>
    <p:extLst>
      <p:ext uri="{BB962C8B-B14F-4D97-AF65-F5344CB8AC3E}">
        <p14:creationId xmlns:p14="http://schemas.microsoft.com/office/powerpoint/2010/main" val="2609519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5373A-B6A5-4887-9704-0796B0CDE665}"/>
              </a:ext>
            </a:extLst>
          </p:cNvPr>
          <p:cNvSpPr>
            <a:spLocks noGrp="1"/>
          </p:cNvSpPr>
          <p:nvPr>
            <p:ph type="title"/>
          </p:nvPr>
        </p:nvSpPr>
        <p:spPr/>
        <p:txBody>
          <a:bodyPr>
            <a:normAutofit fontScale="90000"/>
          </a:bodyPr>
          <a:lstStyle/>
          <a:p>
            <a:r>
              <a:rPr lang="en-US" b="1" dirty="0">
                <a:solidFill>
                  <a:srgbClr val="FF0000"/>
                </a:solidFill>
              </a:rPr>
              <a:t>Literature Review</a:t>
            </a:r>
          </a:p>
        </p:txBody>
      </p:sp>
      <p:sp>
        <p:nvSpPr>
          <p:cNvPr id="3" name="Text Placeholder 2">
            <a:extLst>
              <a:ext uri="{FF2B5EF4-FFF2-40B4-BE49-F238E27FC236}">
                <a16:creationId xmlns:a16="http://schemas.microsoft.com/office/drawing/2014/main" id="{AB6E7014-025B-4CA3-8A8B-51CFF8906208}"/>
              </a:ext>
            </a:extLst>
          </p:cNvPr>
          <p:cNvSpPr>
            <a:spLocks noGrp="1"/>
          </p:cNvSpPr>
          <p:nvPr>
            <p:ph type="body" idx="1"/>
          </p:nvPr>
        </p:nvSpPr>
        <p:spPr/>
        <p:txBody>
          <a:bodyPr>
            <a:normAutofit lnSpcReduction="10000"/>
          </a:bodyPr>
          <a:lstStyle/>
          <a:p>
            <a:r>
              <a:rPr lang="en-US" dirty="0"/>
              <a:t>In the online stage of the paper correct MOD is identified and energy margin (</a:t>
            </a:r>
            <a:r>
              <a:rPr lang="en-US" dirty="0" err="1"/>
              <a:t>Vcr-Vcl</a:t>
            </a:r>
            <a:r>
              <a:rPr lang="en-US" dirty="0"/>
              <a:t>)  is calculated  to find the stability of the system.</a:t>
            </a:r>
          </a:p>
          <a:p>
            <a:r>
              <a:rPr lang="en-US" dirty="0"/>
              <a:t>Control action is taken if system is found unstable by shading the appropriate generation from the system. There is need of prediction of generator angle and speed at the time of generation shedding accounting for computational delay. </a:t>
            </a:r>
          </a:p>
          <a:p>
            <a:r>
              <a:rPr lang="en-US" dirty="0"/>
              <a:t>The minimum amount of data available for this prediction corresponds to the computational delay associated with the application of the TEF technique , signal latency and initiating control actions delay.</a:t>
            </a:r>
          </a:p>
          <a:p>
            <a:r>
              <a:rPr lang="en-US" dirty="0"/>
              <a:t>Quadratic and cubic curve fitting have been used for predicting the angle which is produces error and fast simulation technique have been advised to overcome this error[1]</a:t>
            </a:r>
          </a:p>
        </p:txBody>
      </p:sp>
    </p:spTree>
    <p:extLst>
      <p:ext uri="{BB962C8B-B14F-4D97-AF65-F5344CB8AC3E}">
        <p14:creationId xmlns:p14="http://schemas.microsoft.com/office/powerpoint/2010/main" val="2569144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CF66F-EB1A-442B-8C65-BCB865D9E304}"/>
              </a:ext>
            </a:extLst>
          </p:cNvPr>
          <p:cNvSpPr>
            <a:spLocks noGrp="1"/>
          </p:cNvSpPr>
          <p:nvPr>
            <p:ph type="title"/>
          </p:nvPr>
        </p:nvSpPr>
        <p:spPr/>
        <p:txBody>
          <a:bodyPr>
            <a:normAutofit fontScale="90000"/>
          </a:bodyPr>
          <a:lstStyle/>
          <a:p>
            <a:r>
              <a:rPr lang="en-US" dirty="0"/>
              <a:t>Problem Statements</a:t>
            </a:r>
          </a:p>
        </p:txBody>
      </p:sp>
      <p:sp>
        <p:nvSpPr>
          <p:cNvPr id="3" name="Text Placeholder 2">
            <a:extLst>
              <a:ext uri="{FF2B5EF4-FFF2-40B4-BE49-F238E27FC236}">
                <a16:creationId xmlns:a16="http://schemas.microsoft.com/office/drawing/2014/main" id="{01B85107-144D-4268-B431-7E1C27C05A62}"/>
              </a:ext>
            </a:extLst>
          </p:cNvPr>
          <p:cNvSpPr>
            <a:spLocks noGrp="1"/>
          </p:cNvSpPr>
          <p:nvPr>
            <p:ph type="body" idx="1"/>
          </p:nvPr>
        </p:nvSpPr>
        <p:spPr/>
        <p:txBody>
          <a:bodyPr/>
          <a:lstStyle/>
          <a:p>
            <a:r>
              <a:rPr lang="en-US" dirty="0"/>
              <a:t>Error in the prediction of rotor angle and speed:</a:t>
            </a:r>
          </a:p>
          <a:p>
            <a:r>
              <a:rPr lang="en-US" dirty="0"/>
              <a:t>Inaccurate prediction of rotor angle and speed lead to inaccurate generation shedding.</a:t>
            </a:r>
          </a:p>
          <a:p>
            <a:r>
              <a:rPr lang="en-US" dirty="0"/>
              <a:t>System May remain unstable due to prediction error.</a:t>
            </a:r>
          </a:p>
        </p:txBody>
      </p:sp>
    </p:spTree>
    <p:extLst>
      <p:ext uri="{BB962C8B-B14F-4D97-AF65-F5344CB8AC3E}">
        <p14:creationId xmlns:p14="http://schemas.microsoft.com/office/powerpoint/2010/main" val="2241734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A96D4-6472-4157-8246-BB47AC371361}"/>
              </a:ext>
            </a:extLst>
          </p:cNvPr>
          <p:cNvSpPr>
            <a:spLocks noGrp="1"/>
          </p:cNvSpPr>
          <p:nvPr>
            <p:ph type="title"/>
          </p:nvPr>
        </p:nvSpPr>
        <p:spPr/>
        <p:txBody>
          <a:bodyPr>
            <a:normAutofit fontScale="90000"/>
          </a:bodyPr>
          <a:lstStyle/>
          <a:p>
            <a:r>
              <a:rPr lang="en-US" dirty="0"/>
              <a:t>Objectives</a:t>
            </a:r>
          </a:p>
        </p:txBody>
      </p:sp>
      <p:sp>
        <p:nvSpPr>
          <p:cNvPr id="3" name="Text Placeholder 2">
            <a:extLst>
              <a:ext uri="{FF2B5EF4-FFF2-40B4-BE49-F238E27FC236}">
                <a16:creationId xmlns:a16="http://schemas.microsoft.com/office/drawing/2014/main" id="{90B6CBF9-15CE-4B9A-9431-D6BEF5701720}"/>
              </a:ext>
            </a:extLst>
          </p:cNvPr>
          <p:cNvSpPr>
            <a:spLocks noGrp="1"/>
          </p:cNvSpPr>
          <p:nvPr>
            <p:ph type="body" idx="1"/>
          </p:nvPr>
        </p:nvSpPr>
        <p:spPr/>
        <p:txBody>
          <a:bodyPr/>
          <a:lstStyle/>
          <a:p>
            <a:pPr marL="152396" indent="0">
              <a:buNone/>
            </a:pPr>
            <a:r>
              <a:rPr lang="en-US" dirty="0"/>
              <a:t>• To develop and implement an LSTM (Long Short-Term Memory) neural  network model for accurate, real-time prediction of generator angles and speeds in the IEEE 39 bus system following a fault </a:t>
            </a:r>
          </a:p>
          <a:p>
            <a:pPr marL="152396" indent="0">
              <a:buNone/>
            </a:pPr>
            <a:r>
              <a:rPr lang="en-US" dirty="0"/>
              <a:t>• To integrate the generator state predictions into the Transient Energy Function (TEF) framework for improved transient stability assessment and control. </a:t>
            </a:r>
          </a:p>
          <a:p>
            <a:pPr marL="152396" indent="0">
              <a:buNone/>
            </a:pPr>
            <a:r>
              <a:rPr lang="en-US" dirty="0"/>
              <a:t>• To demonstrate the applicability of the enhanced TEF method on the IEEE 39-bus test system</a:t>
            </a:r>
          </a:p>
        </p:txBody>
      </p:sp>
    </p:spTree>
    <p:extLst>
      <p:ext uri="{BB962C8B-B14F-4D97-AF65-F5344CB8AC3E}">
        <p14:creationId xmlns:p14="http://schemas.microsoft.com/office/powerpoint/2010/main" val="2174408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415600" y="355267"/>
            <a:ext cx="11360800" cy="763600"/>
          </a:xfrm>
          <a:prstGeom prst="rect">
            <a:avLst/>
          </a:prstGeom>
        </p:spPr>
        <p:txBody>
          <a:bodyPr spcFirstLastPara="1" vert="horz" wrap="square" lIns="121900" tIns="121900" rIns="121900" bIns="121900" rtlCol="0" anchor="t" anchorCtr="0">
            <a:normAutofit/>
          </a:bodyPr>
          <a:lstStyle/>
          <a:p>
            <a:r>
              <a:rPr lang="en" sz="3200" b="1" dirty="0">
                <a:solidFill>
                  <a:srgbClr val="FF0000"/>
                </a:solidFill>
                <a:latin typeface="Times New Roman" panose="02020603050405020304" pitchFamily="18" charset="0"/>
                <a:cs typeface="Times New Roman" panose="02020603050405020304" pitchFamily="18" charset="0"/>
              </a:rPr>
              <a:t>METHODOLOGY</a:t>
            </a:r>
            <a:endParaRPr sz="3200" b="1" dirty="0">
              <a:solidFill>
                <a:srgbClr val="FF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B4B105C-358F-4DF9-9905-0A1DF3DEBEBD}"/>
              </a:ext>
            </a:extLst>
          </p:cNvPr>
          <p:cNvPicPr>
            <a:picLocks noChangeAspect="1"/>
          </p:cNvPicPr>
          <p:nvPr/>
        </p:nvPicPr>
        <p:blipFill>
          <a:blip r:embed="rId3"/>
          <a:stretch>
            <a:fillRect/>
          </a:stretch>
        </p:blipFill>
        <p:spPr>
          <a:xfrm>
            <a:off x="621096" y="2477489"/>
            <a:ext cx="5867908" cy="3261643"/>
          </a:xfrm>
          <a:prstGeom prst="rect">
            <a:avLst/>
          </a:prstGeom>
        </p:spPr>
      </p:pic>
      <p:pic>
        <p:nvPicPr>
          <p:cNvPr id="5" name="Picture 4">
            <a:extLst>
              <a:ext uri="{FF2B5EF4-FFF2-40B4-BE49-F238E27FC236}">
                <a16:creationId xmlns:a16="http://schemas.microsoft.com/office/drawing/2014/main" id="{B2C0DA40-AD3C-4B81-8684-301883B19D80}"/>
              </a:ext>
            </a:extLst>
          </p:cNvPr>
          <p:cNvPicPr>
            <a:picLocks noChangeAspect="1"/>
          </p:cNvPicPr>
          <p:nvPr/>
        </p:nvPicPr>
        <p:blipFill>
          <a:blip r:embed="rId4"/>
          <a:stretch>
            <a:fillRect/>
          </a:stretch>
        </p:blipFill>
        <p:spPr>
          <a:xfrm>
            <a:off x="5779202" y="1473097"/>
            <a:ext cx="5791702" cy="5029636"/>
          </a:xfrm>
          <a:prstGeom prst="rect">
            <a:avLst/>
          </a:prstGeom>
        </p:spPr>
      </p:pic>
    </p:spTree>
    <p:extLst>
      <p:ext uri="{BB962C8B-B14F-4D97-AF65-F5344CB8AC3E}">
        <p14:creationId xmlns:p14="http://schemas.microsoft.com/office/powerpoint/2010/main" val="1750696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05E6E-939B-441B-A0FE-41B437BB8075}"/>
              </a:ext>
            </a:extLst>
          </p:cNvPr>
          <p:cNvSpPr>
            <a:spLocks noGrp="1"/>
          </p:cNvSpPr>
          <p:nvPr>
            <p:ph type="title"/>
          </p:nvPr>
        </p:nvSpPr>
        <p:spPr/>
        <p:txBody>
          <a:bodyPr>
            <a:normAutofit fontScale="90000"/>
          </a:bodyPr>
          <a:lstStyle/>
          <a:p>
            <a:r>
              <a:rPr lang="en-US" b="1" dirty="0">
                <a:solidFill>
                  <a:srgbClr val="C00000"/>
                </a:solidFill>
                <a:latin typeface="Times New Roman" panose="02020603050405020304" pitchFamily="18" charset="0"/>
                <a:cs typeface="Times New Roman" panose="02020603050405020304" pitchFamily="18" charset="0"/>
              </a:rPr>
              <a:t>1. </a:t>
            </a:r>
            <a:r>
              <a:rPr lang="en-US" b="1" u="sng" dirty="0">
                <a:solidFill>
                  <a:srgbClr val="C00000"/>
                </a:solidFill>
                <a:latin typeface="Times New Roman" panose="02020603050405020304" pitchFamily="18" charset="0"/>
                <a:cs typeface="Times New Roman" panose="02020603050405020304" pitchFamily="18" charset="0"/>
              </a:rPr>
              <a:t>Offline Computation/Look-up Table</a:t>
            </a:r>
            <a:br>
              <a:rPr lang="en-US" b="1" u="sng" dirty="0">
                <a:solidFill>
                  <a:srgbClr val="C00000"/>
                </a:solidFill>
                <a:latin typeface="Times New Roman" panose="02020603050405020304" pitchFamily="18" charset="0"/>
                <a:cs typeface="Times New Roman" panose="02020603050405020304" pitchFamily="18" charset="0"/>
              </a:rPr>
            </a:br>
            <a:endParaRPr lang="en-US" b="1" u="sng" dirty="0">
              <a:solidFill>
                <a:srgbClr val="C0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A3051BC-8668-4349-B34F-53DD5C1A4D2F}"/>
              </a:ext>
            </a:extLst>
          </p:cNvPr>
          <p:cNvSpPr>
            <a:spLocks noGrp="1"/>
          </p:cNvSpPr>
          <p:nvPr>
            <p:ph type="body" idx="1"/>
          </p:nvPr>
        </p:nvSpPr>
        <p:spPr/>
        <p:txBody>
          <a:bodyPr/>
          <a:lstStyle/>
          <a:p>
            <a:pPr marL="152396" indent="0">
              <a:buNone/>
            </a:pPr>
            <a:r>
              <a:rPr lang="en-US" b="1" dirty="0">
                <a:latin typeface="Times New Roman" panose="02020603050405020304" pitchFamily="18" charset="0"/>
                <a:cs typeface="Times New Roman" panose="02020603050405020304" pitchFamily="18" charset="0"/>
              </a:rPr>
              <a:t>a. </a:t>
            </a:r>
            <a:r>
              <a:rPr lang="en-US" b="1" u="sng" dirty="0">
                <a:latin typeface="Times New Roman" panose="02020603050405020304" pitchFamily="18" charset="0"/>
                <a:cs typeface="Times New Roman" panose="02020603050405020304" pitchFamily="18" charset="0"/>
              </a:rPr>
              <a:t>MOD Identification for different fault location</a:t>
            </a:r>
          </a:p>
          <a:p>
            <a:pPr marL="152396" indent="0">
              <a:buNone/>
            </a:pPr>
            <a:r>
              <a:rPr lang="en-US"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MOD is obtained using BCU Method.</a:t>
            </a:r>
          </a:p>
          <a:p>
            <a:pPr marL="152396" indent="0">
              <a:buNone/>
            </a:pPr>
            <a:r>
              <a:rPr lang="en-US" dirty="0">
                <a:latin typeface="Times New Roman" panose="02020603050405020304" pitchFamily="18" charset="0"/>
                <a:cs typeface="Times New Roman" panose="02020603050405020304" pitchFamily="18" charset="0"/>
              </a:rPr>
              <a:t>	1.Tcr is calculated using BCU method</a:t>
            </a:r>
          </a:p>
          <a:p>
            <a:pPr marL="152396" indent="0">
              <a:buNone/>
            </a:pPr>
            <a:r>
              <a:rPr lang="en-US" dirty="0">
                <a:latin typeface="Times New Roman" panose="02020603050405020304" pitchFamily="18" charset="0"/>
                <a:cs typeface="Times New Roman" panose="02020603050405020304" pitchFamily="18" charset="0"/>
              </a:rPr>
              <a:t>         2.Time domain simulation is done for a fault duration slightly higher 		   than </a:t>
            </a:r>
            <a:r>
              <a:rPr lang="en-US" dirty="0" err="1">
                <a:latin typeface="Times New Roman" panose="02020603050405020304" pitchFamily="18" charset="0"/>
                <a:cs typeface="Times New Roman" panose="02020603050405020304" pitchFamily="18" charset="0"/>
              </a:rPr>
              <a:t>Tcr</a:t>
            </a:r>
            <a:r>
              <a:rPr lang="en-US" dirty="0">
                <a:latin typeface="Times New Roman" panose="02020603050405020304" pitchFamily="18" charset="0"/>
                <a:cs typeface="Times New Roman" panose="02020603050405020304" pitchFamily="18" charset="0"/>
              </a:rPr>
              <a:t>.</a:t>
            </a:r>
          </a:p>
          <a:p>
            <a:pPr marL="152396" indent="0">
              <a:buNone/>
            </a:pPr>
            <a:r>
              <a:rPr lang="en-US" dirty="0">
                <a:latin typeface="Times New Roman" panose="02020603050405020304" pitchFamily="18" charset="0"/>
                <a:cs typeface="Times New Roman" panose="02020603050405020304" pitchFamily="18" charset="0"/>
              </a:rPr>
              <a:t>	3.Detection of peak of the potential energy and generator ranking   		   descending order of the angles.</a:t>
            </a:r>
          </a:p>
          <a:p>
            <a:pPr marL="152396" indent="0">
              <a:buNone/>
            </a:pPr>
            <a:r>
              <a:rPr lang="en-US" dirty="0">
                <a:latin typeface="Times New Roman" panose="02020603050405020304" pitchFamily="18" charset="0"/>
                <a:cs typeface="Times New Roman" panose="02020603050405020304" pitchFamily="18" charset="0"/>
              </a:rPr>
              <a:t>	4.Taking top machines as MOD and calculate CCT using MOD 	  	  	    technique.</a:t>
            </a:r>
          </a:p>
          <a:p>
            <a:pPr marL="152396" indent="0">
              <a:buNone/>
            </a:pPr>
            <a:r>
              <a:rPr lang="en-US" dirty="0">
                <a:latin typeface="Times New Roman" panose="02020603050405020304" pitchFamily="18" charset="0"/>
                <a:cs typeface="Times New Roman" panose="02020603050405020304" pitchFamily="18" charset="0"/>
              </a:rPr>
              <a:t>	5. machine groups with minimum error between time domain    	 	                                               	    simulating CCT and TEF CCT taken as the MOD.</a:t>
            </a:r>
          </a:p>
        </p:txBody>
      </p:sp>
    </p:spTree>
    <p:extLst>
      <p:ext uri="{BB962C8B-B14F-4D97-AF65-F5344CB8AC3E}">
        <p14:creationId xmlns:p14="http://schemas.microsoft.com/office/powerpoint/2010/main" val="895031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29B19-3329-3542-46E8-EB79371C7AC3}"/>
              </a:ext>
            </a:extLst>
          </p:cNvPr>
          <p:cNvSpPr>
            <a:spLocks noGrp="1"/>
          </p:cNvSpPr>
          <p:nvPr>
            <p:ph type="ctrTitle"/>
          </p:nvPr>
        </p:nvSpPr>
        <p:spPr>
          <a:xfrm>
            <a:off x="889462" y="317691"/>
            <a:ext cx="7111538" cy="999045"/>
          </a:xfrm>
        </p:spPr>
        <p:txBody>
          <a:bodyPr>
            <a:normAutofit/>
          </a:bodyPr>
          <a:lstStyle/>
          <a:p>
            <a:pPr algn="l"/>
            <a:r>
              <a:rPr lang="en-US" sz="4800" b="1" dirty="0">
                <a:solidFill>
                  <a:srgbClr val="C00000"/>
                </a:solidFill>
                <a:latin typeface="Times New Roman" panose="02020603050405020304" pitchFamily="18" charset="0"/>
                <a:cs typeface="Times New Roman" panose="02020603050405020304" pitchFamily="18" charset="0"/>
              </a:rPr>
              <a:t>2. Online Computation</a:t>
            </a:r>
          </a:p>
        </p:txBody>
      </p:sp>
      <p:sp>
        <p:nvSpPr>
          <p:cNvPr id="3" name="Subtitle 2">
            <a:extLst>
              <a:ext uri="{FF2B5EF4-FFF2-40B4-BE49-F238E27FC236}">
                <a16:creationId xmlns:a16="http://schemas.microsoft.com/office/drawing/2014/main" id="{E092CDF2-B959-2F60-00E6-1AFAAD1F8BDE}"/>
              </a:ext>
            </a:extLst>
          </p:cNvPr>
          <p:cNvSpPr>
            <a:spLocks noGrp="1"/>
          </p:cNvSpPr>
          <p:nvPr>
            <p:ph type="subTitle" idx="1"/>
          </p:nvPr>
        </p:nvSpPr>
        <p:spPr>
          <a:xfrm>
            <a:off x="1066800" y="1489773"/>
            <a:ext cx="9144000" cy="5050535"/>
          </a:xfrm>
        </p:spPr>
        <p:txBody>
          <a:bodyPr>
            <a:normAutofit/>
          </a:bodyPr>
          <a:lstStyle/>
          <a:p>
            <a:pPr marL="457200" indent="-457200" algn="l">
              <a:buAutoNum type="alphaLcPeriod"/>
            </a:pPr>
            <a:r>
              <a:rPr lang="en-US" sz="2800" b="1" u="sng" dirty="0">
                <a:latin typeface="Times New Roman" panose="02020603050405020304" pitchFamily="18" charset="0"/>
                <a:cs typeface="Times New Roman" panose="02020603050405020304" pitchFamily="18" charset="0"/>
              </a:rPr>
              <a:t>Correct Mode Identification</a:t>
            </a:r>
          </a:p>
          <a:p>
            <a:pPr lvl="1" algn="l"/>
            <a:r>
              <a:rPr lang="en-US" sz="2400" dirty="0">
                <a:latin typeface="Times New Roman" panose="02020603050405020304" pitchFamily="18" charset="0"/>
                <a:cs typeface="Times New Roman" panose="02020603050405020304" pitchFamily="18" charset="0"/>
              </a:rPr>
              <a:t>Step 1 : Calculation of KE</a:t>
            </a:r>
          </a:p>
          <a:p>
            <a:pPr lvl="1" algn="l"/>
            <a:r>
              <a:rPr lang="en-US" sz="2400" dirty="0">
                <a:latin typeface="Times New Roman" panose="02020603050405020304" pitchFamily="18" charset="0"/>
                <a:cs typeface="Times New Roman" panose="02020603050405020304" pitchFamily="18" charset="0"/>
              </a:rPr>
              <a:t>Step 2 : Ranking of Probable MODs</a:t>
            </a:r>
          </a:p>
          <a:p>
            <a:pPr lvl="1" algn="l"/>
            <a:r>
              <a:rPr lang="en-US" sz="2400" dirty="0">
                <a:latin typeface="Times New Roman" panose="02020603050405020304" pitchFamily="18" charset="0"/>
                <a:cs typeface="Times New Roman" panose="02020603050405020304" pitchFamily="18" charset="0"/>
              </a:rPr>
              <a:t>Step 3 : Calculation of Post-Fault SEP</a:t>
            </a:r>
          </a:p>
          <a:p>
            <a:pPr lvl="1" algn="l"/>
            <a:r>
              <a:rPr lang="en-US" sz="2400" dirty="0">
                <a:latin typeface="Times New Roman" panose="02020603050405020304" pitchFamily="18" charset="0"/>
                <a:cs typeface="Times New Roman" panose="02020603050405020304" pitchFamily="18" charset="0"/>
              </a:rPr>
              <a:t>Step 4 : Calculation of CUEP</a:t>
            </a:r>
          </a:p>
          <a:p>
            <a:pPr lvl="1" algn="l"/>
            <a:r>
              <a:rPr lang="en-US" sz="2400" dirty="0">
                <a:latin typeface="Times New Roman" panose="02020603050405020304" pitchFamily="18" charset="0"/>
                <a:cs typeface="Times New Roman" panose="02020603050405020304" pitchFamily="18" charset="0"/>
              </a:rPr>
              <a:t>Step 5 : Identification of correct MOD</a:t>
            </a:r>
          </a:p>
          <a:p>
            <a:pPr lvl="1" algn="l"/>
            <a:endParaRPr lang="en-US" sz="2400" dirty="0">
              <a:latin typeface="Times New Roman" panose="02020603050405020304" pitchFamily="18" charset="0"/>
              <a:cs typeface="Times New Roman" panose="02020603050405020304" pitchFamily="18" charset="0"/>
            </a:endParaRPr>
          </a:p>
          <a:p>
            <a:pPr algn="l"/>
            <a:r>
              <a:rPr lang="en-US" sz="2800" b="1" dirty="0">
                <a:latin typeface="Times New Roman" panose="02020603050405020304" pitchFamily="18" charset="0"/>
                <a:cs typeface="Times New Roman" panose="02020603050405020304" pitchFamily="18" charset="0"/>
              </a:rPr>
              <a:t> b.   </a:t>
            </a:r>
            <a:r>
              <a:rPr lang="en-US" sz="2800" b="1" u="sng" dirty="0">
                <a:latin typeface="Times New Roman" panose="02020603050405020304" pitchFamily="18" charset="0"/>
                <a:cs typeface="Times New Roman" panose="02020603050405020304" pitchFamily="18" charset="0"/>
              </a:rPr>
              <a:t>Assessment of first swing transient stability</a:t>
            </a:r>
          </a:p>
          <a:p>
            <a:pPr lvl="1" algn="l"/>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V</a:t>
            </a:r>
            <a:r>
              <a:rPr lang="en-US" sz="2400" baseline="-25000" dirty="0" err="1">
                <a:latin typeface="Times New Roman" panose="02020603050405020304" pitchFamily="18" charset="0"/>
                <a:cs typeface="Times New Roman" panose="02020603050405020304" pitchFamily="18" charset="0"/>
              </a:rPr>
              <a:t>cl</a:t>
            </a:r>
            <a:r>
              <a:rPr lang="en-US" sz="2400" baseline="-250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V</a:t>
            </a:r>
            <a:r>
              <a:rPr lang="en-US" sz="2400" baseline="-25000" dirty="0" err="1">
                <a:latin typeface="Times New Roman" panose="02020603050405020304" pitchFamily="18" charset="0"/>
                <a:cs typeface="Times New Roman" panose="02020603050405020304" pitchFamily="18" charset="0"/>
              </a:rPr>
              <a:t>cr</a:t>
            </a:r>
            <a:r>
              <a:rPr lang="en-US" sz="2400" baseline="-250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V</a:t>
            </a:r>
            <a:r>
              <a:rPr lang="en-US" sz="2400" baseline="-25000" dirty="0" err="1">
                <a:latin typeface="Times New Roman" panose="02020603050405020304" pitchFamily="18" charset="0"/>
                <a:cs typeface="Times New Roman" panose="02020603050405020304" pitchFamily="18" charset="0"/>
              </a:rPr>
              <a:t>cl</a:t>
            </a:r>
            <a:r>
              <a:rPr lang="en-US" sz="2400" baseline="-25000" dirty="0">
                <a:latin typeface="Times New Roman" panose="02020603050405020304" pitchFamily="18" charset="0"/>
                <a:cs typeface="Times New Roman" panose="02020603050405020304" pitchFamily="18" charset="0"/>
              </a:rPr>
              <a:t>	&gt;0, Stable</a:t>
            </a:r>
          </a:p>
          <a:p>
            <a:pPr lvl="1" algn="l"/>
            <a:r>
              <a:rPr lang="en-US" sz="2400" baseline="-25000" dirty="0">
                <a:latin typeface="Times New Roman" panose="02020603050405020304" pitchFamily="18" charset="0"/>
                <a:cs typeface="Times New Roman" panose="02020603050405020304" pitchFamily="18" charset="0"/>
              </a:rPr>
              <a:t>			&lt;0, </a:t>
            </a:r>
            <a:r>
              <a:rPr lang="en-US" sz="2400" baseline="-25000" dirty="0" err="1">
                <a:latin typeface="Times New Roman" panose="02020603050405020304" pitchFamily="18" charset="0"/>
                <a:cs typeface="Times New Roman" panose="02020603050405020304" pitchFamily="18" charset="0"/>
              </a:rPr>
              <a:t>Ustable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2987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DDE722-32EA-B69A-77B7-4A119750AC7B}"/>
              </a:ext>
            </a:extLst>
          </p:cNvPr>
          <p:cNvSpPr>
            <a:spLocks noGrp="1"/>
          </p:cNvSpPr>
          <p:nvPr>
            <p:ph idx="1"/>
          </p:nvPr>
        </p:nvSpPr>
        <p:spPr>
          <a:xfrm>
            <a:off x="911352" y="691768"/>
            <a:ext cx="10515600" cy="5526151"/>
          </a:xfrm>
        </p:spPr>
        <p:txBody>
          <a:bodyPr/>
          <a:lstStyle/>
          <a:p>
            <a:pPr marL="514350" indent="-514350">
              <a:buFont typeface="+mj-lt"/>
              <a:buAutoNum type="alphaLcPeriod" startAt="3"/>
            </a:pPr>
            <a:r>
              <a:rPr lang="en-US" b="1" u="sng" dirty="0">
                <a:latin typeface="Times New Roman" panose="02020603050405020304" pitchFamily="18" charset="0"/>
                <a:cs typeface="Times New Roman" panose="02020603050405020304" pitchFamily="18" charset="0"/>
              </a:rPr>
              <a:t>Estimation of Amount of Control Actions Required and Monitoring of Stability Status</a:t>
            </a:r>
          </a:p>
          <a:p>
            <a:pPr marL="0" indent="0">
              <a:buNone/>
            </a:pP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Step 1 : Prediction of generator speed and angles[LSTM]</a:t>
            </a:r>
          </a:p>
          <a:p>
            <a:pPr marL="0" indent="0">
              <a:buNone/>
            </a:pPr>
            <a:r>
              <a:rPr lang="en-US" sz="2400" dirty="0">
                <a:latin typeface="Times New Roman" panose="02020603050405020304" pitchFamily="18" charset="0"/>
                <a:cs typeface="Times New Roman" panose="02020603050405020304" pitchFamily="18" charset="0"/>
              </a:rPr>
              <a:t>	Step 2 : Modification in Energy Function for Generation Shedding</a:t>
            </a:r>
          </a:p>
          <a:p>
            <a:pPr marL="0" indent="0">
              <a:buNone/>
            </a:pPr>
            <a:r>
              <a:rPr lang="en-US" sz="2400" dirty="0">
                <a:latin typeface="Times New Roman" panose="02020603050405020304" pitchFamily="18" charset="0"/>
                <a:cs typeface="Times New Roman" panose="02020603050405020304" pitchFamily="18" charset="0"/>
              </a:rPr>
              <a:t>	Step 3 : Estimation of the amount of Control action required</a:t>
            </a:r>
          </a:p>
        </p:txBody>
      </p:sp>
      <p:pic>
        <p:nvPicPr>
          <p:cNvPr id="4" name="Picture 3">
            <a:extLst>
              <a:ext uri="{FF2B5EF4-FFF2-40B4-BE49-F238E27FC236}">
                <a16:creationId xmlns:a16="http://schemas.microsoft.com/office/drawing/2014/main" id="{E8391136-9914-4F85-8C5E-3ADA644FFD0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72989" y="3092271"/>
            <a:ext cx="5893723" cy="3347720"/>
          </a:xfrm>
          <a:prstGeom prst="rect">
            <a:avLst/>
          </a:prstGeom>
          <a:noFill/>
          <a:ln>
            <a:noFill/>
          </a:ln>
        </p:spPr>
      </p:pic>
    </p:spTree>
    <p:extLst>
      <p:ext uri="{BB962C8B-B14F-4D97-AF65-F5344CB8AC3E}">
        <p14:creationId xmlns:p14="http://schemas.microsoft.com/office/powerpoint/2010/main" val="1003982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923C52-BFCA-4A02-A0E8-9363C060A135}"/>
              </a:ext>
            </a:extLst>
          </p:cNvPr>
          <p:cNvPicPr>
            <a:picLocks noChangeAspect="1"/>
          </p:cNvPicPr>
          <p:nvPr/>
        </p:nvPicPr>
        <p:blipFill>
          <a:blip r:embed="rId2"/>
          <a:stretch>
            <a:fillRect/>
          </a:stretch>
        </p:blipFill>
        <p:spPr>
          <a:xfrm>
            <a:off x="3027023" y="258087"/>
            <a:ext cx="5781697" cy="6459950"/>
          </a:xfrm>
          <a:prstGeom prst="rect">
            <a:avLst/>
          </a:prstGeom>
        </p:spPr>
      </p:pic>
    </p:spTree>
    <p:extLst>
      <p:ext uri="{BB962C8B-B14F-4D97-AF65-F5344CB8AC3E}">
        <p14:creationId xmlns:p14="http://schemas.microsoft.com/office/powerpoint/2010/main" val="4150255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F1AA2-50B6-4D88-93A8-484760894BE1}"/>
              </a:ext>
            </a:extLst>
          </p:cNvPr>
          <p:cNvSpPr>
            <a:spLocks noGrp="1"/>
          </p:cNvSpPr>
          <p:nvPr>
            <p:ph type="title"/>
          </p:nvPr>
        </p:nvSpPr>
        <p:spPr/>
        <p:txBody>
          <a:bodyPr>
            <a:normAutofit fontScale="90000"/>
          </a:bodyPr>
          <a:lstStyle/>
          <a:p>
            <a:r>
              <a:rPr lang="en-US" sz="3100" b="1" dirty="0"/>
              <a:t>b. </a:t>
            </a:r>
            <a:r>
              <a:rPr lang="en-US" sz="3100" b="1" u="sng" dirty="0"/>
              <a:t>Computation of normalized KE gained by the generators: </a:t>
            </a:r>
            <a:br>
              <a:rPr lang="en-US" b="1" dirty="0"/>
            </a:br>
            <a:endParaRPr lang="en-US" dirty="0"/>
          </a:p>
        </p:txBody>
      </p:sp>
      <p:pic>
        <p:nvPicPr>
          <p:cNvPr id="7" name="Picture 6">
            <a:extLst>
              <a:ext uri="{FF2B5EF4-FFF2-40B4-BE49-F238E27FC236}">
                <a16:creationId xmlns:a16="http://schemas.microsoft.com/office/drawing/2014/main" id="{23662217-1BAC-49B8-8A31-6D531796D190}"/>
              </a:ext>
            </a:extLst>
          </p:cNvPr>
          <p:cNvPicPr>
            <a:picLocks noChangeAspect="1"/>
          </p:cNvPicPr>
          <p:nvPr/>
        </p:nvPicPr>
        <p:blipFill>
          <a:blip r:embed="rId2"/>
          <a:stretch>
            <a:fillRect/>
          </a:stretch>
        </p:blipFill>
        <p:spPr>
          <a:xfrm>
            <a:off x="1065058" y="1356967"/>
            <a:ext cx="3877216" cy="457264"/>
          </a:xfrm>
          <a:prstGeom prst="rect">
            <a:avLst/>
          </a:prstGeom>
        </p:spPr>
      </p:pic>
      <p:pic>
        <p:nvPicPr>
          <p:cNvPr id="8" name="Picture 7">
            <a:extLst>
              <a:ext uri="{FF2B5EF4-FFF2-40B4-BE49-F238E27FC236}">
                <a16:creationId xmlns:a16="http://schemas.microsoft.com/office/drawing/2014/main" id="{11D823C9-FAA9-405A-9F7B-F802D9A3E320}"/>
              </a:ext>
            </a:extLst>
          </p:cNvPr>
          <p:cNvPicPr>
            <a:picLocks noChangeAspect="1"/>
          </p:cNvPicPr>
          <p:nvPr/>
        </p:nvPicPr>
        <p:blipFill>
          <a:blip r:embed="rId3"/>
          <a:stretch>
            <a:fillRect/>
          </a:stretch>
        </p:blipFill>
        <p:spPr>
          <a:xfrm>
            <a:off x="1151123" y="2120567"/>
            <a:ext cx="5201376" cy="1028844"/>
          </a:xfrm>
          <a:prstGeom prst="rect">
            <a:avLst/>
          </a:prstGeom>
        </p:spPr>
      </p:pic>
    </p:spTree>
    <p:extLst>
      <p:ext uri="{BB962C8B-B14F-4D97-AF65-F5344CB8AC3E}">
        <p14:creationId xmlns:p14="http://schemas.microsoft.com/office/powerpoint/2010/main" val="31823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FB6F5-1D51-4AB2-B4BC-757F9C9611D3}"/>
              </a:ext>
            </a:extLst>
          </p:cNvPr>
          <p:cNvSpPr>
            <a:spLocks noGrp="1"/>
          </p:cNvSpPr>
          <p:nvPr>
            <p:ph type="title"/>
          </p:nvPr>
        </p:nvSpPr>
        <p:spPr/>
        <p:txBody>
          <a:bodyPr>
            <a:normAutofit fontScale="90000"/>
          </a:bodyPr>
          <a:lstStyle/>
          <a:p>
            <a:r>
              <a:rPr lang="en-US" dirty="0"/>
              <a:t>System Under Consideration</a:t>
            </a:r>
          </a:p>
        </p:txBody>
      </p:sp>
      <p:pic>
        <p:nvPicPr>
          <p:cNvPr id="4" name="image5.png">
            <a:extLst>
              <a:ext uri="{FF2B5EF4-FFF2-40B4-BE49-F238E27FC236}">
                <a16:creationId xmlns:a16="http://schemas.microsoft.com/office/drawing/2014/main" id="{C123117F-A146-4F1B-8213-76C4C221DA25}"/>
              </a:ext>
            </a:extLst>
          </p:cNvPr>
          <p:cNvPicPr/>
          <p:nvPr/>
        </p:nvPicPr>
        <p:blipFill rotWithShape="1">
          <a:blip r:embed="rId2"/>
          <a:srcRect b="10381"/>
          <a:stretch>
            <a:fillRect/>
          </a:stretch>
        </p:blipFill>
        <p:spPr bwMode="auto">
          <a:xfrm>
            <a:off x="2550694" y="1536633"/>
            <a:ext cx="7571873" cy="446311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30587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13EC9-66C1-4F03-8FD5-E131A7B97162}"/>
              </a:ext>
            </a:extLst>
          </p:cNvPr>
          <p:cNvSpPr>
            <a:spLocks noGrp="1"/>
          </p:cNvSpPr>
          <p:nvPr>
            <p:ph type="title"/>
          </p:nvPr>
        </p:nvSpPr>
        <p:spPr>
          <a:xfrm>
            <a:off x="615105" y="3316778"/>
            <a:ext cx="11360800" cy="500756"/>
          </a:xfrm>
        </p:spPr>
        <p:txBody>
          <a:bodyPr>
            <a:normAutofit fontScale="90000"/>
          </a:bodyPr>
          <a:lstStyle/>
          <a:p>
            <a:r>
              <a:rPr lang="en-US" dirty="0">
                <a:latin typeface="Times New Roman" panose="02020603050405020304" pitchFamily="18" charset="0"/>
                <a:cs typeface="Times New Roman" panose="02020603050405020304" pitchFamily="18" charset="0"/>
              </a:rPr>
              <a:t>Tools and Software:</a:t>
            </a:r>
            <a:endParaRPr lang="en-US" dirty="0"/>
          </a:p>
        </p:txBody>
      </p:sp>
      <p:sp>
        <p:nvSpPr>
          <p:cNvPr id="3" name="Text Placeholder 2">
            <a:extLst>
              <a:ext uri="{FF2B5EF4-FFF2-40B4-BE49-F238E27FC236}">
                <a16:creationId xmlns:a16="http://schemas.microsoft.com/office/drawing/2014/main" id="{EE3200E5-40B5-4265-BD44-7CE151BAC7CB}"/>
              </a:ext>
            </a:extLst>
          </p:cNvPr>
          <p:cNvSpPr>
            <a:spLocks noGrp="1"/>
          </p:cNvSpPr>
          <p:nvPr>
            <p:ph type="body" idx="1"/>
          </p:nvPr>
        </p:nvSpPr>
        <p:spPr>
          <a:xfrm>
            <a:off x="415600" y="3990109"/>
            <a:ext cx="11360800" cy="1288473"/>
          </a:xfrm>
        </p:spPr>
        <p:txBody>
          <a:bodyPr>
            <a:normAutofit lnSpcReduction="10000"/>
          </a:bodyPr>
          <a:lstStyle/>
          <a:p>
            <a:r>
              <a:rPr lang="en-US" dirty="0" err="1"/>
              <a:t>Matlab</a:t>
            </a:r>
            <a:endParaRPr lang="en-US" dirty="0"/>
          </a:p>
          <a:p>
            <a:r>
              <a:rPr lang="en-US" dirty="0"/>
              <a:t>Python</a:t>
            </a:r>
          </a:p>
          <a:p>
            <a:r>
              <a:rPr lang="en-US" dirty="0"/>
              <a:t>PSS/E</a:t>
            </a:r>
          </a:p>
          <a:p>
            <a:endParaRPr lang="en-US" dirty="0"/>
          </a:p>
        </p:txBody>
      </p:sp>
      <p:sp>
        <p:nvSpPr>
          <p:cNvPr id="4" name="Title 1">
            <a:extLst>
              <a:ext uri="{FF2B5EF4-FFF2-40B4-BE49-F238E27FC236}">
                <a16:creationId xmlns:a16="http://schemas.microsoft.com/office/drawing/2014/main" id="{5B7D021E-656D-4B71-B122-DD01E0552345}"/>
              </a:ext>
            </a:extLst>
          </p:cNvPr>
          <p:cNvSpPr txBox="1">
            <a:spLocks/>
          </p:cNvSpPr>
          <p:nvPr/>
        </p:nvSpPr>
        <p:spPr>
          <a:xfrm>
            <a:off x="501498" y="584661"/>
            <a:ext cx="11360800" cy="2141914"/>
          </a:xfrm>
          <a:prstGeom prst="rect">
            <a:avLst/>
          </a:prstGeom>
        </p:spPr>
        <p:txBody>
          <a:bodyPr spcFirstLastPara="1" vert="horz" wrap="square" lIns="91425" tIns="91425" rIns="91425" bIns="91425" rtlCol="0" anchor="t" anchorCtr="0">
            <a:normAutofit fontScale="40000" lnSpcReduction="20000"/>
          </a:bodyPr>
          <a:lstStyle>
            <a:lvl1pPr lvl="0" algn="l" defTabSz="914400" rtl="0" eaLnBrk="1" latinLnBrk="0" hangingPunct="1">
              <a:lnSpc>
                <a:spcPct val="90000"/>
              </a:lnSpc>
              <a:spcBef>
                <a:spcPts val="0"/>
              </a:spcBef>
              <a:spcAft>
                <a:spcPts val="0"/>
              </a:spcAft>
              <a:buSzPts val="2800"/>
              <a:buNone/>
              <a:defRPr sz="4400" kern="1200">
                <a:solidFill>
                  <a:schemeClr val="tx1"/>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b="1" dirty="0"/>
              <a:t>Scope:</a:t>
            </a:r>
            <a:br>
              <a:rPr lang="en-US" b="1" dirty="0"/>
            </a:br>
            <a:r>
              <a:rPr lang="en-US" b="1" dirty="0"/>
              <a:t>Network Modeling:</a:t>
            </a:r>
            <a:endParaRPr lang="en-US" dirty="0"/>
          </a:p>
          <a:p>
            <a:r>
              <a:rPr lang="en-US" dirty="0"/>
              <a:t>For the development of the TEF Internal node model is developed using the constant impedance load and internal node behind the transient reactance is used followed by </a:t>
            </a:r>
            <a:r>
              <a:rPr lang="en-US" dirty="0" err="1"/>
              <a:t>Kron’s</a:t>
            </a:r>
            <a:r>
              <a:rPr lang="en-US" dirty="0"/>
              <a:t> reduction to show the coupling between the generators. For the development of the real system all the parameters are included.</a:t>
            </a:r>
            <a:br>
              <a:rPr lang="en-US" dirty="0"/>
            </a:br>
            <a:r>
              <a:rPr lang="en-US" b="1" dirty="0"/>
              <a:t>Generator Modeling: Classical Model for TEF and Detailed Model in real time simulation in </a:t>
            </a:r>
            <a:r>
              <a:rPr lang="en-US" b="1" dirty="0" err="1"/>
              <a:t>psse</a:t>
            </a:r>
            <a:endParaRPr lang="en-US" dirty="0"/>
          </a:p>
          <a:p>
            <a:endParaRPr lang="en-US" sz="4200" b="1" dirty="0"/>
          </a:p>
          <a:p>
            <a:r>
              <a:rPr lang="en-US" sz="4200" b="1" dirty="0"/>
              <a:t>Disturbance Type:  </a:t>
            </a:r>
            <a:r>
              <a:rPr lang="en-US" dirty="0"/>
              <a:t>3-Phase Symmetrical Fault</a:t>
            </a:r>
          </a:p>
        </p:txBody>
      </p:sp>
      <p:sp>
        <p:nvSpPr>
          <p:cNvPr id="5" name="Title 1">
            <a:extLst>
              <a:ext uri="{FF2B5EF4-FFF2-40B4-BE49-F238E27FC236}">
                <a16:creationId xmlns:a16="http://schemas.microsoft.com/office/drawing/2014/main" id="{DD63F280-0B08-4AE9-8905-88F1A1BD1FD2}"/>
              </a:ext>
            </a:extLst>
          </p:cNvPr>
          <p:cNvSpPr txBox="1">
            <a:spLocks/>
          </p:cNvSpPr>
          <p:nvPr/>
        </p:nvSpPr>
        <p:spPr>
          <a:xfrm>
            <a:off x="415600" y="1379912"/>
            <a:ext cx="11360800" cy="1288473"/>
          </a:xfrm>
          <a:prstGeom prst="rect">
            <a:avLst/>
          </a:prstGeom>
        </p:spPr>
        <p:txBody>
          <a:bodyPr spcFirstLastPara="1" vert="horz" wrap="square" lIns="91425" tIns="91425" rIns="91425" bIns="91425" rtlCol="0" anchor="t" anchorCtr="0">
            <a:normAutofit fontScale="97500"/>
          </a:bodyPr>
          <a:lstStyle>
            <a:lvl1pPr lvl="0" algn="l" defTabSz="914400" rtl="0" eaLnBrk="1" latinLnBrk="0" hangingPunct="1">
              <a:lnSpc>
                <a:spcPct val="90000"/>
              </a:lnSpc>
              <a:spcBef>
                <a:spcPts val="0"/>
              </a:spcBef>
              <a:spcAft>
                <a:spcPts val="0"/>
              </a:spcAft>
              <a:buSzPts val="2800"/>
              <a:buNone/>
              <a:defRPr sz="4400" kern="1200">
                <a:solidFill>
                  <a:schemeClr val="tx1"/>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lang="en-US" dirty="0"/>
          </a:p>
        </p:txBody>
      </p:sp>
    </p:spTree>
    <p:extLst>
      <p:ext uri="{BB962C8B-B14F-4D97-AF65-F5344CB8AC3E}">
        <p14:creationId xmlns:p14="http://schemas.microsoft.com/office/powerpoint/2010/main" val="923918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15024"/>
          </a:xfrm>
        </p:spPr>
        <p:txBody>
          <a:bodyPr/>
          <a:lstStyle/>
          <a:p>
            <a:r>
              <a:rPr lang="en-US" b="1" dirty="0"/>
              <a:t>Result And Analysis</a:t>
            </a:r>
          </a:p>
        </p:txBody>
      </p:sp>
      <p:sp>
        <p:nvSpPr>
          <p:cNvPr id="5" name="Rectangle 4"/>
          <p:cNvSpPr/>
          <p:nvPr/>
        </p:nvSpPr>
        <p:spPr>
          <a:xfrm>
            <a:off x="838200" y="1347284"/>
            <a:ext cx="10204269" cy="1160318"/>
          </a:xfrm>
          <a:prstGeom prst="rect">
            <a:avLst/>
          </a:prstGeom>
        </p:spPr>
        <p:txBody>
          <a:bodyPr wrap="square">
            <a:spAutoFit/>
          </a:bodyPr>
          <a:lstStyle/>
          <a:p>
            <a:pPr algn="just">
              <a:lnSpc>
                <a:spcPct val="115000"/>
              </a:lnSpc>
              <a:spcBef>
                <a:spcPts val="1200"/>
              </a:spcBef>
              <a:spcAft>
                <a:spcPts val="600"/>
              </a:spcAft>
            </a:pPr>
            <a:r>
              <a:rPr lang="en-US" sz="2000" b="1" dirty="0">
                <a:effectLst/>
                <a:latin typeface="Times New Roman" panose="02020603050405020304" pitchFamily="18" charset="0"/>
              </a:rPr>
              <a:t>Transient Energy Function and BCU Results From MATLAB</a:t>
            </a:r>
            <a:endParaRPr lang="en-US" sz="2400" b="1" dirty="0">
              <a:effectLst/>
              <a:latin typeface="Arial" panose="020B0604020202020204" pitchFamily="34" charset="0"/>
            </a:endParaRPr>
          </a:p>
          <a:p>
            <a:pPr algn="just">
              <a:lnSpc>
                <a:spcPct val="115000"/>
              </a:lnSpc>
            </a:pPr>
            <a:r>
              <a:rPr lang="en-US" dirty="0">
                <a:effectLst/>
                <a:latin typeface="Times New Roman" panose="02020603050405020304" pitchFamily="18" charset="0"/>
                <a:ea typeface="Arial" panose="020B0604020202020204" pitchFamily="34" charset="0"/>
              </a:rPr>
              <a:t>Transient energy function framework is developed for IEEE-9 bus system using classical model consideration. Fault at different location is created and results obtained is shown in the table below:</a:t>
            </a:r>
            <a:endParaRPr lang="en-US" sz="1600" dirty="0">
              <a:effectLst/>
              <a:latin typeface="Arial" panose="020B0604020202020204" pitchFamily="34" charset="0"/>
              <a:ea typeface="Arial" panose="020B0604020202020204" pitchFamily="34" charset="0"/>
            </a:endParaRPr>
          </a:p>
        </p:txBody>
      </p:sp>
      <p:sp>
        <p:nvSpPr>
          <p:cNvPr id="6" name="Rectangle 5"/>
          <p:cNvSpPr/>
          <p:nvPr/>
        </p:nvSpPr>
        <p:spPr>
          <a:xfrm>
            <a:off x="969956" y="2748389"/>
            <a:ext cx="986167" cy="410882"/>
          </a:xfrm>
          <a:prstGeom prst="rect">
            <a:avLst/>
          </a:prstGeom>
        </p:spPr>
        <p:txBody>
          <a:bodyPr wrap="none">
            <a:spAutoFit/>
          </a:bodyPr>
          <a:lstStyle/>
          <a:p>
            <a:pPr algn="just">
              <a:lnSpc>
                <a:spcPct val="115000"/>
              </a:lnSpc>
            </a:pPr>
            <a:r>
              <a:rPr lang="en-US" b="1" dirty="0">
                <a:effectLst/>
                <a:latin typeface="Times New Roman" panose="02020603050405020304" pitchFamily="18" charset="0"/>
                <a:ea typeface="Arial" panose="020B0604020202020204" pitchFamily="34" charset="0"/>
              </a:rPr>
              <a:t>Result 1</a:t>
            </a:r>
            <a:endParaRPr lang="en-US" sz="1600" dirty="0">
              <a:effectLst/>
              <a:latin typeface="Arial" panose="020B0604020202020204" pitchFamily="34" charset="0"/>
              <a:ea typeface="Arial" panose="020B0604020202020204" pitchFamily="34" charset="0"/>
            </a:endParaRPr>
          </a:p>
        </p:txBody>
      </p:sp>
      <p:pic>
        <p:nvPicPr>
          <p:cNvPr id="9" name="image12.jpg"/>
          <p:cNvPicPr/>
          <p:nvPr/>
        </p:nvPicPr>
        <p:blipFill>
          <a:blip r:embed="rId2"/>
          <a:srcRect/>
          <a:stretch>
            <a:fillRect/>
          </a:stretch>
        </p:blipFill>
        <p:spPr>
          <a:xfrm>
            <a:off x="6694700" y="2580514"/>
            <a:ext cx="5031393" cy="3539480"/>
          </a:xfrm>
          <a:prstGeom prst="rect">
            <a:avLst/>
          </a:prstGeom>
          <a:ln/>
        </p:spPr>
      </p:pic>
      <p:sp>
        <p:nvSpPr>
          <p:cNvPr id="10" name="Rectangle 9"/>
          <p:cNvSpPr/>
          <p:nvPr/>
        </p:nvSpPr>
        <p:spPr>
          <a:xfrm>
            <a:off x="6527376" y="6192906"/>
            <a:ext cx="5808000" cy="369332"/>
          </a:xfrm>
          <a:prstGeom prst="rect">
            <a:avLst/>
          </a:prstGeom>
        </p:spPr>
        <p:txBody>
          <a:bodyPr wrap="none">
            <a:spAutoFit/>
          </a:bodyPr>
          <a:lstStyle/>
          <a:p>
            <a:r>
              <a:rPr lang="en-US" dirty="0">
                <a:effectLst/>
                <a:latin typeface="Times New Roman" panose="02020603050405020304" pitchFamily="18" charset="0"/>
                <a:ea typeface="Arial" panose="020B0604020202020204" pitchFamily="34" charset="0"/>
              </a:rPr>
              <a:t> Fig 8: w vs del for faulted and Post fault Dynamics (Stable) </a:t>
            </a:r>
            <a:endParaRPr lang="en-US" dirty="0"/>
          </a:p>
        </p:txBody>
      </p:sp>
      <p:graphicFrame>
        <p:nvGraphicFramePr>
          <p:cNvPr id="3" name="Table 2">
            <a:extLst>
              <a:ext uri="{FF2B5EF4-FFF2-40B4-BE49-F238E27FC236}">
                <a16:creationId xmlns:a16="http://schemas.microsoft.com/office/drawing/2014/main" id="{E5A0A34B-10BF-4A48-B3F7-6C90E5C7F518}"/>
              </a:ext>
            </a:extLst>
          </p:cNvPr>
          <p:cNvGraphicFramePr>
            <a:graphicFrameLocks noGrp="1"/>
          </p:cNvGraphicFramePr>
          <p:nvPr>
            <p:extLst>
              <p:ext uri="{D42A27DB-BD31-4B8C-83A1-F6EECF244321}">
                <p14:modId xmlns:p14="http://schemas.microsoft.com/office/powerpoint/2010/main" val="3244189669"/>
              </p:ext>
            </p:extLst>
          </p:nvPr>
        </p:nvGraphicFramePr>
        <p:xfrm>
          <a:off x="1064607" y="3400058"/>
          <a:ext cx="5031393" cy="1877793"/>
        </p:xfrm>
        <a:graphic>
          <a:graphicData uri="http://schemas.openxmlformats.org/drawingml/2006/table">
            <a:tbl>
              <a:tblPr>
                <a:tableStyleId>{5C22544A-7EE6-4342-B048-85BDC9FD1C3A}</a:tableStyleId>
              </a:tblPr>
              <a:tblGrid>
                <a:gridCol w="1687899">
                  <a:extLst>
                    <a:ext uri="{9D8B030D-6E8A-4147-A177-3AD203B41FA5}">
                      <a16:colId xmlns:a16="http://schemas.microsoft.com/office/drawing/2014/main" val="1506678813"/>
                    </a:ext>
                  </a:extLst>
                </a:gridCol>
                <a:gridCol w="961053">
                  <a:extLst>
                    <a:ext uri="{9D8B030D-6E8A-4147-A177-3AD203B41FA5}">
                      <a16:colId xmlns:a16="http://schemas.microsoft.com/office/drawing/2014/main" val="2762081369"/>
                    </a:ext>
                  </a:extLst>
                </a:gridCol>
                <a:gridCol w="1082194">
                  <a:extLst>
                    <a:ext uri="{9D8B030D-6E8A-4147-A177-3AD203B41FA5}">
                      <a16:colId xmlns:a16="http://schemas.microsoft.com/office/drawing/2014/main" val="360923240"/>
                    </a:ext>
                  </a:extLst>
                </a:gridCol>
                <a:gridCol w="1300247">
                  <a:extLst>
                    <a:ext uri="{9D8B030D-6E8A-4147-A177-3AD203B41FA5}">
                      <a16:colId xmlns:a16="http://schemas.microsoft.com/office/drawing/2014/main" val="3214813760"/>
                    </a:ext>
                  </a:extLst>
                </a:gridCol>
              </a:tblGrid>
              <a:tr h="363687">
                <a:tc gridSpan="4">
                  <a:txBody>
                    <a:bodyPr/>
                    <a:lstStyle/>
                    <a:p>
                      <a:pPr marL="0" marR="0" algn="l">
                        <a:lnSpc>
                          <a:spcPct val="115000"/>
                        </a:lnSpc>
                        <a:spcBef>
                          <a:spcPts val="0"/>
                        </a:spcBef>
                        <a:spcAft>
                          <a:spcPts val="0"/>
                        </a:spcAft>
                      </a:pPr>
                      <a:r>
                        <a:rPr lang="en-US" sz="1000" dirty="0">
                          <a:effectLst/>
                        </a:rPr>
                        <a:t>Fault At bus 7 at t=0 and cleared at 0.15</a:t>
                      </a:r>
                      <a:endParaRPr lang="en-US" sz="1100" dirty="0">
                        <a:effectLst/>
                        <a:latin typeface="Arial" panose="020B0604020202020204" pitchFamily="34" charset="0"/>
                        <a:ea typeface="Arial" panose="020B0604020202020204" pitchFamily="34" charset="0"/>
                      </a:endParaRPr>
                    </a:p>
                  </a:txBody>
                  <a:tcPr marL="25400" marR="25400" marT="25400" marB="2540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239637"/>
                  </a:ext>
                </a:extLst>
              </a:tr>
              <a:tr h="363687">
                <a:tc>
                  <a:txBody>
                    <a:bodyPr/>
                    <a:lstStyle/>
                    <a:p>
                      <a:pPr marL="0" marR="0" algn="l">
                        <a:lnSpc>
                          <a:spcPct val="115000"/>
                        </a:lnSpc>
                        <a:spcBef>
                          <a:spcPts val="0"/>
                        </a:spcBef>
                        <a:spcAft>
                          <a:spcPts val="0"/>
                        </a:spcAft>
                      </a:pPr>
                      <a:r>
                        <a:rPr lang="en-US" sz="1000">
                          <a:effectLst/>
                        </a:rPr>
                        <a:t>Result</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l">
                        <a:lnSpc>
                          <a:spcPct val="115000"/>
                        </a:lnSpc>
                        <a:spcBef>
                          <a:spcPts val="0"/>
                        </a:spcBef>
                        <a:spcAft>
                          <a:spcPts val="0"/>
                        </a:spcAft>
                      </a:pPr>
                      <a:r>
                        <a:rPr lang="en-US" sz="1000">
                          <a:effectLst/>
                        </a:rPr>
                        <a:t>TDS</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l">
                        <a:lnSpc>
                          <a:spcPct val="115000"/>
                        </a:lnSpc>
                        <a:spcBef>
                          <a:spcPts val="0"/>
                        </a:spcBef>
                        <a:spcAft>
                          <a:spcPts val="0"/>
                        </a:spcAft>
                      </a:pPr>
                      <a:r>
                        <a:rPr lang="en-US" sz="1000">
                          <a:effectLst/>
                        </a:rPr>
                        <a:t>BCU</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l">
                        <a:lnSpc>
                          <a:spcPct val="115000"/>
                        </a:lnSpc>
                        <a:spcBef>
                          <a:spcPts val="0"/>
                        </a:spcBef>
                        <a:spcAft>
                          <a:spcPts val="0"/>
                        </a:spcAft>
                      </a:pPr>
                      <a:r>
                        <a:rPr lang="en-US" sz="1000">
                          <a:effectLst/>
                        </a:rPr>
                        <a:t>PEBS</a:t>
                      </a:r>
                      <a:endParaRPr lang="en-US" sz="1100">
                        <a:effectLst/>
                        <a:latin typeface="Arial" panose="020B0604020202020204" pitchFamily="34" charset="0"/>
                        <a:ea typeface="Arial" panose="020B0604020202020204" pitchFamily="34" charset="0"/>
                      </a:endParaRPr>
                    </a:p>
                  </a:txBody>
                  <a:tcPr marL="25400" marR="25400" marT="25400" marB="25400" anchor="b"/>
                </a:tc>
                <a:extLst>
                  <a:ext uri="{0D108BD9-81ED-4DB2-BD59-A6C34878D82A}">
                    <a16:rowId xmlns:a16="http://schemas.microsoft.com/office/drawing/2014/main" val="1353101401"/>
                  </a:ext>
                </a:extLst>
              </a:tr>
              <a:tr h="393366">
                <a:tc>
                  <a:txBody>
                    <a:bodyPr/>
                    <a:lstStyle/>
                    <a:p>
                      <a:pPr marL="0" marR="0" algn="l">
                        <a:lnSpc>
                          <a:spcPct val="115000"/>
                        </a:lnSpc>
                        <a:spcBef>
                          <a:spcPts val="0"/>
                        </a:spcBef>
                        <a:spcAft>
                          <a:spcPts val="0"/>
                        </a:spcAft>
                      </a:pPr>
                      <a:r>
                        <a:rPr lang="en-US" sz="1000">
                          <a:effectLst/>
                        </a:rPr>
                        <a:t>V</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100" dirty="0" err="1">
                          <a:effectLst/>
                        </a:rPr>
                        <a:t>Vcl</a:t>
                      </a:r>
                      <a:r>
                        <a:rPr lang="en-US" sz="1100" dirty="0">
                          <a:effectLst/>
                        </a:rPr>
                        <a:t> =</a:t>
                      </a:r>
                      <a:r>
                        <a:rPr lang="en-US" sz="1000" dirty="0">
                          <a:effectLst/>
                        </a:rPr>
                        <a:t>0.843</a:t>
                      </a:r>
                      <a:endParaRPr lang="en-US" sz="1100" dirty="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100">
                          <a:effectLst/>
                        </a:rPr>
                        <a:t>Vcr_BCU=</a:t>
                      </a:r>
                      <a:r>
                        <a:rPr lang="en-US" sz="1000">
                          <a:effectLst/>
                        </a:rPr>
                        <a:t>0.973</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100">
                          <a:effectLst/>
                        </a:rPr>
                        <a:t>Vcr_PEBS=</a:t>
                      </a:r>
                      <a:r>
                        <a:rPr lang="en-US" sz="1000">
                          <a:effectLst/>
                        </a:rPr>
                        <a:t>1.25</a:t>
                      </a:r>
                      <a:endParaRPr lang="en-US" sz="1100">
                        <a:effectLst/>
                        <a:latin typeface="Arial" panose="020B0604020202020204" pitchFamily="34" charset="0"/>
                        <a:ea typeface="Arial" panose="020B0604020202020204" pitchFamily="34" charset="0"/>
                      </a:endParaRPr>
                    </a:p>
                  </a:txBody>
                  <a:tcPr marL="25400" marR="25400" marT="25400" marB="25400" anchor="b"/>
                </a:tc>
                <a:extLst>
                  <a:ext uri="{0D108BD9-81ED-4DB2-BD59-A6C34878D82A}">
                    <a16:rowId xmlns:a16="http://schemas.microsoft.com/office/drawing/2014/main" val="965688174"/>
                  </a:ext>
                </a:extLst>
              </a:tr>
              <a:tr h="393366">
                <a:tc>
                  <a:txBody>
                    <a:bodyPr/>
                    <a:lstStyle/>
                    <a:p>
                      <a:pPr marL="0" marR="0" algn="l">
                        <a:lnSpc>
                          <a:spcPct val="115000"/>
                        </a:lnSpc>
                        <a:spcBef>
                          <a:spcPts val="0"/>
                        </a:spcBef>
                        <a:spcAft>
                          <a:spcPts val="0"/>
                        </a:spcAft>
                      </a:pPr>
                      <a:r>
                        <a:rPr lang="en-US" sz="1000">
                          <a:effectLst/>
                        </a:rPr>
                        <a:t>Critical clearing time (Tcl)</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100">
                          <a:effectLst/>
                        </a:rPr>
                        <a:t>Tcl=</a:t>
                      </a:r>
                      <a:r>
                        <a:rPr lang="en-US" sz="1000">
                          <a:effectLst/>
                        </a:rPr>
                        <a:t>0.15</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100">
                          <a:effectLst/>
                        </a:rPr>
                        <a:t>Tcr_BCU=</a:t>
                      </a:r>
                      <a:r>
                        <a:rPr lang="en-US" sz="1000">
                          <a:effectLst/>
                        </a:rPr>
                        <a:t>0.162</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100">
                          <a:effectLst/>
                        </a:rPr>
                        <a:t>Tcr_PEBS=</a:t>
                      </a:r>
                      <a:r>
                        <a:rPr lang="en-US" sz="1000">
                          <a:effectLst/>
                        </a:rPr>
                        <a:t>0.184</a:t>
                      </a:r>
                      <a:endParaRPr lang="en-US" sz="1100">
                        <a:effectLst/>
                        <a:latin typeface="Arial" panose="020B0604020202020204" pitchFamily="34" charset="0"/>
                        <a:ea typeface="Arial" panose="020B0604020202020204" pitchFamily="34" charset="0"/>
                      </a:endParaRPr>
                    </a:p>
                  </a:txBody>
                  <a:tcPr marL="25400" marR="25400" marT="25400" marB="25400" anchor="b"/>
                </a:tc>
                <a:extLst>
                  <a:ext uri="{0D108BD9-81ED-4DB2-BD59-A6C34878D82A}">
                    <a16:rowId xmlns:a16="http://schemas.microsoft.com/office/drawing/2014/main" val="320604638"/>
                  </a:ext>
                </a:extLst>
              </a:tr>
              <a:tr h="363687">
                <a:tc>
                  <a:txBody>
                    <a:bodyPr/>
                    <a:lstStyle/>
                    <a:p>
                      <a:pPr marL="0" marR="0" algn="l">
                        <a:lnSpc>
                          <a:spcPct val="115000"/>
                        </a:lnSpc>
                        <a:spcBef>
                          <a:spcPts val="0"/>
                        </a:spcBef>
                        <a:spcAft>
                          <a:spcPts val="0"/>
                        </a:spcAft>
                      </a:pPr>
                      <a:r>
                        <a:rPr lang="en-US" sz="1000" dirty="0">
                          <a:effectLst/>
                        </a:rPr>
                        <a:t>Computation Time</a:t>
                      </a:r>
                      <a:endParaRPr lang="en-US" sz="1100" dirty="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ctr">
                        <a:lnSpc>
                          <a:spcPct val="115000"/>
                        </a:lnSpc>
                        <a:spcBef>
                          <a:spcPts val="0"/>
                        </a:spcBef>
                        <a:spcAft>
                          <a:spcPts val="0"/>
                        </a:spcAft>
                      </a:pPr>
                      <a:r>
                        <a:rPr lang="en-US" sz="1000">
                          <a:effectLst/>
                        </a:rPr>
                        <a:t>0.23</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000">
                          <a:effectLst/>
                        </a:rPr>
                        <a:t>0.2</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000" dirty="0">
                          <a:effectLst/>
                        </a:rPr>
                        <a:t>0.17</a:t>
                      </a:r>
                      <a:endParaRPr lang="en-US" sz="1100" dirty="0">
                        <a:effectLst/>
                        <a:latin typeface="Arial" panose="020B0604020202020204" pitchFamily="34" charset="0"/>
                        <a:ea typeface="Arial" panose="020B0604020202020204" pitchFamily="34" charset="0"/>
                      </a:endParaRPr>
                    </a:p>
                  </a:txBody>
                  <a:tcPr marL="25400" marR="25400" marT="25400" marB="25400" anchor="b"/>
                </a:tc>
                <a:extLst>
                  <a:ext uri="{0D108BD9-81ED-4DB2-BD59-A6C34878D82A}">
                    <a16:rowId xmlns:a16="http://schemas.microsoft.com/office/drawing/2014/main" val="3705842428"/>
                  </a:ext>
                </a:extLst>
              </a:tr>
            </a:tbl>
          </a:graphicData>
        </a:graphic>
      </p:graphicFrame>
      <p:sp>
        <p:nvSpPr>
          <p:cNvPr id="7" name="Rectangle 6">
            <a:extLst>
              <a:ext uri="{FF2B5EF4-FFF2-40B4-BE49-F238E27FC236}">
                <a16:creationId xmlns:a16="http://schemas.microsoft.com/office/drawing/2014/main" id="{481A0DFC-761E-4669-AD0A-D17B4FD3B488}"/>
              </a:ext>
            </a:extLst>
          </p:cNvPr>
          <p:cNvSpPr/>
          <p:nvPr/>
        </p:nvSpPr>
        <p:spPr>
          <a:xfrm>
            <a:off x="1064607" y="5277851"/>
            <a:ext cx="6096000" cy="1340688"/>
          </a:xfrm>
          <a:prstGeom prst="rect">
            <a:avLst/>
          </a:prstGeom>
        </p:spPr>
        <p:txBody>
          <a:bodyPr>
            <a:spAutoFit/>
          </a:bodyPr>
          <a:lstStyle/>
          <a:p>
            <a:pPr>
              <a:lnSpc>
                <a:spcPct val="115000"/>
              </a:lnSpc>
            </a:pPr>
            <a:r>
              <a:rPr lang="en-US" dirty="0" err="1">
                <a:latin typeface="Times New Roman" panose="02020603050405020304" pitchFamily="18" charset="0"/>
                <a:ea typeface="Arial" panose="020B0604020202020204" pitchFamily="34" charset="0"/>
              </a:rPr>
              <a:t>Vcr_PEBS</a:t>
            </a:r>
            <a:r>
              <a:rPr lang="en-US" dirty="0">
                <a:latin typeface="Times New Roman" panose="02020603050405020304" pitchFamily="18" charset="0"/>
                <a:ea typeface="Arial" panose="020B0604020202020204" pitchFamily="34" charset="0"/>
              </a:rPr>
              <a:t>&gt; </a:t>
            </a:r>
            <a:r>
              <a:rPr lang="en-US" dirty="0" err="1">
                <a:latin typeface="Times New Roman" panose="02020603050405020304" pitchFamily="18" charset="0"/>
                <a:ea typeface="Arial" panose="020B0604020202020204" pitchFamily="34" charset="0"/>
              </a:rPr>
              <a:t>Vcl</a:t>
            </a:r>
            <a:r>
              <a:rPr lang="en-US" dirty="0">
                <a:latin typeface="Times New Roman" panose="02020603050405020304" pitchFamily="18" charset="0"/>
                <a:ea typeface="Arial" panose="020B0604020202020204" pitchFamily="34" charset="0"/>
              </a:rPr>
              <a:t>  </a:t>
            </a:r>
            <a:endParaRPr lang="en-US" dirty="0">
              <a:latin typeface="Arial" panose="020B0604020202020204" pitchFamily="34" charset="0"/>
              <a:ea typeface="Arial" panose="020B0604020202020204" pitchFamily="34" charset="0"/>
            </a:endParaRPr>
          </a:p>
          <a:p>
            <a:pPr>
              <a:lnSpc>
                <a:spcPct val="115000"/>
              </a:lnSpc>
            </a:pPr>
            <a:r>
              <a:rPr lang="en-US" dirty="0" err="1">
                <a:latin typeface="Times New Roman" panose="02020603050405020304" pitchFamily="18" charset="0"/>
                <a:ea typeface="Arial" panose="020B0604020202020204" pitchFamily="34" charset="0"/>
              </a:rPr>
              <a:t>Tcr_PEBS</a:t>
            </a:r>
            <a:r>
              <a:rPr lang="en-US" dirty="0">
                <a:latin typeface="Times New Roman" panose="02020603050405020304" pitchFamily="18" charset="0"/>
                <a:ea typeface="Arial" panose="020B0604020202020204" pitchFamily="34" charset="0"/>
              </a:rPr>
              <a:t>&gt;</a:t>
            </a:r>
            <a:r>
              <a:rPr lang="en-US" dirty="0" err="1">
                <a:latin typeface="Times New Roman" panose="02020603050405020304" pitchFamily="18" charset="0"/>
                <a:ea typeface="Arial" panose="020B0604020202020204" pitchFamily="34" charset="0"/>
              </a:rPr>
              <a:t>Tcl</a:t>
            </a:r>
            <a:r>
              <a:rPr lang="en-US" dirty="0">
                <a:latin typeface="Times New Roman" panose="02020603050405020304" pitchFamily="18" charset="0"/>
                <a:ea typeface="Arial" panose="020B0604020202020204" pitchFamily="34" charset="0"/>
              </a:rPr>
              <a:t>        System is PEBS Stable</a:t>
            </a:r>
            <a:endParaRPr lang="en-US" dirty="0">
              <a:latin typeface="Arial" panose="020B0604020202020204" pitchFamily="34" charset="0"/>
              <a:ea typeface="Arial" panose="020B0604020202020204" pitchFamily="34" charset="0"/>
            </a:endParaRPr>
          </a:p>
          <a:p>
            <a:pPr>
              <a:lnSpc>
                <a:spcPct val="115000"/>
              </a:lnSpc>
            </a:pPr>
            <a:r>
              <a:rPr lang="en-US" dirty="0" err="1">
                <a:latin typeface="Times New Roman" panose="02020603050405020304" pitchFamily="18" charset="0"/>
                <a:ea typeface="Arial" panose="020B0604020202020204" pitchFamily="34" charset="0"/>
              </a:rPr>
              <a:t>Vcr_BCU</a:t>
            </a:r>
            <a:r>
              <a:rPr lang="en-US" dirty="0">
                <a:latin typeface="Times New Roman" panose="02020603050405020304" pitchFamily="18" charset="0"/>
                <a:ea typeface="Arial" panose="020B0604020202020204" pitchFamily="34" charset="0"/>
              </a:rPr>
              <a:t>&gt; </a:t>
            </a:r>
            <a:r>
              <a:rPr lang="en-US" dirty="0" err="1">
                <a:latin typeface="Times New Roman" panose="02020603050405020304" pitchFamily="18" charset="0"/>
                <a:ea typeface="Arial" panose="020B0604020202020204" pitchFamily="34" charset="0"/>
              </a:rPr>
              <a:t>Vcl</a:t>
            </a:r>
            <a:r>
              <a:rPr lang="en-US" dirty="0">
                <a:latin typeface="Times New Roman" panose="02020603050405020304" pitchFamily="18" charset="0"/>
                <a:ea typeface="Arial" panose="020B0604020202020204" pitchFamily="34" charset="0"/>
              </a:rPr>
              <a:t>  </a:t>
            </a:r>
            <a:endParaRPr lang="en-US" dirty="0">
              <a:latin typeface="Arial" panose="020B0604020202020204" pitchFamily="34" charset="0"/>
              <a:ea typeface="Arial" panose="020B0604020202020204" pitchFamily="34" charset="0"/>
            </a:endParaRPr>
          </a:p>
          <a:p>
            <a:pPr>
              <a:lnSpc>
                <a:spcPct val="115000"/>
              </a:lnSpc>
            </a:pPr>
            <a:r>
              <a:rPr lang="en-US" dirty="0" err="1">
                <a:latin typeface="Times New Roman" panose="02020603050405020304" pitchFamily="18" charset="0"/>
                <a:ea typeface="Arial" panose="020B0604020202020204" pitchFamily="34" charset="0"/>
              </a:rPr>
              <a:t>Tcr_BCU</a:t>
            </a:r>
            <a:r>
              <a:rPr lang="en-US" dirty="0">
                <a:latin typeface="Times New Roman" panose="02020603050405020304" pitchFamily="18" charset="0"/>
                <a:ea typeface="Arial" panose="020B0604020202020204" pitchFamily="34" charset="0"/>
              </a:rPr>
              <a:t>&gt;</a:t>
            </a:r>
            <a:r>
              <a:rPr lang="en-US" dirty="0" err="1">
                <a:latin typeface="Times New Roman" panose="02020603050405020304" pitchFamily="18" charset="0"/>
                <a:ea typeface="Arial" panose="020B0604020202020204" pitchFamily="34" charset="0"/>
              </a:rPr>
              <a:t>Tcl</a:t>
            </a:r>
            <a:r>
              <a:rPr lang="en-US" dirty="0">
                <a:latin typeface="Times New Roman" panose="02020603050405020304" pitchFamily="18" charset="0"/>
                <a:ea typeface="Arial" panose="020B0604020202020204" pitchFamily="34" charset="0"/>
              </a:rPr>
              <a:t>          System is BCU Stable</a:t>
            </a:r>
            <a:endParaRPr lang="en-US" dirty="0">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638035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7778365" y="1402264"/>
            <a:ext cx="2789546"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Vcr_PEBS</a:t>
            </a: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&gt; </a:t>
            </a:r>
            <a:r>
              <a:rPr kumimoji="0" lang="en-US" altLang="en-US" sz="11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Vcl</a:t>
            </a: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Tcr_PEBS</a:t>
            </a: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&gt;</a:t>
            </a:r>
            <a:r>
              <a:rPr kumimoji="0" lang="en-US" altLang="en-US" sz="11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Tcl</a:t>
            </a: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System is PEBS Unstable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Vcr_BCU</a:t>
            </a: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&gt; </a:t>
            </a:r>
            <a:r>
              <a:rPr kumimoji="0" lang="en-US" altLang="en-US" sz="11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Vcl</a:t>
            </a: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Tcr_BCU</a:t>
            </a: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&gt;</a:t>
            </a:r>
            <a:r>
              <a:rPr kumimoji="0" lang="en-US" altLang="en-US" sz="11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Tcl</a:t>
            </a: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System is BCU Unstable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3125788" y="7020883"/>
            <a:ext cx="110799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7332618" y="4003680"/>
            <a:ext cx="110799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p:cNvSpPr/>
          <p:nvPr/>
        </p:nvSpPr>
        <p:spPr>
          <a:xfrm>
            <a:off x="517931" y="783868"/>
            <a:ext cx="986167" cy="369332"/>
          </a:xfrm>
          <a:prstGeom prst="rect">
            <a:avLst/>
          </a:prstGeom>
        </p:spPr>
        <p:txBody>
          <a:bodyPr wrap="none">
            <a:spAutoFit/>
          </a:bodyPr>
          <a:lstStyle/>
          <a:p>
            <a:pPr lvl="0" eaLnBrk="0" fontAlgn="base" hangingPunct="0">
              <a:spcBef>
                <a:spcPct val="0"/>
              </a:spcBef>
              <a:spcAft>
                <a:spcPct val="0"/>
              </a:spcAft>
            </a:pPr>
            <a:r>
              <a:rPr kumimoji="0" lang="en-US" altLang="en-US" b="1"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Result 2</a:t>
            </a:r>
            <a:endParaRPr kumimoji="0" lang="en-US" altLang="en-US" sz="1100" b="0" i="0" u="none" strike="noStrike" cap="none" normalizeH="0" baseline="0" dirty="0">
              <a:ln>
                <a:noFill/>
              </a:ln>
              <a:solidFill>
                <a:schemeClr val="tx1"/>
              </a:solidFill>
              <a:effectLst/>
            </a:endParaRPr>
          </a:p>
        </p:txBody>
      </p:sp>
      <p:sp>
        <p:nvSpPr>
          <p:cNvPr id="9" name="Rectangle 8"/>
          <p:cNvSpPr/>
          <p:nvPr/>
        </p:nvSpPr>
        <p:spPr>
          <a:xfrm>
            <a:off x="2464723" y="6185737"/>
            <a:ext cx="6109365" cy="369332"/>
          </a:xfrm>
          <a:prstGeom prst="rect">
            <a:avLst/>
          </a:prstGeom>
        </p:spPr>
        <p:txBody>
          <a:bodyPr wrap="none">
            <a:spAutoFit/>
          </a:bodyPr>
          <a:lstStyle/>
          <a:p>
            <a:pPr lvl="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Fig 10: w vs del for faulted and Post fault Dynamics (Unstable) </a:t>
            </a:r>
            <a:endParaRPr kumimoji="0" lang="en-US" altLang="en-US" sz="1100" b="0" i="0" u="none" strike="noStrike" cap="none" normalizeH="0" baseline="0" dirty="0">
              <a:ln>
                <a:noFill/>
              </a:ln>
              <a:solidFill>
                <a:schemeClr val="tx1"/>
              </a:solidFill>
              <a:effectLst/>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5254" y="2646746"/>
            <a:ext cx="5401492" cy="3444810"/>
          </a:xfrm>
          <a:prstGeom prst="rect">
            <a:avLst/>
          </a:prstGeom>
        </p:spPr>
      </p:pic>
      <p:graphicFrame>
        <p:nvGraphicFramePr>
          <p:cNvPr id="2" name="Table 1">
            <a:extLst>
              <a:ext uri="{FF2B5EF4-FFF2-40B4-BE49-F238E27FC236}">
                <a16:creationId xmlns:a16="http://schemas.microsoft.com/office/drawing/2014/main" id="{5D762E2E-A7D1-45DB-A043-74D969E8C94E}"/>
              </a:ext>
            </a:extLst>
          </p:cNvPr>
          <p:cNvGraphicFramePr>
            <a:graphicFrameLocks noGrp="1"/>
          </p:cNvGraphicFramePr>
          <p:nvPr>
            <p:extLst>
              <p:ext uri="{D42A27DB-BD31-4B8C-83A1-F6EECF244321}">
                <p14:modId xmlns:p14="http://schemas.microsoft.com/office/powerpoint/2010/main" val="3930011982"/>
              </p:ext>
            </p:extLst>
          </p:nvPr>
        </p:nvGraphicFramePr>
        <p:xfrm>
          <a:off x="1155032" y="1073312"/>
          <a:ext cx="4940968" cy="1647931"/>
        </p:xfrm>
        <a:graphic>
          <a:graphicData uri="http://schemas.openxmlformats.org/drawingml/2006/table">
            <a:tbl>
              <a:tblPr>
                <a:tableStyleId>{5C22544A-7EE6-4342-B048-85BDC9FD1C3A}</a:tableStyleId>
              </a:tblPr>
              <a:tblGrid>
                <a:gridCol w="1658606">
                  <a:extLst>
                    <a:ext uri="{9D8B030D-6E8A-4147-A177-3AD203B41FA5}">
                      <a16:colId xmlns:a16="http://schemas.microsoft.com/office/drawing/2014/main" val="3418592435"/>
                    </a:ext>
                  </a:extLst>
                </a:gridCol>
                <a:gridCol w="945739">
                  <a:extLst>
                    <a:ext uri="{9D8B030D-6E8A-4147-A177-3AD203B41FA5}">
                      <a16:colId xmlns:a16="http://schemas.microsoft.com/office/drawing/2014/main" val="626176625"/>
                    </a:ext>
                  </a:extLst>
                </a:gridCol>
                <a:gridCol w="780987">
                  <a:extLst>
                    <a:ext uri="{9D8B030D-6E8A-4147-A177-3AD203B41FA5}">
                      <a16:colId xmlns:a16="http://schemas.microsoft.com/office/drawing/2014/main" val="3556172407"/>
                    </a:ext>
                  </a:extLst>
                </a:gridCol>
                <a:gridCol w="1555636">
                  <a:extLst>
                    <a:ext uri="{9D8B030D-6E8A-4147-A177-3AD203B41FA5}">
                      <a16:colId xmlns:a16="http://schemas.microsoft.com/office/drawing/2014/main" val="2687245537"/>
                    </a:ext>
                  </a:extLst>
                </a:gridCol>
              </a:tblGrid>
              <a:tr h="242507">
                <a:tc gridSpan="4">
                  <a:txBody>
                    <a:bodyPr/>
                    <a:lstStyle/>
                    <a:p>
                      <a:pPr marL="0" marR="0">
                        <a:lnSpc>
                          <a:spcPct val="115000"/>
                        </a:lnSpc>
                        <a:spcBef>
                          <a:spcPts val="0"/>
                        </a:spcBef>
                        <a:spcAft>
                          <a:spcPts val="0"/>
                        </a:spcAft>
                      </a:pPr>
                      <a:r>
                        <a:rPr lang="en-US" sz="1000" dirty="0">
                          <a:effectLst/>
                        </a:rPr>
                        <a:t>Fault At bus 7 at t=0 and cleared at 0.2</a:t>
                      </a:r>
                      <a:endParaRPr lang="en-US" sz="1100" dirty="0">
                        <a:effectLst/>
                        <a:latin typeface="Arial" panose="020B0604020202020204" pitchFamily="34" charset="0"/>
                        <a:ea typeface="Arial" panose="020B0604020202020204" pitchFamily="34" charset="0"/>
                      </a:endParaRPr>
                    </a:p>
                  </a:txBody>
                  <a:tcPr marL="25400" marR="25400" marT="25400" marB="2540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7935162"/>
                  </a:ext>
                </a:extLst>
              </a:tr>
              <a:tr h="242507">
                <a:tc>
                  <a:txBody>
                    <a:bodyPr/>
                    <a:lstStyle/>
                    <a:p>
                      <a:pPr marL="0" marR="0">
                        <a:lnSpc>
                          <a:spcPct val="115000"/>
                        </a:lnSpc>
                        <a:spcBef>
                          <a:spcPts val="0"/>
                        </a:spcBef>
                        <a:spcAft>
                          <a:spcPts val="0"/>
                        </a:spcAft>
                      </a:pPr>
                      <a:r>
                        <a:rPr lang="en-US" sz="1000">
                          <a:effectLst/>
                        </a:rPr>
                        <a:t>Result</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nSpc>
                          <a:spcPct val="115000"/>
                        </a:lnSpc>
                        <a:spcBef>
                          <a:spcPts val="0"/>
                        </a:spcBef>
                        <a:spcAft>
                          <a:spcPts val="0"/>
                        </a:spcAft>
                      </a:pPr>
                      <a:r>
                        <a:rPr lang="en-US" sz="1000">
                          <a:effectLst/>
                        </a:rPr>
                        <a:t>TDS ()</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nSpc>
                          <a:spcPct val="115000"/>
                        </a:lnSpc>
                        <a:spcBef>
                          <a:spcPts val="0"/>
                        </a:spcBef>
                        <a:spcAft>
                          <a:spcPts val="0"/>
                        </a:spcAft>
                      </a:pPr>
                      <a:r>
                        <a:rPr lang="en-US" sz="1000">
                          <a:effectLst/>
                        </a:rPr>
                        <a:t>BCU</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nSpc>
                          <a:spcPct val="115000"/>
                        </a:lnSpc>
                        <a:spcBef>
                          <a:spcPts val="0"/>
                        </a:spcBef>
                        <a:spcAft>
                          <a:spcPts val="0"/>
                        </a:spcAft>
                      </a:pPr>
                      <a:r>
                        <a:rPr lang="en-US" sz="1000">
                          <a:effectLst/>
                        </a:rPr>
                        <a:t>PEBS</a:t>
                      </a:r>
                      <a:endParaRPr lang="en-US" sz="1100">
                        <a:effectLst/>
                        <a:latin typeface="Arial" panose="020B0604020202020204" pitchFamily="34" charset="0"/>
                        <a:ea typeface="Arial" panose="020B0604020202020204" pitchFamily="34" charset="0"/>
                      </a:endParaRPr>
                    </a:p>
                  </a:txBody>
                  <a:tcPr marL="25400" marR="25400" marT="25400" marB="25400" anchor="b"/>
                </a:tc>
                <a:extLst>
                  <a:ext uri="{0D108BD9-81ED-4DB2-BD59-A6C34878D82A}">
                    <a16:rowId xmlns:a16="http://schemas.microsoft.com/office/drawing/2014/main" val="2930564529"/>
                  </a:ext>
                </a:extLst>
              </a:tr>
              <a:tr h="460205">
                <a:tc>
                  <a:txBody>
                    <a:bodyPr/>
                    <a:lstStyle/>
                    <a:p>
                      <a:pPr marL="0" marR="0">
                        <a:lnSpc>
                          <a:spcPct val="115000"/>
                        </a:lnSpc>
                        <a:spcBef>
                          <a:spcPts val="0"/>
                        </a:spcBef>
                        <a:spcAft>
                          <a:spcPts val="0"/>
                        </a:spcAft>
                      </a:pPr>
                      <a:r>
                        <a:rPr lang="en-US" sz="1000">
                          <a:effectLst/>
                        </a:rPr>
                        <a:t>V critical</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000">
                          <a:effectLst/>
                        </a:rPr>
                        <a:t>Vcl=1.473</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100">
                          <a:effectLst/>
                        </a:rPr>
                        <a:t>Vcr_BCU=</a:t>
                      </a:r>
                      <a:r>
                        <a:rPr lang="en-US" sz="1000">
                          <a:effectLst/>
                        </a:rPr>
                        <a:t>0.973</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100" dirty="0">
                          <a:effectLst/>
                        </a:rPr>
                        <a:t>Vcr_PEBS=</a:t>
                      </a:r>
                      <a:r>
                        <a:rPr lang="en-US" sz="1000" dirty="0">
                          <a:effectLst/>
                        </a:rPr>
                        <a:t>1.25</a:t>
                      </a:r>
                      <a:endParaRPr lang="en-US" sz="1100" dirty="0">
                        <a:effectLst/>
                        <a:latin typeface="Arial" panose="020B0604020202020204" pitchFamily="34" charset="0"/>
                        <a:ea typeface="Arial" panose="020B0604020202020204" pitchFamily="34" charset="0"/>
                      </a:endParaRPr>
                    </a:p>
                  </a:txBody>
                  <a:tcPr marL="25400" marR="25400" marT="25400" marB="25400" anchor="b"/>
                </a:tc>
                <a:extLst>
                  <a:ext uri="{0D108BD9-81ED-4DB2-BD59-A6C34878D82A}">
                    <a16:rowId xmlns:a16="http://schemas.microsoft.com/office/drawing/2014/main" val="54636122"/>
                  </a:ext>
                </a:extLst>
              </a:tr>
              <a:tr h="460205">
                <a:tc>
                  <a:txBody>
                    <a:bodyPr/>
                    <a:lstStyle/>
                    <a:p>
                      <a:pPr marL="0" marR="0">
                        <a:lnSpc>
                          <a:spcPct val="115000"/>
                        </a:lnSpc>
                        <a:spcBef>
                          <a:spcPts val="0"/>
                        </a:spcBef>
                        <a:spcAft>
                          <a:spcPts val="0"/>
                        </a:spcAft>
                      </a:pPr>
                      <a:r>
                        <a:rPr lang="en-US" sz="1000">
                          <a:effectLst/>
                        </a:rPr>
                        <a:t>Critical clearing time (Tcl)</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000">
                          <a:effectLst/>
                        </a:rPr>
                        <a:t>Tcl=0.2</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100">
                          <a:effectLst/>
                        </a:rPr>
                        <a:t>Tcr_BCU=</a:t>
                      </a:r>
                      <a:r>
                        <a:rPr lang="en-US" sz="1000">
                          <a:effectLst/>
                        </a:rPr>
                        <a:t>0.162</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100">
                          <a:effectLst/>
                        </a:rPr>
                        <a:t>Tcr_PEBS=</a:t>
                      </a:r>
                      <a:r>
                        <a:rPr lang="en-US" sz="1000">
                          <a:effectLst/>
                        </a:rPr>
                        <a:t>0.184</a:t>
                      </a:r>
                      <a:endParaRPr lang="en-US" sz="1100">
                        <a:effectLst/>
                        <a:latin typeface="Arial" panose="020B0604020202020204" pitchFamily="34" charset="0"/>
                        <a:ea typeface="Arial" panose="020B0604020202020204" pitchFamily="34" charset="0"/>
                      </a:endParaRPr>
                    </a:p>
                  </a:txBody>
                  <a:tcPr marL="25400" marR="25400" marT="25400" marB="25400" anchor="b"/>
                </a:tc>
                <a:extLst>
                  <a:ext uri="{0D108BD9-81ED-4DB2-BD59-A6C34878D82A}">
                    <a16:rowId xmlns:a16="http://schemas.microsoft.com/office/drawing/2014/main" val="3840051493"/>
                  </a:ext>
                </a:extLst>
              </a:tr>
              <a:tr h="242507">
                <a:tc>
                  <a:txBody>
                    <a:bodyPr/>
                    <a:lstStyle/>
                    <a:p>
                      <a:pPr marL="0" marR="0">
                        <a:lnSpc>
                          <a:spcPct val="115000"/>
                        </a:lnSpc>
                        <a:spcBef>
                          <a:spcPts val="0"/>
                        </a:spcBef>
                        <a:spcAft>
                          <a:spcPts val="0"/>
                        </a:spcAft>
                      </a:pPr>
                      <a:r>
                        <a:rPr lang="en-US" sz="1000">
                          <a:effectLst/>
                        </a:rPr>
                        <a:t>Computation Time</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000">
                          <a:effectLst/>
                        </a:rPr>
                        <a:t>0.15</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000">
                          <a:effectLst/>
                        </a:rPr>
                        <a:t>0.1</a:t>
                      </a:r>
                      <a:endParaRPr lang="en-US" sz="1100">
                        <a:effectLst/>
                        <a:latin typeface="Arial" panose="020B0604020202020204" pitchFamily="34" charset="0"/>
                        <a:ea typeface="Arial" panose="020B0604020202020204" pitchFamily="34" charset="0"/>
                      </a:endParaRPr>
                    </a:p>
                  </a:txBody>
                  <a:tcPr marL="25400" marR="25400" marT="25400" marB="25400" anchor="b"/>
                </a:tc>
                <a:tc>
                  <a:txBody>
                    <a:bodyPr/>
                    <a:lstStyle/>
                    <a:p>
                      <a:pPr marL="0" marR="0" algn="r">
                        <a:lnSpc>
                          <a:spcPct val="115000"/>
                        </a:lnSpc>
                        <a:spcBef>
                          <a:spcPts val="0"/>
                        </a:spcBef>
                        <a:spcAft>
                          <a:spcPts val="0"/>
                        </a:spcAft>
                      </a:pPr>
                      <a:r>
                        <a:rPr lang="en-US" sz="1000" dirty="0">
                          <a:effectLst/>
                        </a:rPr>
                        <a:t>0.07</a:t>
                      </a:r>
                      <a:endParaRPr lang="en-US" sz="1100" dirty="0">
                        <a:effectLst/>
                        <a:latin typeface="Arial" panose="020B0604020202020204" pitchFamily="34" charset="0"/>
                        <a:ea typeface="Arial" panose="020B0604020202020204" pitchFamily="34" charset="0"/>
                      </a:endParaRPr>
                    </a:p>
                  </a:txBody>
                  <a:tcPr marL="25400" marR="25400" marT="25400" marB="25400" anchor="b"/>
                </a:tc>
                <a:extLst>
                  <a:ext uri="{0D108BD9-81ED-4DB2-BD59-A6C34878D82A}">
                    <a16:rowId xmlns:a16="http://schemas.microsoft.com/office/drawing/2014/main" val="2531339803"/>
                  </a:ext>
                </a:extLst>
              </a:tr>
            </a:tbl>
          </a:graphicData>
        </a:graphic>
      </p:graphicFrame>
      <p:sp>
        <p:nvSpPr>
          <p:cNvPr id="11" name="Title 1">
            <a:extLst>
              <a:ext uri="{FF2B5EF4-FFF2-40B4-BE49-F238E27FC236}">
                <a16:creationId xmlns:a16="http://schemas.microsoft.com/office/drawing/2014/main" id="{9E283C47-C3DD-4A41-90F8-E9E1BED05D7A}"/>
              </a:ext>
            </a:extLst>
          </p:cNvPr>
          <p:cNvSpPr>
            <a:spLocks noGrp="1"/>
          </p:cNvSpPr>
          <p:nvPr>
            <p:ph type="title"/>
          </p:nvPr>
        </p:nvSpPr>
        <p:spPr>
          <a:xfrm>
            <a:off x="1704473" y="32084"/>
            <a:ext cx="9332495" cy="936450"/>
          </a:xfrm>
        </p:spPr>
        <p:txBody>
          <a:bodyPr>
            <a:normAutofit/>
          </a:bodyPr>
          <a:lstStyle/>
          <a:p>
            <a:r>
              <a:rPr lang="en-US" b="1" dirty="0"/>
              <a:t>Result And Analysis</a:t>
            </a:r>
          </a:p>
        </p:txBody>
      </p:sp>
    </p:spTree>
    <p:extLst>
      <p:ext uri="{BB962C8B-B14F-4D97-AF65-F5344CB8AC3E}">
        <p14:creationId xmlns:p14="http://schemas.microsoft.com/office/powerpoint/2010/main" val="2510303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1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90320" y="701860"/>
            <a:ext cx="6001680" cy="361414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261859" y="4436480"/>
            <a:ext cx="4145281" cy="646331"/>
          </a:xfrm>
          <a:prstGeom prst="rect">
            <a:avLst/>
          </a:prstGeom>
        </p:spPr>
        <p:txBody>
          <a:bodyPr wrap="square">
            <a:spAutoFit/>
          </a:bodyPr>
          <a:lstStyle/>
          <a:p>
            <a:pPr lvl="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Fig 11: del vs t and w vs t for faulted and</a:t>
            </a:r>
          </a:p>
          <a:p>
            <a:pPr lvl="0" algn="ctr"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Post fault Dynamics (Unstable)</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pic>
        <p:nvPicPr>
          <p:cNvPr id="4" name="image19.jpg"/>
          <p:cNvPicPr/>
          <p:nvPr/>
        </p:nvPicPr>
        <p:blipFill>
          <a:blip r:embed="rId3"/>
          <a:srcRect/>
          <a:stretch>
            <a:fillRect/>
          </a:stretch>
        </p:blipFill>
        <p:spPr>
          <a:xfrm>
            <a:off x="352515" y="701860"/>
            <a:ext cx="5408205" cy="3733800"/>
          </a:xfrm>
          <a:prstGeom prst="rect">
            <a:avLst/>
          </a:prstGeom>
          <a:ln/>
        </p:spPr>
      </p:pic>
      <p:sp>
        <p:nvSpPr>
          <p:cNvPr id="5" name="Rectangle 4"/>
          <p:cNvSpPr/>
          <p:nvPr/>
        </p:nvSpPr>
        <p:spPr>
          <a:xfrm>
            <a:off x="1154972" y="4394930"/>
            <a:ext cx="3971111" cy="729430"/>
          </a:xfrm>
          <a:prstGeom prst="rect">
            <a:avLst/>
          </a:prstGeom>
        </p:spPr>
        <p:txBody>
          <a:bodyPr wrap="square">
            <a:spAutoFit/>
          </a:bodyPr>
          <a:lstStyle/>
          <a:p>
            <a:pPr algn="ctr">
              <a:lnSpc>
                <a:spcPct val="115000"/>
              </a:lnSpc>
            </a:pPr>
            <a:r>
              <a:rPr lang="en-US" dirty="0">
                <a:effectLst/>
                <a:latin typeface="Times New Roman" panose="02020603050405020304" pitchFamily="18" charset="0"/>
                <a:ea typeface="Arial" panose="020B0604020202020204" pitchFamily="34" charset="0"/>
              </a:rPr>
              <a:t>Fig 9: del vs t and w vs t for faulted and</a:t>
            </a:r>
          </a:p>
          <a:p>
            <a:pPr algn="ctr">
              <a:lnSpc>
                <a:spcPct val="115000"/>
              </a:lnSpc>
            </a:pPr>
            <a:r>
              <a:rPr lang="en-US" dirty="0">
                <a:effectLst/>
                <a:latin typeface="Times New Roman" panose="02020603050405020304" pitchFamily="18" charset="0"/>
                <a:ea typeface="Arial" panose="020B0604020202020204" pitchFamily="34" charset="0"/>
              </a:rPr>
              <a:t> Post fault Dynamics (Stable)</a:t>
            </a:r>
            <a:endParaRPr lang="en-US" dirty="0">
              <a:effectLst/>
              <a:latin typeface="Arial" panose="020B0604020202020204" pitchFamily="34" charset="0"/>
              <a:ea typeface="Arial" panose="020B0604020202020204" pitchFamily="34" charset="0"/>
            </a:endParaRPr>
          </a:p>
        </p:txBody>
      </p:sp>
      <p:sp>
        <p:nvSpPr>
          <p:cNvPr id="6" name="Title 1">
            <a:extLst>
              <a:ext uri="{FF2B5EF4-FFF2-40B4-BE49-F238E27FC236}">
                <a16:creationId xmlns:a16="http://schemas.microsoft.com/office/drawing/2014/main" id="{D124021A-2FA7-42C6-8E2C-468B0566DF73}"/>
              </a:ext>
            </a:extLst>
          </p:cNvPr>
          <p:cNvSpPr txBox="1">
            <a:spLocks/>
          </p:cNvSpPr>
          <p:nvPr/>
        </p:nvSpPr>
        <p:spPr>
          <a:xfrm>
            <a:off x="838200" y="160421"/>
            <a:ext cx="10515600" cy="93413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Result And Analysis</a:t>
            </a:r>
            <a:endParaRPr lang="en-US" b="1" dirty="0"/>
          </a:p>
        </p:txBody>
      </p:sp>
    </p:spTree>
    <p:extLst>
      <p:ext uri="{BB962C8B-B14F-4D97-AF65-F5344CB8AC3E}">
        <p14:creationId xmlns:p14="http://schemas.microsoft.com/office/powerpoint/2010/main" val="3534318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D74474-B214-6AEB-8CCE-841B51D0605E}"/>
              </a:ext>
            </a:extLst>
          </p:cNvPr>
          <p:cNvSpPr txBox="1"/>
          <p:nvPr/>
        </p:nvSpPr>
        <p:spPr>
          <a:xfrm>
            <a:off x="616284" y="689640"/>
            <a:ext cx="10708640" cy="461665"/>
          </a:xfrm>
          <a:prstGeom prst="rect">
            <a:avLst/>
          </a:prstGeom>
          <a:noFill/>
        </p:spPr>
        <p:txBody>
          <a:bodyPr wrap="square">
            <a:spAutoFit/>
          </a:bodyPr>
          <a:lstStyle/>
          <a:p>
            <a:r>
              <a:rPr lang="en-IN" sz="2400" b="1" dirty="0">
                <a:effectLst/>
                <a:latin typeface="Times New Roman" panose="02020603050405020304" pitchFamily="18" charset="0"/>
                <a:ea typeface="Arial" panose="020B0604020202020204" pitchFamily="34" charset="0"/>
              </a:rPr>
              <a:t>Time Domain Simulation Using PSS/E</a:t>
            </a:r>
            <a:r>
              <a:rPr lang="en-IN" sz="2400" b="1" dirty="0">
                <a:latin typeface="Times New Roman" panose="02020603050405020304" pitchFamily="18" charset="0"/>
                <a:ea typeface="Arial" panose="020B0604020202020204" pitchFamily="34" charset="0"/>
              </a:rPr>
              <a:t>:-</a:t>
            </a:r>
            <a:endParaRPr lang="en-IN" sz="2400" dirty="0"/>
          </a:p>
        </p:txBody>
      </p:sp>
      <p:pic>
        <p:nvPicPr>
          <p:cNvPr id="3" name="Picture 2">
            <a:extLst>
              <a:ext uri="{FF2B5EF4-FFF2-40B4-BE49-F238E27FC236}">
                <a16:creationId xmlns:a16="http://schemas.microsoft.com/office/drawing/2014/main" id="{8222F162-F0E2-DD55-9780-02A664A312EA}"/>
              </a:ext>
            </a:extLst>
          </p:cNvPr>
          <p:cNvPicPr>
            <a:picLocks noChangeAspect="1"/>
          </p:cNvPicPr>
          <p:nvPr/>
        </p:nvPicPr>
        <p:blipFill rotWithShape="1">
          <a:blip r:embed="rId2">
            <a:extLst>
              <a:ext uri="{28A0092B-C50C-407E-A947-70E740481C1C}">
                <a14:useLocalDpi xmlns:a14="http://schemas.microsoft.com/office/drawing/2010/main" val="0"/>
              </a:ext>
            </a:extLst>
          </a:blip>
          <a:srcRect l="-138" t="-499" r="12346" b="4230"/>
          <a:stretch>
            <a:fillRect/>
          </a:stretch>
        </p:blipFill>
        <p:spPr bwMode="auto">
          <a:xfrm>
            <a:off x="1468755" y="1907718"/>
            <a:ext cx="9254490" cy="4551243"/>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781FB1A4-F4C2-565E-3DB9-935A1E81AC71}"/>
              </a:ext>
            </a:extLst>
          </p:cNvPr>
          <p:cNvSpPr txBox="1"/>
          <p:nvPr/>
        </p:nvSpPr>
        <p:spPr>
          <a:xfrm>
            <a:off x="975360" y="1271406"/>
            <a:ext cx="6096000" cy="446276"/>
          </a:xfrm>
          <a:prstGeom prst="rect">
            <a:avLst/>
          </a:prstGeom>
          <a:noFill/>
        </p:spPr>
        <p:txBody>
          <a:bodyPr wrap="square">
            <a:spAutoFit/>
          </a:bodyPr>
          <a:lstStyle/>
          <a:p>
            <a:pPr algn="just">
              <a:lnSpc>
                <a:spcPct val="115000"/>
              </a:lnSpc>
              <a:spcBef>
                <a:spcPts val="1200"/>
              </a:spcBef>
              <a:spcAft>
                <a:spcPts val="1200"/>
              </a:spcAft>
              <a:buNone/>
            </a:pPr>
            <a:r>
              <a:rPr lang="en-IN" sz="2000" dirty="0">
                <a:effectLst/>
                <a:latin typeface="Times New Roman" panose="02020603050405020304" pitchFamily="18" charset="0"/>
                <a:ea typeface="Times New Roman" panose="02020603050405020304" pitchFamily="18" charset="0"/>
              </a:rPr>
              <a:t>Fault created at Bus 29 at t=1.0 and cleared at t=1.4</a:t>
            </a:r>
            <a:r>
              <a:rPr lang="en-IN" sz="1800" dirty="0">
                <a:effectLst/>
                <a:latin typeface="Times New Roman" panose="02020603050405020304" pitchFamily="18" charset="0"/>
                <a:ea typeface="Times New Roman" panose="02020603050405020304" pitchFamily="18" charset="0"/>
              </a:rPr>
              <a:t>.</a:t>
            </a:r>
            <a:endParaRPr lang="en-IN" sz="1600" dirty="0">
              <a:effectLst/>
              <a:latin typeface="Arial" panose="020B0604020202020204" pitchFamily="34" charset="0"/>
              <a:ea typeface="Arial" panose="020B0604020202020204" pitchFamily="34" charset="0"/>
            </a:endParaRPr>
          </a:p>
        </p:txBody>
      </p:sp>
      <p:sp>
        <p:nvSpPr>
          <p:cNvPr id="5" name="TextBox 4">
            <a:extLst>
              <a:ext uri="{FF2B5EF4-FFF2-40B4-BE49-F238E27FC236}">
                <a16:creationId xmlns:a16="http://schemas.microsoft.com/office/drawing/2014/main" id="{5C615A04-FA14-5355-B5D9-B20175416F92}"/>
              </a:ext>
            </a:extLst>
          </p:cNvPr>
          <p:cNvSpPr txBox="1"/>
          <p:nvPr/>
        </p:nvSpPr>
        <p:spPr>
          <a:xfrm>
            <a:off x="975360" y="1571852"/>
            <a:ext cx="6096000" cy="446276"/>
          </a:xfrm>
          <a:prstGeom prst="rect">
            <a:avLst/>
          </a:prstGeom>
          <a:noFill/>
        </p:spPr>
        <p:txBody>
          <a:bodyPr wrap="square">
            <a:spAutoFit/>
          </a:bodyPr>
          <a:lstStyle/>
          <a:p>
            <a:pPr algn="just">
              <a:lnSpc>
                <a:spcPct val="115000"/>
              </a:lnSpc>
              <a:spcBef>
                <a:spcPts val="1200"/>
              </a:spcBef>
              <a:spcAft>
                <a:spcPts val="1200"/>
              </a:spcAft>
              <a:buNone/>
            </a:pPr>
            <a:r>
              <a:rPr lang="en-IN" sz="2000" dirty="0">
                <a:effectLst/>
                <a:latin typeface="Times New Roman" panose="02020603050405020304" pitchFamily="18" charset="0"/>
                <a:ea typeface="Times New Roman" panose="02020603050405020304" pitchFamily="18" charset="0"/>
              </a:rPr>
              <a:t>Generator G9 goes out of synchronism</a:t>
            </a:r>
            <a:r>
              <a:rPr lang="en-IN" sz="1800" dirty="0">
                <a:effectLst/>
                <a:latin typeface="Times New Roman" panose="02020603050405020304" pitchFamily="18" charset="0"/>
                <a:ea typeface="Times New Roman" panose="02020603050405020304" pitchFamily="18" charset="0"/>
              </a:rPr>
              <a:t>.</a:t>
            </a:r>
            <a:endParaRPr lang="en-IN" sz="1600" dirty="0">
              <a:effectLst/>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E94449EC-B82B-6041-6EAE-1FB67C61C351}"/>
              </a:ext>
            </a:extLst>
          </p:cNvPr>
          <p:cNvSpPr txBox="1"/>
          <p:nvPr/>
        </p:nvSpPr>
        <p:spPr>
          <a:xfrm>
            <a:off x="660400" y="951250"/>
            <a:ext cx="6096000" cy="400110"/>
          </a:xfrm>
          <a:prstGeom prst="rect">
            <a:avLst/>
          </a:prstGeom>
          <a:noFill/>
        </p:spPr>
        <p:txBody>
          <a:bodyPr wrap="square">
            <a:spAutoFit/>
          </a:bodyPr>
          <a:lstStyle/>
          <a:p>
            <a:r>
              <a:rPr lang="en-IN" sz="2000" b="1" dirty="0">
                <a:effectLst/>
                <a:latin typeface="Times New Roman" panose="02020603050405020304" pitchFamily="18" charset="0"/>
                <a:ea typeface="Times New Roman" panose="02020603050405020304" pitchFamily="18" charset="0"/>
              </a:rPr>
              <a:t>Output 1:</a:t>
            </a:r>
            <a:endParaRPr lang="en-IN" sz="2000" dirty="0"/>
          </a:p>
        </p:txBody>
      </p:sp>
      <p:sp>
        <p:nvSpPr>
          <p:cNvPr id="7" name="TextBox 6">
            <a:extLst>
              <a:ext uri="{FF2B5EF4-FFF2-40B4-BE49-F238E27FC236}">
                <a16:creationId xmlns:a16="http://schemas.microsoft.com/office/drawing/2014/main" id="{C0806B95-A8A3-28E9-BE46-65FBDC1D01C3}"/>
              </a:ext>
            </a:extLst>
          </p:cNvPr>
          <p:cNvSpPr txBox="1"/>
          <p:nvPr/>
        </p:nvSpPr>
        <p:spPr>
          <a:xfrm>
            <a:off x="4958080" y="6484361"/>
            <a:ext cx="6096000" cy="369332"/>
          </a:xfrm>
          <a:prstGeom prst="rect">
            <a:avLst/>
          </a:prstGeom>
          <a:noFill/>
        </p:spPr>
        <p:txBody>
          <a:bodyPr wrap="square">
            <a:spAutoFit/>
          </a:bodyPr>
          <a:lstStyle/>
          <a:p>
            <a:r>
              <a:rPr lang="en-IN" sz="1800" dirty="0">
                <a:effectLst/>
                <a:latin typeface="Times New Roman" panose="02020603050405020304" pitchFamily="18" charset="0"/>
                <a:ea typeface="Times New Roman" panose="02020603050405020304" pitchFamily="18" charset="0"/>
              </a:rPr>
              <a:t>Plot 1[time vs rotor angle]</a:t>
            </a:r>
            <a:endParaRPr lang="en-IN" dirty="0"/>
          </a:p>
        </p:txBody>
      </p:sp>
      <p:sp>
        <p:nvSpPr>
          <p:cNvPr id="8" name="Title 1">
            <a:extLst>
              <a:ext uri="{FF2B5EF4-FFF2-40B4-BE49-F238E27FC236}">
                <a16:creationId xmlns:a16="http://schemas.microsoft.com/office/drawing/2014/main" id="{ADBD0365-98E2-467E-B63A-26F16A282636}"/>
              </a:ext>
            </a:extLst>
          </p:cNvPr>
          <p:cNvSpPr txBox="1">
            <a:spLocks/>
          </p:cNvSpPr>
          <p:nvPr/>
        </p:nvSpPr>
        <p:spPr>
          <a:xfrm>
            <a:off x="838200" y="0"/>
            <a:ext cx="10515600" cy="10509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Result And Analysis</a:t>
            </a:r>
          </a:p>
        </p:txBody>
      </p:sp>
    </p:spTree>
    <p:extLst>
      <p:ext uri="{BB962C8B-B14F-4D97-AF65-F5344CB8AC3E}">
        <p14:creationId xmlns:p14="http://schemas.microsoft.com/office/powerpoint/2010/main" val="3751621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09EC59-FB67-DC92-A2EC-71ACE64C945C}"/>
              </a:ext>
            </a:extLst>
          </p:cNvPr>
          <p:cNvPicPr>
            <a:picLocks noChangeAspect="1"/>
          </p:cNvPicPr>
          <p:nvPr/>
        </p:nvPicPr>
        <p:blipFill rotWithShape="1">
          <a:blip r:embed="rId2">
            <a:extLst>
              <a:ext uri="{28A0092B-C50C-407E-A947-70E740481C1C}">
                <a14:useLocalDpi xmlns:a14="http://schemas.microsoft.com/office/drawing/2010/main" val="0"/>
              </a:ext>
            </a:extLst>
          </a:blip>
          <a:srcRect r="31539"/>
          <a:stretch>
            <a:fillRect/>
          </a:stretch>
        </p:blipFill>
        <p:spPr bwMode="auto">
          <a:xfrm>
            <a:off x="568960" y="1655417"/>
            <a:ext cx="10964011" cy="4465983"/>
          </a:xfrm>
          <a:prstGeom prst="rect">
            <a:avLst/>
          </a:prstGeom>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EABF6CEF-5573-46F0-4C78-90A1156F5C1B}"/>
              </a:ext>
            </a:extLst>
          </p:cNvPr>
          <p:cNvSpPr txBox="1"/>
          <p:nvPr/>
        </p:nvSpPr>
        <p:spPr>
          <a:xfrm>
            <a:off x="568960" y="367268"/>
            <a:ext cx="6096000" cy="400110"/>
          </a:xfrm>
          <a:prstGeom prst="rect">
            <a:avLst/>
          </a:prstGeom>
          <a:noFill/>
        </p:spPr>
        <p:txBody>
          <a:bodyPr wrap="square">
            <a:spAutoFit/>
          </a:bodyPr>
          <a:lstStyle/>
          <a:p>
            <a:r>
              <a:rPr lang="en-IN" sz="2000" b="1" dirty="0">
                <a:effectLst/>
                <a:latin typeface="Times New Roman" panose="02020603050405020304" pitchFamily="18" charset="0"/>
                <a:ea typeface="Times New Roman" panose="02020603050405020304" pitchFamily="18" charset="0"/>
              </a:rPr>
              <a:t>Output 2:</a:t>
            </a:r>
            <a:endParaRPr lang="en-IN" sz="2000" dirty="0"/>
          </a:p>
        </p:txBody>
      </p:sp>
      <p:sp>
        <p:nvSpPr>
          <p:cNvPr id="4" name="TextBox 3">
            <a:extLst>
              <a:ext uri="{FF2B5EF4-FFF2-40B4-BE49-F238E27FC236}">
                <a16:creationId xmlns:a16="http://schemas.microsoft.com/office/drawing/2014/main" id="{E0186651-8F0E-D18F-F8A7-000EFF4501A4}"/>
              </a:ext>
            </a:extLst>
          </p:cNvPr>
          <p:cNvSpPr txBox="1"/>
          <p:nvPr/>
        </p:nvSpPr>
        <p:spPr>
          <a:xfrm>
            <a:off x="3047999" y="6121400"/>
            <a:ext cx="6096000" cy="385042"/>
          </a:xfrm>
          <a:prstGeom prst="rect">
            <a:avLst/>
          </a:prstGeom>
          <a:noFill/>
        </p:spPr>
        <p:txBody>
          <a:bodyPr wrap="square">
            <a:spAutoFit/>
          </a:bodyPr>
          <a:lstStyle/>
          <a:p>
            <a:pPr marL="1371600" indent="457200" algn="just">
              <a:lnSpc>
                <a:spcPct val="115000"/>
              </a:lnSpc>
              <a:spcBef>
                <a:spcPts val="1200"/>
              </a:spcBef>
              <a:spcAft>
                <a:spcPts val="1200"/>
              </a:spcAft>
              <a:buNone/>
            </a:pPr>
            <a:r>
              <a:rPr lang="en-IN" dirty="0">
                <a:latin typeface="Times New Roman" panose="02020603050405020304" pitchFamily="18" charset="0"/>
                <a:ea typeface="Times New Roman" panose="02020603050405020304" pitchFamily="18" charset="0"/>
              </a:rPr>
              <a:t>P</a:t>
            </a:r>
            <a:r>
              <a:rPr lang="en-IN" sz="1800" dirty="0">
                <a:effectLst/>
                <a:latin typeface="Times New Roman" panose="02020603050405020304" pitchFamily="18" charset="0"/>
                <a:ea typeface="Times New Roman" panose="02020603050405020304" pitchFamily="18" charset="0"/>
              </a:rPr>
              <a:t>lot </a:t>
            </a:r>
            <a:r>
              <a:rPr lang="en-IN" dirty="0">
                <a:latin typeface="Times New Roman" panose="02020603050405020304" pitchFamily="18" charset="0"/>
                <a:ea typeface="Times New Roman" panose="02020603050405020304" pitchFamily="18" charset="0"/>
              </a:rPr>
              <a:t>2</a:t>
            </a:r>
            <a:r>
              <a:rPr lang="en-IN" sz="1800" dirty="0">
                <a:effectLst/>
                <a:latin typeface="Times New Roman" panose="02020603050405020304" pitchFamily="18" charset="0"/>
                <a:ea typeface="Times New Roman" panose="02020603050405020304" pitchFamily="18" charset="0"/>
              </a:rPr>
              <a:t> [time vs speed]</a:t>
            </a:r>
            <a:endParaRPr lang="en-IN" sz="1600" dirty="0">
              <a:effectLst/>
              <a:latin typeface="Arial" panose="020B0604020202020204" pitchFamily="34" charset="0"/>
              <a:ea typeface="Arial" panose="020B0604020202020204" pitchFamily="34" charset="0"/>
            </a:endParaRPr>
          </a:p>
        </p:txBody>
      </p:sp>
      <p:sp>
        <p:nvSpPr>
          <p:cNvPr id="5" name="TextBox 4">
            <a:extLst>
              <a:ext uri="{FF2B5EF4-FFF2-40B4-BE49-F238E27FC236}">
                <a16:creationId xmlns:a16="http://schemas.microsoft.com/office/drawing/2014/main" id="{39F15C8E-7C0A-CCB9-FB74-9E7EEC36E5C1}"/>
              </a:ext>
            </a:extLst>
          </p:cNvPr>
          <p:cNvSpPr txBox="1"/>
          <p:nvPr/>
        </p:nvSpPr>
        <p:spPr>
          <a:xfrm>
            <a:off x="975360" y="736600"/>
            <a:ext cx="6096000" cy="446276"/>
          </a:xfrm>
          <a:prstGeom prst="rect">
            <a:avLst/>
          </a:prstGeom>
          <a:noFill/>
        </p:spPr>
        <p:txBody>
          <a:bodyPr wrap="square">
            <a:spAutoFit/>
          </a:bodyPr>
          <a:lstStyle/>
          <a:p>
            <a:pPr algn="just">
              <a:lnSpc>
                <a:spcPct val="115000"/>
              </a:lnSpc>
              <a:spcBef>
                <a:spcPts val="1200"/>
              </a:spcBef>
              <a:spcAft>
                <a:spcPts val="1200"/>
              </a:spcAft>
              <a:buNone/>
            </a:pPr>
            <a:r>
              <a:rPr lang="en-IN" sz="2000" dirty="0">
                <a:effectLst/>
                <a:latin typeface="Times New Roman" panose="02020603050405020304" pitchFamily="18" charset="0"/>
                <a:ea typeface="Times New Roman" panose="02020603050405020304" pitchFamily="18" charset="0"/>
              </a:rPr>
              <a:t>Fault created at Bus 29 at t=1.0 and cleared at t=1.3</a:t>
            </a:r>
            <a:r>
              <a:rPr lang="en-IN" sz="1800" dirty="0">
                <a:effectLst/>
                <a:latin typeface="Times New Roman" panose="02020603050405020304" pitchFamily="18" charset="0"/>
                <a:ea typeface="Times New Roman" panose="02020603050405020304" pitchFamily="18" charset="0"/>
              </a:rPr>
              <a:t>.</a:t>
            </a:r>
            <a:endParaRPr lang="en-IN" sz="1600" dirty="0">
              <a:effectLst/>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C99E95AD-E576-31D5-4C8E-1CAF2586D163}"/>
              </a:ext>
            </a:extLst>
          </p:cNvPr>
          <p:cNvSpPr txBox="1"/>
          <p:nvPr/>
        </p:nvSpPr>
        <p:spPr>
          <a:xfrm>
            <a:off x="975360" y="1003487"/>
            <a:ext cx="6096000" cy="446276"/>
          </a:xfrm>
          <a:prstGeom prst="rect">
            <a:avLst/>
          </a:prstGeom>
          <a:noFill/>
        </p:spPr>
        <p:txBody>
          <a:bodyPr wrap="square">
            <a:spAutoFit/>
          </a:bodyPr>
          <a:lstStyle/>
          <a:p>
            <a:pPr algn="just">
              <a:lnSpc>
                <a:spcPct val="115000"/>
              </a:lnSpc>
              <a:spcBef>
                <a:spcPts val="1200"/>
              </a:spcBef>
              <a:spcAft>
                <a:spcPts val="1200"/>
              </a:spcAft>
              <a:buNone/>
            </a:pPr>
            <a:r>
              <a:rPr lang="en-IN" sz="2000" dirty="0">
                <a:effectLst/>
                <a:latin typeface="Times New Roman" panose="02020603050405020304" pitchFamily="18" charset="0"/>
                <a:ea typeface="Times New Roman" panose="02020603050405020304" pitchFamily="18" charset="0"/>
              </a:rPr>
              <a:t>Generator G9 goes out of synchronism</a:t>
            </a:r>
            <a:r>
              <a:rPr lang="en-IN" sz="1800" dirty="0">
                <a:effectLst/>
                <a:latin typeface="Times New Roman" panose="02020603050405020304" pitchFamily="18" charset="0"/>
                <a:ea typeface="Times New Roman" panose="02020603050405020304" pitchFamily="18" charset="0"/>
              </a:rPr>
              <a:t>.</a:t>
            </a:r>
            <a:endParaRPr lang="en-IN" sz="16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725705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706056" y="447563"/>
            <a:ext cx="1236236"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Output 3:</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097" name="Picture 1"/>
          <p:cNvPicPr>
            <a:picLocks noChangeAspect="1" noChangeArrowheads="1"/>
          </p:cNvPicPr>
          <p:nvPr/>
        </p:nvPicPr>
        <p:blipFill>
          <a:blip r:embed="rId2">
            <a:extLst>
              <a:ext uri="{28A0092B-C50C-407E-A947-70E740481C1C}">
                <a14:useLocalDpi xmlns:a14="http://schemas.microsoft.com/office/drawing/2010/main" val="0"/>
              </a:ext>
            </a:extLst>
          </a:blip>
          <a:srcRect r="31538"/>
          <a:stretch>
            <a:fillRect/>
          </a:stretch>
        </p:blipFill>
        <p:spPr bwMode="auto">
          <a:xfrm>
            <a:off x="289366" y="1517086"/>
            <a:ext cx="11100135" cy="451949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706056" y="839978"/>
            <a:ext cx="6572633" cy="56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just"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dirty="0">
                <a:ln>
                  <a:noFill/>
                </a:ln>
                <a:solidFill>
                  <a:schemeClr val="tx1"/>
                </a:solidFill>
                <a:effectLst/>
                <a:latin typeface="Arial" panose="020B0604020202020204" pitchFamily="34" charset="0"/>
                <a:ea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Fault created at Bus 29 at t=1.0 sec and cleared at t=1.3</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4" name="Rectangle 3"/>
          <p:cNvSpPr/>
          <p:nvPr/>
        </p:nvSpPr>
        <p:spPr>
          <a:xfrm>
            <a:off x="3835083" y="6036577"/>
            <a:ext cx="3595856" cy="369332"/>
          </a:xfrm>
          <a:prstGeom prst="rect">
            <a:avLst/>
          </a:prstGeom>
        </p:spPr>
        <p:txBody>
          <a:bodyPr wrap="none">
            <a:spAutoFit/>
          </a:bodyPr>
          <a:lstStyle/>
          <a:p>
            <a:pPr lvl="0" indent="457200" algn="just"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 14: plot 3 [time vs speed]</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71640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659755" y="406019"/>
            <a:ext cx="16265534"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Output 4</a:t>
            </a: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145" name="Picture 1"/>
          <p:cNvPicPr>
            <a:picLocks noChangeAspect="1" noChangeArrowheads="1"/>
          </p:cNvPicPr>
          <p:nvPr/>
        </p:nvPicPr>
        <p:blipFill>
          <a:blip r:embed="rId2">
            <a:extLst>
              <a:ext uri="{28A0092B-C50C-407E-A947-70E740481C1C}">
                <a14:useLocalDpi xmlns:a14="http://schemas.microsoft.com/office/drawing/2010/main" val="0"/>
              </a:ext>
            </a:extLst>
          </a:blip>
          <a:srcRect r="31538"/>
          <a:stretch>
            <a:fillRect/>
          </a:stretch>
        </p:blipFill>
        <p:spPr bwMode="auto">
          <a:xfrm>
            <a:off x="659755" y="1882540"/>
            <a:ext cx="10232022" cy="397912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659755" y="729184"/>
            <a:ext cx="1626553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just" defTabSz="914400" rtl="0" eaLnBrk="0" fontAlgn="base" latinLnBrk="0" hangingPunct="0">
              <a:lnSpc>
                <a:spcPct val="100000"/>
              </a:lnSpc>
              <a:spcBef>
                <a:spcPct val="0"/>
              </a:spcBef>
              <a:spcAft>
                <a:spcPct val="0"/>
              </a:spcAft>
              <a:buClrTx/>
              <a:buSzTx/>
              <a:buFontTx/>
              <a:buNone/>
              <a:tabLst/>
            </a:pPr>
            <a:br>
              <a:rPr kumimoji="0" lang="en-US" altLang="en-US" sz="2000" b="0" i="0" u="none" strike="noStrike" cap="none" normalizeH="0" baseline="0" dirty="0">
                <a:ln>
                  <a:noFill/>
                </a:ln>
                <a:solidFill>
                  <a:schemeClr val="tx1"/>
                </a:solidFill>
                <a:effectLst/>
                <a:latin typeface="Arial" panose="020B0604020202020204" pitchFamily="34" charset="0"/>
                <a:ea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Fault created at bus 10 at t=1.0 sec and cleared at t=1.3 sec.</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4" name="Rectangle 3"/>
          <p:cNvSpPr/>
          <p:nvPr/>
        </p:nvSpPr>
        <p:spPr>
          <a:xfrm>
            <a:off x="3831171" y="5937799"/>
            <a:ext cx="3557384" cy="369332"/>
          </a:xfrm>
          <a:prstGeom prst="rect">
            <a:avLst/>
          </a:prstGeom>
        </p:spPr>
        <p:txBody>
          <a:bodyPr wrap="none">
            <a:spAutoFit/>
          </a:bodyPr>
          <a:lstStyle/>
          <a:p>
            <a:pPr lvl="0" indent="457200" algn="just"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 15: Plot 4[time vs speed]</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29698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BAEED-8E20-4057-AB00-EA1C6470A301}"/>
              </a:ext>
            </a:extLst>
          </p:cNvPr>
          <p:cNvSpPr>
            <a:spLocks noGrp="1"/>
          </p:cNvSpPr>
          <p:nvPr>
            <p:ph type="title"/>
          </p:nvPr>
        </p:nvSpPr>
        <p:spPr/>
        <p:txBody>
          <a:bodyPr>
            <a:normAutofit fontScale="90000"/>
          </a:bodyPr>
          <a:lstStyle/>
          <a:p>
            <a:r>
              <a:rPr lang="en-US" b="1" dirty="0"/>
              <a:t>REMAINING WORK</a:t>
            </a:r>
            <a:endParaRPr lang="en-US" dirty="0"/>
          </a:p>
        </p:txBody>
      </p:sp>
      <p:sp>
        <p:nvSpPr>
          <p:cNvPr id="3" name="Text Placeholder 2">
            <a:extLst>
              <a:ext uri="{FF2B5EF4-FFF2-40B4-BE49-F238E27FC236}">
                <a16:creationId xmlns:a16="http://schemas.microsoft.com/office/drawing/2014/main" id="{146F43EF-DBB5-4216-B505-7354646FF6CB}"/>
              </a:ext>
            </a:extLst>
          </p:cNvPr>
          <p:cNvSpPr>
            <a:spLocks noGrp="1"/>
          </p:cNvSpPr>
          <p:nvPr>
            <p:ph type="body" idx="1"/>
          </p:nvPr>
        </p:nvSpPr>
        <p:spPr/>
        <p:txBody>
          <a:bodyPr/>
          <a:lstStyle/>
          <a:p>
            <a:pPr lvl="0"/>
            <a:r>
              <a:rPr lang="en-US" dirty="0"/>
              <a:t>Lookup Table</a:t>
            </a:r>
          </a:p>
          <a:p>
            <a:pPr lvl="0"/>
            <a:r>
              <a:rPr lang="en-US" dirty="0"/>
              <a:t>LSTM</a:t>
            </a:r>
          </a:p>
          <a:p>
            <a:pPr lvl="0"/>
            <a:r>
              <a:rPr lang="en-US" dirty="0"/>
              <a:t>Model Training</a:t>
            </a:r>
          </a:p>
          <a:p>
            <a:pPr lvl="0"/>
            <a:r>
              <a:rPr lang="en-US" dirty="0"/>
              <a:t>Integration of LSTM with TEF for control action</a:t>
            </a:r>
          </a:p>
          <a:p>
            <a:r>
              <a:rPr lang="en-US" dirty="0">
                <a:latin typeface="Times New Roman" panose="02020603050405020304" pitchFamily="18" charset="0"/>
                <a:cs typeface="Times New Roman" panose="02020603050405020304" pitchFamily="18" charset="0"/>
              </a:rPr>
              <a:t>Testing &amp; Validation:</a:t>
            </a:r>
          </a:p>
          <a:p>
            <a:r>
              <a:rPr lang="en-US" dirty="0">
                <a:latin typeface="Times New Roman" panose="02020603050405020304" pitchFamily="18" charset="0"/>
                <a:cs typeface="Times New Roman" panose="02020603050405020304" pitchFamily="18" charset="0"/>
              </a:rPr>
              <a:t>Documentation</a:t>
            </a:r>
            <a:endParaRPr lang="en-US" dirty="0"/>
          </a:p>
        </p:txBody>
      </p:sp>
    </p:spTree>
    <p:extLst>
      <p:ext uri="{BB962C8B-B14F-4D97-AF65-F5344CB8AC3E}">
        <p14:creationId xmlns:p14="http://schemas.microsoft.com/office/powerpoint/2010/main" val="1935679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3BC54-0118-4FC0-BBD7-11893474AD63}"/>
              </a:ext>
            </a:extLst>
          </p:cNvPr>
          <p:cNvSpPr>
            <a:spLocks noGrp="1"/>
          </p:cNvSpPr>
          <p:nvPr>
            <p:ph type="title"/>
          </p:nvPr>
        </p:nvSpPr>
        <p:spPr/>
        <p:txBody>
          <a:bodyPr>
            <a:normAutofit fontScale="90000"/>
          </a:bodyPr>
          <a:lstStyle/>
          <a:p>
            <a:r>
              <a:rPr lang="en-US" dirty="0"/>
              <a:t>Conclusion</a:t>
            </a:r>
          </a:p>
        </p:txBody>
      </p:sp>
      <p:sp>
        <p:nvSpPr>
          <p:cNvPr id="3" name="Text Placeholder 2">
            <a:extLst>
              <a:ext uri="{FF2B5EF4-FFF2-40B4-BE49-F238E27FC236}">
                <a16:creationId xmlns:a16="http://schemas.microsoft.com/office/drawing/2014/main" id="{BEBCF031-4F8A-46F5-8381-7F75E9259EF3}"/>
              </a:ext>
            </a:extLst>
          </p:cNvPr>
          <p:cNvSpPr>
            <a:spLocks noGrp="1"/>
          </p:cNvSpPr>
          <p:nvPr>
            <p:ph type="body" idx="1"/>
          </p:nvPr>
        </p:nvSpPr>
        <p:spPr/>
        <p:txBody>
          <a:bodyPr/>
          <a:lstStyle/>
          <a:p>
            <a:r>
              <a:rPr lang="en-US" dirty="0"/>
              <a:t>TEF Framework for IEEE-9 Bus is developed and Stability is analyzed in the result section.</a:t>
            </a:r>
          </a:p>
          <a:p>
            <a:pPr marL="152396" indent="0">
              <a:buNone/>
            </a:pPr>
            <a:endParaRPr lang="en-US" dirty="0"/>
          </a:p>
          <a:p>
            <a:r>
              <a:rPr lang="en-US" dirty="0"/>
              <a:t>IEEE39 bus system is completely developed in PSSE</a:t>
            </a:r>
          </a:p>
          <a:p>
            <a:pPr marL="152396" indent="0">
              <a:buNone/>
            </a:pPr>
            <a:endParaRPr lang="en-US" dirty="0"/>
          </a:p>
          <a:p>
            <a:r>
              <a:rPr lang="en-US" dirty="0"/>
              <a:t>Result for the different fault location has been analyzed at current stage in IEEE 39 Bus system using PSSE along with Training Data Collection</a:t>
            </a:r>
          </a:p>
          <a:p>
            <a:endParaRPr lang="en-US" dirty="0"/>
          </a:p>
          <a:p>
            <a:pPr marL="152396" indent="0">
              <a:buNone/>
            </a:pPr>
            <a:endParaRPr lang="en-US" dirty="0"/>
          </a:p>
        </p:txBody>
      </p:sp>
    </p:spTree>
    <p:extLst>
      <p:ext uri="{BB962C8B-B14F-4D97-AF65-F5344CB8AC3E}">
        <p14:creationId xmlns:p14="http://schemas.microsoft.com/office/powerpoint/2010/main" val="2508746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25;p24">
            <a:extLst>
              <a:ext uri="{FF2B5EF4-FFF2-40B4-BE49-F238E27FC236}">
                <a16:creationId xmlns:a16="http://schemas.microsoft.com/office/drawing/2014/main" id="{ABAD5285-3787-4A10-BC8E-9EE744D80F5B}"/>
              </a:ext>
            </a:extLst>
          </p:cNvPr>
          <p:cNvSpPr txBox="1">
            <a:spLocks noGrp="1"/>
          </p:cNvSpPr>
          <p:nvPr>
            <p:ph type="title"/>
          </p:nvPr>
        </p:nvSpPr>
        <p:spPr>
          <a:xfrm>
            <a:off x="415925" y="593725"/>
            <a:ext cx="11360150" cy="763588"/>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400" b="1" dirty="0">
                <a:solidFill>
                  <a:srgbClr val="C00000"/>
                </a:solidFill>
                <a:latin typeface="Times New Roman" panose="02020603050405020304" pitchFamily="18" charset="0"/>
                <a:cs typeface="Times New Roman" panose="02020603050405020304" pitchFamily="18" charset="0"/>
              </a:rPr>
              <a:t>References</a:t>
            </a:r>
            <a:endParaRPr sz="2400" b="1" dirty="0">
              <a:solidFill>
                <a:srgbClr val="C00000"/>
              </a:solidFill>
              <a:latin typeface="Times New Roman" panose="02020603050405020304" pitchFamily="18" charset="0"/>
              <a:cs typeface="Times New Roman" panose="02020603050405020304" pitchFamily="18" charset="0"/>
            </a:endParaRPr>
          </a:p>
        </p:txBody>
      </p:sp>
      <p:sp>
        <p:nvSpPr>
          <p:cNvPr id="5" name="Google Shape;126;p24">
            <a:extLst>
              <a:ext uri="{FF2B5EF4-FFF2-40B4-BE49-F238E27FC236}">
                <a16:creationId xmlns:a16="http://schemas.microsoft.com/office/drawing/2014/main" id="{249E0F29-ABEF-499E-A0BD-937ACD441DDD}"/>
              </a:ext>
            </a:extLst>
          </p:cNvPr>
          <p:cNvSpPr txBox="1">
            <a:spLocks noGrp="1"/>
          </p:cNvSpPr>
          <p:nvPr>
            <p:ph type="body" idx="1"/>
          </p:nvPr>
        </p:nvSpPr>
        <p:spPr>
          <a:xfrm>
            <a:off x="415925" y="1513490"/>
            <a:ext cx="11360150" cy="4635062"/>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dirty="0">
                <a:solidFill>
                  <a:srgbClr val="00B050"/>
                </a:solidFill>
              </a:rPr>
              <a:t>[1] P. Bhui and N. Senroy, "Real Time Prediction and Control of Transient Stability Using Transient Energy Function," IEEE Trans. Power Syst., doi: 10.1109/TPWRS.2016.2564444.</a:t>
            </a:r>
            <a:endParaRPr dirty="0">
              <a:solidFill>
                <a:srgbClr val="00B050"/>
              </a:solidFill>
            </a:endParaRPr>
          </a:p>
          <a:p>
            <a:pPr marL="0" lvl="0" indent="0" algn="l" rtl="0">
              <a:spcBef>
                <a:spcPts val="1200"/>
              </a:spcBef>
              <a:spcAft>
                <a:spcPts val="0"/>
              </a:spcAft>
              <a:buNone/>
            </a:pPr>
            <a:endParaRPr dirty="0">
              <a:solidFill>
                <a:srgbClr val="00B050"/>
              </a:solidFill>
            </a:endParaRPr>
          </a:p>
          <a:p>
            <a:pPr marL="0" lvl="0" indent="0" algn="l" rtl="0">
              <a:spcBef>
                <a:spcPts val="1200"/>
              </a:spcBef>
              <a:spcAft>
                <a:spcPts val="0"/>
              </a:spcAft>
              <a:buNone/>
            </a:pPr>
            <a:r>
              <a:rPr lang="en" dirty="0">
                <a:solidFill>
                  <a:srgbClr val="00B050"/>
                </a:solidFill>
              </a:rPr>
              <a:t>[2] F. Silva-Rodriguez, H. Raffoul, and Y. Li, “LSTM-Based Net Load Forecasting for Wind and Solar     Power-Equipped Microgrids,” in Proceedings of the 2024 IEEE Power &amp; Energy Society General Meeting (PESGM), Seattle, WA, USA, Jul. 2024, pp. 1–6. doi: 10.1109/PESGM56776.2024.1234567.</a:t>
            </a:r>
            <a:endParaRPr dirty="0">
              <a:solidFill>
                <a:srgbClr val="00B050"/>
              </a:solidFill>
            </a:endParaRPr>
          </a:p>
          <a:p>
            <a:pPr marL="0" lvl="0" indent="0" algn="l" rtl="0">
              <a:spcBef>
                <a:spcPts val="1200"/>
              </a:spcBef>
              <a:spcAft>
                <a:spcPts val="0"/>
              </a:spcAft>
              <a:buNone/>
            </a:pPr>
            <a:endParaRPr dirty="0">
              <a:solidFill>
                <a:srgbClr val="00B050"/>
              </a:solidFill>
            </a:endParaRPr>
          </a:p>
          <a:p>
            <a:pPr marL="0" lvl="0" indent="0" algn="l" rtl="0">
              <a:spcBef>
                <a:spcPts val="1200"/>
              </a:spcBef>
              <a:spcAft>
                <a:spcPts val="0"/>
              </a:spcAft>
              <a:buNone/>
            </a:pPr>
            <a:r>
              <a:rPr lang="en" dirty="0">
                <a:solidFill>
                  <a:srgbClr val="00B050"/>
                </a:solidFill>
              </a:rPr>
              <a:t>[3] G. Van Houdt, C. Mosquera, G. Nápoles, “A review on the long short term memory model,” Artificial Intelligence Review, vol. 53, pp. 5929 5955, 2020.</a:t>
            </a:r>
          </a:p>
          <a:p>
            <a:pPr marL="0" lvl="0" indent="0" algn="l" rtl="0">
              <a:spcBef>
                <a:spcPts val="1200"/>
              </a:spcBef>
              <a:spcAft>
                <a:spcPts val="0"/>
              </a:spcAft>
              <a:buNone/>
            </a:pPr>
            <a:endParaRPr dirty="0">
              <a:solidFill>
                <a:srgbClr val="00B050"/>
              </a:solidFill>
            </a:endParaRPr>
          </a:p>
          <a:p>
            <a:pPr marL="0" indent="0">
              <a:spcBef>
                <a:spcPts val="1200"/>
              </a:spcBef>
              <a:spcAft>
                <a:spcPts val="1200"/>
              </a:spcAft>
              <a:buNone/>
            </a:pPr>
            <a:r>
              <a:rPr lang="en-US" dirty="0">
                <a:solidFill>
                  <a:srgbClr val="00B050"/>
                </a:solidFill>
              </a:rPr>
              <a:t>[4] H. D. Chiang, F. Wu and P. </a:t>
            </a:r>
            <a:r>
              <a:rPr lang="en-US" dirty="0" err="1">
                <a:solidFill>
                  <a:srgbClr val="00B050"/>
                </a:solidFill>
              </a:rPr>
              <a:t>Varaiya</a:t>
            </a:r>
            <a:r>
              <a:rPr lang="en-US" dirty="0">
                <a:solidFill>
                  <a:srgbClr val="00B050"/>
                </a:solidFill>
              </a:rPr>
              <a:t>, “A BCU method for direct analysis of power system transient stability,” IEEE Trans. Power Syst., vol. 9, pp. 1194–1208, Aug. 1994.</a:t>
            </a:r>
          </a:p>
          <a:p>
            <a:pPr marL="0" indent="0">
              <a:spcBef>
                <a:spcPts val="1200"/>
              </a:spcBef>
              <a:spcAft>
                <a:spcPts val="1200"/>
              </a:spcAft>
              <a:buNone/>
            </a:pPr>
            <a:r>
              <a:rPr lang="en-US" dirty="0"/>
              <a:t>[5] P. W. Sauer, M. A. Pai, and J. H. Chow, </a:t>
            </a:r>
            <a:r>
              <a:rPr lang="en-US" i="1" dirty="0"/>
              <a:t>Power System Dynamics and Stability, Second Edition</a:t>
            </a:r>
            <a:r>
              <a:rPr lang="en-US" dirty="0"/>
              <a:t>. Hoboken, NJ, USA: John Wiley &amp; Sons Ltd, 2018.</a:t>
            </a:r>
            <a:endParaRPr lang="en-US" dirty="0">
              <a:solidFill>
                <a:srgbClr val="00B050"/>
              </a:solidFill>
            </a:endParaRPr>
          </a:p>
          <a:p>
            <a:pPr marL="0" indent="0">
              <a:spcBef>
                <a:spcPts val="1200"/>
              </a:spcBef>
              <a:spcAft>
                <a:spcPts val="1200"/>
              </a:spcAft>
              <a:buNone/>
            </a:pPr>
            <a:endParaRPr lang="en-US" dirty="0">
              <a:solidFill>
                <a:srgbClr val="00B050"/>
              </a:solidFill>
            </a:endParaRPr>
          </a:p>
          <a:p>
            <a:pPr marL="0" lvl="0" indent="0" algn="l" rtl="0">
              <a:spcBef>
                <a:spcPts val="1200"/>
              </a:spcBef>
              <a:spcAft>
                <a:spcPts val="1200"/>
              </a:spcAft>
              <a:buNone/>
            </a:pPr>
            <a:endParaRPr dirty="0">
              <a:solidFill>
                <a:srgbClr val="00B050"/>
              </a:solidFill>
            </a:endParaRPr>
          </a:p>
        </p:txBody>
      </p:sp>
    </p:spTree>
    <p:extLst>
      <p:ext uri="{BB962C8B-B14F-4D97-AF65-F5344CB8AC3E}">
        <p14:creationId xmlns:p14="http://schemas.microsoft.com/office/powerpoint/2010/main" val="17618655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D90CE-9D3E-48DB-8CF6-F639DE5765BF}"/>
              </a:ext>
            </a:extLst>
          </p:cNvPr>
          <p:cNvSpPr>
            <a:spLocks noGrp="1"/>
          </p:cNvSpPr>
          <p:nvPr>
            <p:ph type="title"/>
          </p:nvPr>
        </p:nvSpPr>
        <p:spPr>
          <a:xfrm>
            <a:off x="2668385" y="3429000"/>
            <a:ext cx="6658495" cy="1558636"/>
          </a:xfrm>
        </p:spPr>
        <p:txBody>
          <a:bodyPr>
            <a:normAutofit/>
          </a:bodyPr>
          <a:lstStyle/>
          <a:p>
            <a:pPr algn="ctr"/>
            <a:r>
              <a:rPr lang="en-US" sz="8800" dirty="0">
                <a:solidFill>
                  <a:srgbClr val="C00000"/>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636883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1700</TotalTime>
  <Words>1311</Words>
  <Application>Microsoft Office PowerPoint</Application>
  <PresentationFormat>Widescreen</PresentationFormat>
  <Paragraphs>185</Paragraphs>
  <Slides>27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Times New Roman</vt:lpstr>
      <vt:lpstr>Office Theme</vt:lpstr>
      <vt:lpstr>LSTM-BASED APPROACH FOR GENERATOR STATE PREDICTION IN TRANSIENT STABILITY ASSESSMENT AND CONTROL USING TRANSIENT ENERGY FUNCTION </vt:lpstr>
      <vt:lpstr>Introduction</vt:lpstr>
      <vt:lpstr>Swing Equation and State-State Formulation</vt:lpstr>
      <vt:lpstr>Lyapunov Function</vt:lpstr>
      <vt:lpstr>Literature Review</vt:lpstr>
      <vt:lpstr>Literature Review</vt:lpstr>
      <vt:lpstr>Problem Statements</vt:lpstr>
      <vt:lpstr>Objectives</vt:lpstr>
      <vt:lpstr>METHODOLOGY</vt:lpstr>
      <vt:lpstr>1. Offline Computation/Look-up Table </vt:lpstr>
      <vt:lpstr>2. Online Computation</vt:lpstr>
      <vt:lpstr>PowerPoint Presentation</vt:lpstr>
      <vt:lpstr>PowerPoint Presentation</vt:lpstr>
      <vt:lpstr>b. Computation of normalized KE gained by the generators:  </vt:lpstr>
      <vt:lpstr>System Under Consideration</vt:lpstr>
      <vt:lpstr>Tools and Software:</vt:lpstr>
      <vt:lpstr>Result And Analysis</vt:lpstr>
      <vt:lpstr>Result And Analysis</vt:lpstr>
      <vt:lpstr>PowerPoint Presentation</vt:lpstr>
      <vt:lpstr>PowerPoint Presentation</vt:lpstr>
      <vt:lpstr>PowerPoint Presentation</vt:lpstr>
      <vt:lpstr>PowerPoint Presentation</vt:lpstr>
      <vt:lpstr>PowerPoint Presentation</vt:lpstr>
      <vt:lpstr>REMAINING WORK</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LSTM-BASED APPROACH FOR GENERATOR STATE PREDICTION IN TRANSIENT STABILITY ASSESSMENT AND CONTROL USING TRANSIENT ENERGY FUNCTION</dc:title>
  <dc:creator>chandan sah</dc:creator>
  <cp:lastModifiedBy>Chandan Sah</cp:lastModifiedBy>
  <cp:revision>51</cp:revision>
  <dcterms:created xsi:type="dcterms:W3CDTF">2025-11-20T14:42:29Z</dcterms:created>
  <dcterms:modified xsi:type="dcterms:W3CDTF">2026-01-06T16:38:25Z</dcterms:modified>
</cp:coreProperties>
</file>