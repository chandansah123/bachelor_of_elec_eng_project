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68" r:id="rId4"/>
    <p:sldId id="264" r:id="rId5"/>
    <p:sldId id="272" r:id="rId6"/>
    <p:sldId id="259" r:id="rId7"/>
    <p:sldId id="260" r:id="rId8"/>
    <p:sldId id="261" r:id="rId9"/>
    <p:sldId id="262" r:id="rId10"/>
    <p:sldId id="263" r:id="rId11"/>
    <p:sldId id="265" r:id="rId12"/>
    <p:sldId id="266" r:id="rId13"/>
    <p:sldId id="267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F5F44E-915B-4B87-A3A4-F0AB193A2F6F}">
  <a:tblStyle styleId="{B3F5F44E-915B-4B87-A3A4-F0AB193A2F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>
        <p:scale>
          <a:sx n="100" d="100"/>
          <a:sy n="100" d="100"/>
        </p:scale>
        <p:origin x="970" y="31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a5399006a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a5399006a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6a5399006a_3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6a5399006a_3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6a5399006a_3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6a5399006a_3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94128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6a5399006a_3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6a5399006a_3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a5399006a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a5399006a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a5399006a_3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6a5399006a_3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a5399006a_3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a5399006a_3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6a5399006a_3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6a5399006a_3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6a5399006a_3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6a5399006a_3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a5399006a_3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6a5399006a_3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6a5399006a_3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6a5399006a_3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434975" y="460637"/>
            <a:ext cx="8055600" cy="13261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LSTM-BASED APPROACH FOR GENERATOR STATE PREDICTION IN TRANSIENT STABILITY ASSESSMENT AND CONTROL USING TRANSIENT ENERGY FUNCTION </a:t>
            </a:r>
            <a:endParaRPr sz="4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1970536"/>
            <a:ext cx="8520600" cy="16870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Bhupesh Jaishi (078BEL026)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Binod Kumar Sah (078BEL030) 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Bishal Chaurasiya (078BEL031) 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Chandan Sah (078BEL032) 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434975" y="3777904"/>
            <a:ext cx="8520600" cy="9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ELECTRICAL ENGINEERING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IOE, PULCHOWK CAMPUS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2687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156425" y="749200"/>
            <a:ext cx="8520600" cy="404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Transient instability can cause blackouts after severe faults like line to line fault.</a:t>
            </a:r>
            <a:endParaRPr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-330200">
              <a:buClr>
                <a:schemeClr val="dk1"/>
              </a:buClr>
              <a:buSzPts val="1600"/>
            </a:pPr>
            <a:r>
              <a:rPr lang="en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is based on the paper “</a:t>
            </a:r>
            <a:r>
              <a:rPr lang="en-US" sz="2000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 Time Prediction and Control of Transient Stability Using Transient Energy Function”</a:t>
            </a:r>
            <a:endParaRPr sz="23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phases Offline and Online for computation and simulation is discussed</a:t>
            </a:r>
            <a:endParaRPr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Need: fast, reliable prediction of generator states (speed &amp; angle) for load shedding purpose</a:t>
            </a:r>
            <a:endParaRPr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LSTM offers time-series learning ability suitable for dynamic system response</a:t>
            </a:r>
            <a:endParaRPr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23A61-8D31-4508-9D73-CDED26D8A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8F0FF1-F30C-49E2-8BE8-5BAD95F3E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9101"/>
            <a:ext cx="8520600" cy="3416400"/>
          </a:xfrm>
        </p:spPr>
        <p:txBody>
          <a:bodyPr/>
          <a:lstStyle/>
          <a:p>
            <a:pPr marL="114300" indent="0"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and implement an LSTM (Long Short-Term Memory) neural network model for accurate, real-time prediction of generator angles and speeds in the IEEE 9-bus system following a fault</a:t>
            </a:r>
          </a:p>
          <a:p>
            <a:pPr marL="114300" lvl="0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lv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demonstrate the applicability of the enhanced TEF method on the IEEE 9-bus test system     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599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>
            <a:spLocks noGrp="1"/>
          </p:cNvSpPr>
          <p:nvPr>
            <p:ph type="title"/>
          </p:nvPr>
        </p:nvSpPr>
        <p:spPr>
          <a:xfrm>
            <a:off x="311700" y="266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IEEE-9 BUS SYSTEM</a:t>
            </a:r>
            <a:endParaRPr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1535" y="832524"/>
            <a:ext cx="6894425" cy="4203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>
            <a:spLocks noGrp="1"/>
          </p:cNvSpPr>
          <p:nvPr>
            <p:ph type="title"/>
          </p:nvPr>
        </p:nvSpPr>
        <p:spPr>
          <a:xfrm>
            <a:off x="311700" y="266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1F5D69-6629-4E6A-AE67-81253E542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330" y="266450"/>
            <a:ext cx="4531970" cy="479432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1D2320E-24C5-41C0-82D6-D8720EF39DAE}"/>
              </a:ext>
            </a:extLst>
          </p:cNvPr>
          <p:cNvSpPr txBox="1"/>
          <p:nvPr/>
        </p:nvSpPr>
        <p:spPr>
          <a:xfrm>
            <a:off x="7762324" y="4486545"/>
            <a:ext cx="6493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46376D-D784-4FE4-A4A5-D6896BEE1B51}"/>
              </a:ext>
            </a:extLst>
          </p:cNvPr>
          <p:cNvSpPr txBox="1"/>
          <p:nvPr/>
        </p:nvSpPr>
        <p:spPr>
          <a:xfrm>
            <a:off x="6509994" y="3843815"/>
            <a:ext cx="6493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AA65F5-0C12-4EE6-B832-FA9E049B1D1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161" y="1629232"/>
            <a:ext cx="3703709" cy="33477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50696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251320" y="390362"/>
            <a:ext cx="8520600" cy="5232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SzPts val="770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MOD identification for different fault location</a:t>
            </a:r>
          </a:p>
        </p:txBody>
      </p:sp>
      <p:graphicFrame>
        <p:nvGraphicFramePr>
          <p:cNvPr id="76" name="Google Shape;76;p16"/>
          <p:cNvGraphicFramePr/>
          <p:nvPr>
            <p:extLst>
              <p:ext uri="{D42A27DB-BD31-4B8C-83A1-F6EECF244321}">
                <p14:modId xmlns:p14="http://schemas.microsoft.com/office/powerpoint/2010/main" val="155209401"/>
              </p:ext>
            </p:extLst>
          </p:nvPr>
        </p:nvGraphicFramePr>
        <p:xfrm>
          <a:off x="536375" y="1672970"/>
          <a:ext cx="7239000" cy="1367175"/>
        </p:xfrm>
        <a:graphic>
          <a:graphicData uri="http://schemas.openxmlformats.org/drawingml/2006/table">
            <a:tbl>
              <a:tblPr>
                <a:noFill/>
                <a:tableStyleId>{B3F5F44E-915B-4B87-A3A4-F0AB193A2F6F}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5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MOD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Fault Location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M1={1 2 3}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Line: 4-5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M2={2}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Bus: 2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DFE8EB1-7DBF-01A0-7C12-70952BA1A374}"/>
              </a:ext>
            </a:extLst>
          </p:cNvPr>
          <p:cNvSpPr txBox="1"/>
          <p:nvPr/>
        </p:nvSpPr>
        <p:spPr>
          <a:xfrm>
            <a:off x="376775" y="2989295"/>
            <a:ext cx="66998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 Computation of normalized KE gained by the generators</a:t>
            </a:r>
          </a:p>
        </p:txBody>
      </p:sp>
      <p:pic>
        <p:nvPicPr>
          <p:cNvPr id="70" name="Google Shape;70;p15" title="k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074" y="3327678"/>
            <a:ext cx="3450801" cy="9356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23A635-20FD-A34D-4E6E-FB4C3D416AE1}"/>
              </a:ext>
            </a:extLst>
          </p:cNvPr>
          <p:cNvSpPr txBox="1"/>
          <p:nvPr/>
        </p:nvSpPr>
        <p:spPr>
          <a:xfrm>
            <a:off x="347196" y="4401656"/>
            <a:ext cx="83288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P. </a:t>
            </a:r>
            <a:r>
              <a:rPr lang="en-US" sz="1400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Bhui</a:t>
            </a:r>
            <a:r>
              <a:rPr lang="en-US" sz="14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N. </a:t>
            </a:r>
            <a:r>
              <a:rPr lang="en-US" sz="1400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Senroy</a:t>
            </a:r>
            <a:r>
              <a:rPr lang="en-US" sz="14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"Real Time Prediction and Control of Transient Stability Using Transient Energy Function," </a:t>
            </a:r>
            <a:r>
              <a:rPr lang="en-US" sz="1400" i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Trans. Power Syst.</a:t>
            </a:r>
            <a:r>
              <a:rPr lang="en-US" sz="14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400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doi</a:t>
            </a:r>
            <a:r>
              <a:rPr lang="en-US" sz="14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10.1109/TPWRS.2016.2564444.</a:t>
            </a:r>
          </a:p>
        </p:txBody>
      </p:sp>
      <p:sp>
        <p:nvSpPr>
          <p:cNvPr id="8" name="Google Shape;69;p15">
            <a:extLst>
              <a:ext uri="{FF2B5EF4-FFF2-40B4-BE49-F238E27FC236}">
                <a16:creationId xmlns:a16="http://schemas.microsoft.com/office/drawing/2014/main" id="{886B6087-5247-4A30-A7F8-4D41A59B0A81}"/>
              </a:ext>
            </a:extLst>
          </p:cNvPr>
          <p:cNvSpPr txBox="1">
            <a:spLocks/>
          </p:cNvSpPr>
          <p:nvPr/>
        </p:nvSpPr>
        <p:spPr>
          <a:xfrm>
            <a:off x="347196" y="-9229"/>
            <a:ext cx="8520600" cy="6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Offline Phase</a:t>
            </a:r>
          </a:p>
          <a:p>
            <a:endParaRPr 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9" name="Google Shape;69;p15">
            <a:extLst>
              <a:ext uri="{FF2B5EF4-FFF2-40B4-BE49-F238E27FC236}">
                <a16:creationId xmlns:a16="http://schemas.microsoft.com/office/drawing/2014/main" id="{6A775EEC-4DA8-49F1-BBC3-2125F349DE33}"/>
              </a:ext>
            </a:extLst>
          </p:cNvPr>
          <p:cNvSpPr txBox="1">
            <a:spLocks/>
          </p:cNvSpPr>
          <p:nvPr/>
        </p:nvSpPr>
        <p:spPr>
          <a:xfrm>
            <a:off x="347196" y="839152"/>
            <a:ext cx="8520600" cy="695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a fault at a location "X", if generator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j go out of step, the MOD is 𝑀={𝑖,𝑗}.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8575" y="2703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Phase: Computation Using PMU Data</a:t>
            </a:r>
            <a:endParaRPr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938975"/>
            <a:ext cx="8520600" cy="36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a) Correct MOD Identification: 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 Calculation of 𝐾𝐸 - Calculate the 𝐾𝐸 from the generator speeds obtained from the PMU 	data.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 Ranking of Probable MODs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 depends on the distribution of kinetic energy gained by generators during a fault and as well as the post fault topology. Using kth Nearest Neighbour (k-NN) method Is used to find the most probable MOD 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 Calculation of Post-fault SEP (Stable Equilibrium Point)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4: Calculation of CUEP( Controlling Unstable Equilibrium Point)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5: Identification of the Correct MOD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 Assessment of first swing transient stability: 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c) Estimation of the Amount of Control Actions Required and Monitoring of Stability    Status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 of generator speed and angles (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will be using LSTM for prediction)</a:t>
            </a:r>
            <a:r>
              <a:rPr lang="e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Modification in Energy Function for Generation Shedding: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Estimation of the amount of control actions required:</a:t>
            </a:r>
          </a:p>
        </p:txBody>
      </p:sp>
      <p:sp>
        <p:nvSpPr>
          <p:cNvPr id="4" name="Google Shape;81;p17">
            <a:extLst>
              <a:ext uri="{FF2B5EF4-FFF2-40B4-BE49-F238E27FC236}">
                <a16:creationId xmlns:a16="http://schemas.microsoft.com/office/drawing/2014/main" id="{73282799-9950-40CB-AF77-2D34D754FA2E}"/>
              </a:ext>
            </a:extLst>
          </p:cNvPr>
          <p:cNvSpPr txBox="1">
            <a:spLocks/>
          </p:cNvSpPr>
          <p:nvPr/>
        </p:nvSpPr>
        <p:spPr>
          <a:xfrm>
            <a:off x="318575" y="270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Phase: Computation Using PMU Data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Transient Energy Function(TEF)</a:t>
            </a:r>
            <a:endParaRPr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Google Shape;94;p19"/>
          <p:cNvSpPr txBox="1">
            <a:spLocks noGrp="1"/>
          </p:cNvSpPr>
          <p:nvPr>
            <p:ph type="body" idx="1"/>
          </p:nvPr>
        </p:nvSpPr>
        <p:spPr>
          <a:xfrm>
            <a:off x="450885" y="10177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describes the total system transient energy for the post disturbance system.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data obtained from PMU the TEF is calculated using.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885" y="1978812"/>
            <a:ext cx="5767350" cy="195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>
            <a:spLocks noGrp="1"/>
          </p:cNvSpPr>
          <p:nvPr>
            <p:ph type="title"/>
          </p:nvPr>
        </p:nvSpPr>
        <p:spPr>
          <a:xfrm>
            <a:off x="311700" y="2783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Contribution </a:t>
            </a:r>
            <a:endParaRPr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Google Shape;101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285750" algn="just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of LSTM Based prediction of generator speed and angle to determine the control action.</a:t>
            </a:r>
          </a:p>
          <a:p>
            <a:pPr marL="285750" lvl="0" indent="-285750" algn="just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LSTM will be trained using the data of PMU at different fault condition at different interval of time.</a:t>
            </a:r>
          </a:p>
          <a:p>
            <a:pPr marL="285750" lvl="0" indent="-285750" algn="just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using online LSTM predicts the speed and angle of each generator and provides us the required control action to 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taken.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</a:t>
            </a:r>
            <a:endParaRPr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4" name="Google Shape;114;p22" title="grap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937" y="1017725"/>
            <a:ext cx="3610900" cy="369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Schedule</a:t>
            </a:r>
            <a:endParaRPr sz="24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290B17F7-8989-6FD5-D511-9170C0BFB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6085" y="268133"/>
            <a:ext cx="4800600" cy="448949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Google Shape;126;p24"/>
          <p:cNvSpPr txBox="1">
            <a:spLocks noGrp="1"/>
          </p:cNvSpPr>
          <p:nvPr>
            <p:ph type="body" idx="1"/>
          </p:nvPr>
        </p:nvSpPr>
        <p:spPr>
          <a:xfrm>
            <a:off x="462954" y="1152474"/>
            <a:ext cx="8369346" cy="38634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B050"/>
                </a:solidFill>
              </a:rPr>
              <a:t>[1] P. Bhui and N. Senroy, "Real Time Prediction and Control of Transient Stability Using Transient Energy Function," IEEE Trans. Power Syst., doi: 10.1109/TPWRS.2016.2564444.</a:t>
            </a:r>
            <a:endParaRPr dirty="0">
              <a:solidFill>
                <a:srgbClr val="00B05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rgbClr val="00B05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B050"/>
                </a:solidFill>
              </a:rPr>
              <a:t>[2] F. Silva-Rodriguez, H. Raffoul, and Y. Li, “LSTM-Based Net Load Forecasting for Wind and Solar Power-Equipped Microgrids,” in Proceedings of the 2024 IEEE Power &amp; Energy Society General Meeting (PESGM), Seattle, WA, USA, Jul. 2024, pp. 1–6. doi: 10.1109/PESGM56776.2024.1234567.</a:t>
            </a:r>
            <a:endParaRPr dirty="0">
              <a:solidFill>
                <a:srgbClr val="00B05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rgbClr val="00B05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B050"/>
                </a:solidFill>
              </a:rPr>
              <a:t>[3] G. Van Houdt, C. Mosquera, G. Nápoles, “A review on the long short term memory model,” Artificial Intelligence Review, vol. 53, pp. 5929 5955, 2020.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rgbClr val="00B050"/>
              </a:solidFill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rgbClr val="00B050"/>
                </a:solidFill>
              </a:rPr>
              <a:t>[4] H. D. Chiang, F. Wu and P. </a:t>
            </a:r>
            <a:r>
              <a:rPr lang="en-US" dirty="0" err="1">
                <a:solidFill>
                  <a:srgbClr val="00B050"/>
                </a:solidFill>
              </a:rPr>
              <a:t>Varaiya</a:t>
            </a:r>
            <a:r>
              <a:rPr lang="en-US" dirty="0">
                <a:solidFill>
                  <a:srgbClr val="00B050"/>
                </a:solidFill>
              </a:rPr>
              <a:t>, “A BCU method for direct analysis of power system transient stability,” IEEE Trans. Power Syst., vol. 9, pp. 1194–1208, Aug. 1994.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</TotalTime>
  <Words>664</Words>
  <Application>Microsoft Office PowerPoint</Application>
  <PresentationFormat>On-screen Show (16:9)</PresentationFormat>
  <Paragraphs>68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Times New Roman</vt:lpstr>
      <vt:lpstr>Wingdings</vt:lpstr>
      <vt:lpstr>Simple Light</vt:lpstr>
      <vt:lpstr>LSTM-BASED APPROACH FOR GENERATOR STATE PREDICTION IN TRANSIENT STABILITY ASSESSMENT AND CONTROL USING TRANSIENT ENERGY FUNCTION </vt:lpstr>
      <vt:lpstr>Introduction</vt:lpstr>
      <vt:lpstr>Objectives</vt:lpstr>
      <vt:lpstr>IEEE-9 BUS SYSTEM</vt:lpstr>
      <vt:lpstr>METHODOLOGY</vt:lpstr>
      <vt:lpstr>a) MOD identification for different fault location</vt:lpstr>
      <vt:lpstr>Online Phase: Computation Using PMU Data</vt:lpstr>
      <vt:lpstr>PowerPoint Presentation</vt:lpstr>
      <vt:lpstr>Transient Energy Function(TEF)</vt:lpstr>
      <vt:lpstr>Our Contribution </vt:lpstr>
      <vt:lpstr>Expected Result</vt:lpstr>
      <vt:lpstr>Schedule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LSTM-BASED APPROACH FOR HIGH-FIDELITY GENERATOR STATE PREDICTION IN TRANSIENT STABILITY ASSESSMENT AND CONTROL USING TRANSIENT ENERGY FUNCTION</dc:title>
  <dc:creator>Acer</dc:creator>
  <cp:lastModifiedBy>chandan sah</cp:lastModifiedBy>
  <cp:revision>22</cp:revision>
  <dcterms:modified xsi:type="dcterms:W3CDTF">2025-06-23T14:44:11Z</dcterms:modified>
</cp:coreProperties>
</file>