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Open Sans" panose="020B0604020202020204" charset="0"/>
      <p:regular r:id="rId33"/>
      <p:bold r:id="rId34"/>
      <p:italic r:id="rId35"/>
      <p:boldItalic r:id="rId36"/>
    </p:embeddedFont>
    <p:embeddedFont>
      <p:font typeface="PT Sans Narrow" panose="020B0604020202020204" charset="0"/>
      <p:regular r:id="rId37"/>
      <p:bold r:id="rId38"/>
    </p:embeddedFont>
    <p:embeddedFont>
      <p:font typeface="Roboto"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67d8daad4f_21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67d8daad4f_21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67f133234c_6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67f133234c_6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67d8daad4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67d8daad4f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67d8daad4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67d8daad4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67d8daad4f_3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67d8daad4f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67d8daad4f_2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67d8daad4f_2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67f133234c_6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67f133234c_6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67f45cb543_4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67f45cb543_4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7f133234c_6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67f133234c_6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67d8daad4f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67d8daad4f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67f45cb543_4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67f45cb543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67f133234c_6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67f133234c_6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67d8daad4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67d8daad4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67d8daad4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67d8daad4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67d8daad4f_6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67d8daad4f_6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67d8daad4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67d8daad4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7f45cb543_5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67f45cb543_5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67d8daad4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67d8daad4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67d8daad4f_2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67d8daad4f_2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67d8daad4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67d8daad4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7d8daad4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7d8daad4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67d8daad4f_6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67d8daad4f_6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7d8daad4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67d8daad4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67f45cb54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67f45cb54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67d8daad4f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67d8daad4f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67f45cb543_5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67f45cb543_5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67f45cb543_1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67f45cb543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7f45cb543_5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7f45cb543_5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67f45cb543_5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67f45cb543_5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1500">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311700" y="0"/>
            <a:ext cx="8520600" cy="698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700">
                <a:solidFill>
                  <a:srgbClr val="FF0000"/>
                </a:solidFill>
              </a:rPr>
              <a:t>Power Plant Study Visit – Upper Tamakoshi Hydropower</a:t>
            </a:r>
            <a:endParaRPr sz="2700">
              <a:solidFill>
                <a:srgbClr val="FF0000"/>
              </a:solidFill>
            </a:endParaRPr>
          </a:p>
        </p:txBody>
      </p:sp>
      <p:sp>
        <p:nvSpPr>
          <p:cNvPr id="67" name="Google Shape;67;p13"/>
          <p:cNvSpPr txBox="1">
            <a:spLocks noGrp="1"/>
          </p:cNvSpPr>
          <p:nvPr>
            <p:ph type="subTitle" idx="1"/>
          </p:nvPr>
        </p:nvSpPr>
        <p:spPr>
          <a:xfrm>
            <a:off x="144650" y="743725"/>
            <a:ext cx="8255100" cy="4278300"/>
          </a:xfrm>
          <a:prstGeom prst="rect">
            <a:avLst/>
          </a:prstGeom>
        </p:spPr>
        <p:txBody>
          <a:bodyPr spcFirstLastPara="1" wrap="square" lIns="91425" tIns="91425" rIns="91425" bIns="91425" anchor="t" anchorCtr="0">
            <a:noAutofit/>
          </a:bodyPr>
          <a:lstStyle/>
          <a:p>
            <a:pPr marL="0" lvl="0" indent="0" algn="ctr" rtl="0">
              <a:lnSpc>
                <a:spcPct val="70000"/>
              </a:lnSpc>
              <a:spcBef>
                <a:spcPts val="1000"/>
              </a:spcBef>
              <a:spcAft>
                <a:spcPts val="0"/>
              </a:spcAft>
              <a:buClr>
                <a:schemeClr val="dk1"/>
              </a:buClr>
              <a:buSzPts val="275"/>
              <a:buFont typeface="Arial"/>
              <a:buNone/>
            </a:pPr>
            <a:r>
              <a:rPr lang="en" sz="1200" dirty="0">
                <a:solidFill>
                  <a:schemeClr val="accent5"/>
                </a:solidFill>
              </a:rPr>
              <a:t>                                                                     </a:t>
            </a:r>
            <a:r>
              <a:rPr lang="en" sz="900" dirty="0">
                <a:solidFill>
                  <a:schemeClr val="accent5"/>
                </a:solidFill>
              </a:rPr>
              <a:t> </a:t>
            </a:r>
            <a:r>
              <a:rPr lang="en" sz="1500" dirty="0">
                <a:solidFill>
                  <a:schemeClr val="accent5"/>
                </a:solidFill>
              </a:rPr>
              <a:t> </a:t>
            </a:r>
            <a:endParaRPr sz="1500" dirty="0">
              <a:solidFill>
                <a:schemeClr val="accent5"/>
              </a:solidFill>
            </a:endParaRPr>
          </a:p>
          <a:p>
            <a:pPr marL="0" lvl="0" indent="0" algn="ctr" rtl="0">
              <a:lnSpc>
                <a:spcPct val="70000"/>
              </a:lnSpc>
              <a:spcBef>
                <a:spcPts val="1000"/>
              </a:spcBef>
              <a:spcAft>
                <a:spcPts val="0"/>
              </a:spcAft>
              <a:buClr>
                <a:schemeClr val="dk1"/>
              </a:buClr>
              <a:buSzPts val="275"/>
              <a:buFont typeface="Arial"/>
              <a:buNone/>
            </a:pPr>
            <a:r>
              <a:rPr lang="en" sz="1500" b="1" dirty="0">
                <a:solidFill>
                  <a:schemeClr val="accent5"/>
                </a:solidFill>
              </a:rPr>
              <a:t>Presented By:</a:t>
            </a:r>
            <a:endParaRPr sz="15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Bhupesh Jaishi (078BEL026)</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Binod Kumar Sah (078BEL030)</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Bishal Chaurasiya (078BEL031)</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Chandan Sah (078BEL032)</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Chandan Chaurasiya (078BEL033)</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Deepak Yadav (078BEL036)</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Divyanshu Mishra (078BEL039)</a:t>
            </a:r>
            <a:endParaRPr sz="1100" b="1" dirty="0">
              <a:solidFill>
                <a:schemeClr val="accent5"/>
              </a:solidFill>
            </a:endParaRPr>
          </a:p>
          <a:p>
            <a:pPr marL="0" lvl="0" indent="0" algn="ctr" rtl="0">
              <a:lnSpc>
                <a:spcPct val="70000"/>
              </a:lnSpc>
              <a:spcBef>
                <a:spcPts val="1000"/>
              </a:spcBef>
              <a:spcAft>
                <a:spcPts val="0"/>
              </a:spcAft>
              <a:buNone/>
            </a:pPr>
            <a:r>
              <a:rPr lang="en" sz="1100" b="1" dirty="0">
                <a:solidFill>
                  <a:schemeClr val="accent5"/>
                </a:solidFill>
              </a:rPr>
              <a:t>Kartik Kumar Sah (078BEL046)</a:t>
            </a:r>
            <a:endParaRPr sz="1100" b="1" dirty="0">
              <a:solidFill>
                <a:schemeClr val="accent5"/>
              </a:solidFill>
            </a:endParaRPr>
          </a:p>
          <a:p>
            <a:pPr marL="0" lvl="0" indent="0" algn="ctr" rtl="0">
              <a:lnSpc>
                <a:spcPct val="70000"/>
              </a:lnSpc>
              <a:spcBef>
                <a:spcPts val="1000"/>
              </a:spcBef>
              <a:spcAft>
                <a:spcPts val="0"/>
              </a:spcAft>
              <a:buClr>
                <a:schemeClr val="dk1"/>
              </a:buClr>
              <a:buSzPts val="275"/>
              <a:buFont typeface="Arial"/>
              <a:buNone/>
            </a:pPr>
            <a:endParaRPr sz="900" dirty="0">
              <a:solidFill>
                <a:schemeClr val="accent5"/>
              </a:solidFill>
            </a:endParaRPr>
          </a:p>
          <a:p>
            <a:pPr marL="0" lvl="0" indent="0" algn="ctr" rtl="0">
              <a:lnSpc>
                <a:spcPct val="70000"/>
              </a:lnSpc>
              <a:spcBef>
                <a:spcPts val="1000"/>
              </a:spcBef>
              <a:spcAft>
                <a:spcPts val="0"/>
              </a:spcAft>
              <a:buClr>
                <a:schemeClr val="dk1"/>
              </a:buClr>
              <a:buSzPts val="275"/>
              <a:buFont typeface="Arial"/>
              <a:buNone/>
            </a:pPr>
            <a:r>
              <a:rPr lang="en" sz="1200" dirty="0">
                <a:solidFill>
                  <a:schemeClr val="accent5"/>
                </a:solidFill>
              </a:rPr>
              <a:t>                          </a:t>
            </a:r>
            <a:r>
              <a:rPr lang="en" sz="1200" b="1" dirty="0">
                <a:solidFill>
                  <a:schemeClr val="accent5"/>
                </a:solidFill>
              </a:rPr>
              <a:t>  </a:t>
            </a:r>
            <a:r>
              <a:rPr lang="en" sz="1800" b="1" dirty="0">
                <a:solidFill>
                  <a:schemeClr val="accent5"/>
                </a:solidFill>
              </a:rPr>
              <a:t>Department of Electrical Engineering, IOE Pulchowk Campus </a:t>
            </a:r>
          </a:p>
          <a:p>
            <a:pPr marL="0" lvl="0" indent="0" algn="ctr" rtl="0">
              <a:lnSpc>
                <a:spcPct val="70000"/>
              </a:lnSpc>
              <a:spcBef>
                <a:spcPts val="1000"/>
              </a:spcBef>
              <a:spcAft>
                <a:spcPts val="0"/>
              </a:spcAft>
              <a:buClr>
                <a:schemeClr val="dk1"/>
              </a:buClr>
              <a:buSzPts val="275"/>
              <a:buFont typeface="Arial"/>
              <a:buNone/>
            </a:pPr>
            <a:endParaRPr lang="en" sz="1800" b="1" dirty="0">
              <a:solidFill>
                <a:schemeClr val="accent5"/>
              </a:solidFill>
            </a:endParaRPr>
          </a:p>
          <a:p>
            <a:pPr marL="0" lvl="0" indent="0" algn="ctr" rtl="0">
              <a:lnSpc>
                <a:spcPct val="70000"/>
              </a:lnSpc>
              <a:spcBef>
                <a:spcPts val="1000"/>
              </a:spcBef>
              <a:spcAft>
                <a:spcPts val="0"/>
              </a:spcAft>
              <a:buClr>
                <a:schemeClr val="dk1"/>
              </a:buClr>
              <a:buSzPts val="275"/>
              <a:buFont typeface="Arial"/>
              <a:buNone/>
            </a:pPr>
            <a:r>
              <a:rPr lang="en" sz="1800" dirty="0">
                <a:solidFill>
                  <a:schemeClr val="accent5"/>
                </a:solidFill>
              </a:rPr>
              <a:t>2025/06/13</a:t>
            </a:r>
            <a:endParaRPr sz="1800" dirty="0">
              <a:solidFill>
                <a:schemeClr val="accent5"/>
              </a:solidFill>
            </a:endParaRPr>
          </a:p>
          <a:p>
            <a:pPr marL="0" lvl="0" indent="0" algn="ctr" rtl="0">
              <a:lnSpc>
                <a:spcPct val="80000"/>
              </a:lnSpc>
              <a:spcBef>
                <a:spcPts val="0"/>
              </a:spcBef>
              <a:spcAft>
                <a:spcPts val="0"/>
              </a:spcAft>
              <a:buSzPts val="275"/>
              <a:buNone/>
            </a:pPr>
            <a:endParaRPr sz="700" dirty="0">
              <a:solidFill>
                <a:schemeClr val="accent5"/>
              </a:solidFill>
            </a:endParaRPr>
          </a:p>
        </p:txBody>
      </p:sp>
      <p:pic>
        <p:nvPicPr>
          <p:cNvPr id="68" name="Google Shape;68;p13" title="images.jpeg"/>
          <p:cNvPicPr preferRelativeResize="0"/>
          <p:nvPr/>
        </p:nvPicPr>
        <p:blipFill>
          <a:blip r:embed="rId3">
            <a:alphaModFix/>
          </a:blip>
          <a:stretch>
            <a:fillRect/>
          </a:stretch>
        </p:blipFill>
        <p:spPr>
          <a:xfrm>
            <a:off x="6479788" y="1397388"/>
            <a:ext cx="1724025" cy="1724025"/>
          </a:xfrm>
          <a:prstGeom prst="rect">
            <a:avLst/>
          </a:prstGeom>
          <a:noFill/>
          <a:ln>
            <a:noFill/>
          </a:ln>
        </p:spPr>
      </p:pic>
      <p:pic>
        <p:nvPicPr>
          <p:cNvPr id="69" name="Google Shape;69;p13" title="images (1).jpeg"/>
          <p:cNvPicPr preferRelativeResize="0"/>
          <p:nvPr/>
        </p:nvPicPr>
        <p:blipFill>
          <a:blip r:embed="rId4">
            <a:alphaModFix/>
          </a:blip>
          <a:stretch>
            <a:fillRect/>
          </a:stretch>
        </p:blipFill>
        <p:spPr>
          <a:xfrm>
            <a:off x="995800" y="1397400"/>
            <a:ext cx="1724025" cy="1724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4" title="Upper_Tamakosi_dam_site.width-1024.jpg"/>
          <p:cNvPicPr preferRelativeResize="0"/>
          <p:nvPr/>
        </p:nvPicPr>
        <p:blipFill rotWithShape="1">
          <a:blip r:embed="rId3">
            <a:alphaModFix/>
          </a:blip>
          <a:srcRect t="8820" b="-8819"/>
          <a:stretch/>
        </p:blipFill>
        <p:spPr>
          <a:xfrm>
            <a:off x="276650" y="694400"/>
            <a:ext cx="8543949" cy="4624225"/>
          </a:xfrm>
          <a:prstGeom prst="rect">
            <a:avLst/>
          </a:prstGeom>
          <a:noFill/>
          <a:ln>
            <a:noFill/>
          </a:ln>
        </p:spPr>
      </p:pic>
      <p:sp>
        <p:nvSpPr>
          <p:cNvPr id="75" name="Google Shape;75;p14"/>
          <p:cNvSpPr txBox="1">
            <a:spLocks noGrp="1"/>
          </p:cNvSpPr>
          <p:nvPr>
            <p:ph type="title"/>
          </p:nvPr>
        </p:nvSpPr>
        <p:spPr>
          <a:xfrm>
            <a:off x="288313" y="2275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Upper Tamakoshi Hydropower plant: 456 MW</a:t>
            </a:r>
            <a:endParaRPr/>
          </a:p>
        </p:txBody>
      </p:sp>
      <p:sp>
        <p:nvSpPr>
          <p:cNvPr id="76" name="Google Shape;76;p14"/>
          <p:cNvSpPr txBox="1">
            <a:spLocks noGrp="1"/>
          </p:cNvSpPr>
          <p:nvPr>
            <p:ph type="body" idx="1"/>
          </p:nvPr>
        </p:nvSpPr>
        <p:spPr>
          <a:xfrm>
            <a:off x="311700" y="575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 </a:t>
            </a:r>
            <a:endParaRPr/>
          </a:p>
          <a:p>
            <a:pPr marL="0" lvl="0" indent="0" algn="l" rtl="0">
              <a:spcBef>
                <a:spcPts val="0"/>
              </a:spcBef>
              <a:spcAft>
                <a:spcPts val="0"/>
              </a:spcAft>
              <a:buNone/>
            </a:pPr>
            <a:endParaRPr/>
          </a:p>
        </p:txBody>
      </p:sp>
      <p:sp>
        <p:nvSpPr>
          <p:cNvPr id="82" name="Google Shape;82;p15"/>
          <p:cNvSpPr txBox="1">
            <a:spLocks noGrp="1"/>
          </p:cNvSpPr>
          <p:nvPr>
            <p:ph type="body" idx="1"/>
          </p:nvPr>
        </p:nvSpPr>
        <p:spPr>
          <a:xfrm>
            <a:off x="311700" y="13728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Type</a:t>
            </a:r>
            <a:r>
              <a:rPr lang="en"/>
              <a:t>: Peaking Run-off River</a:t>
            </a:r>
            <a:endParaRPr/>
          </a:p>
          <a:p>
            <a:pPr marL="0" lvl="0" indent="0" algn="l" rtl="0">
              <a:spcBef>
                <a:spcPts val="1200"/>
              </a:spcBef>
              <a:spcAft>
                <a:spcPts val="0"/>
              </a:spcAft>
              <a:buNone/>
            </a:pPr>
            <a:r>
              <a:rPr lang="en" b="1"/>
              <a:t>Installed Capacity</a:t>
            </a:r>
            <a:r>
              <a:rPr lang="en"/>
              <a:t>: 456 MW (6 units with 76 MW each)</a:t>
            </a:r>
            <a:endParaRPr/>
          </a:p>
          <a:p>
            <a:pPr marL="0" lvl="0" indent="0" algn="l" rtl="0">
              <a:spcBef>
                <a:spcPts val="1200"/>
              </a:spcBef>
              <a:spcAft>
                <a:spcPts val="0"/>
              </a:spcAft>
              <a:buNone/>
            </a:pPr>
            <a:r>
              <a:rPr lang="en" b="1"/>
              <a:t>Average annual energy after outage</a:t>
            </a:r>
            <a:r>
              <a:rPr lang="en"/>
              <a:t>: 2281 GWh</a:t>
            </a:r>
            <a:endParaRPr/>
          </a:p>
          <a:p>
            <a:pPr marL="0" lvl="0" indent="0" algn="l" rtl="0">
              <a:spcBef>
                <a:spcPts val="1200"/>
              </a:spcBef>
              <a:spcAft>
                <a:spcPts val="0"/>
              </a:spcAft>
              <a:buNone/>
            </a:pPr>
            <a:r>
              <a:rPr lang="en" b="1"/>
              <a:t>Transmission line</a:t>
            </a:r>
            <a:r>
              <a:rPr lang="en"/>
              <a:t>: (11/230KV) From Power house (Gongar) to New Khimti Substation. </a:t>
            </a:r>
            <a:endParaRPr/>
          </a:p>
          <a:p>
            <a:pPr marL="0" lvl="0" indent="0" algn="l" rtl="0">
              <a:spcBef>
                <a:spcPts val="1200"/>
              </a:spcBef>
              <a:spcAft>
                <a:spcPts val="0"/>
              </a:spcAft>
              <a:buNone/>
            </a:pPr>
            <a:r>
              <a:rPr lang="en" b="1"/>
              <a:t>Construction Period</a:t>
            </a:r>
            <a:r>
              <a:rPr lang="en"/>
              <a:t>: 8 Years</a:t>
            </a:r>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62100"/>
            <a:ext cx="8520600" cy="63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860"/>
              <a:t>Overall Plant Overview</a:t>
            </a:r>
            <a:endParaRPr sz="1420"/>
          </a:p>
        </p:txBody>
      </p:sp>
      <p:pic>
        <p:nvPicPr>
          <p:cNvPr id="88" name="Google Shape;88;p16"/>
          <p:cNvPicPr preferRelativeResize="0"/>
          <p:nvPr/>
        </p:nvPicPr>
        <p:blipFill rotWithShape="1">
          <a:blip r:embed="rId3">
            <a:alphaModFix/>
          </a:blip>
          <a:srcRect t="5110" b="-5110"/>
          <a:stretch/>
        </p:blipFill>
        <p:spPr>
          <a:xfrm>
            <a:off x="0" y="0"/>
            <a:ext cx="9255951" cy="5340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1600"/>
                                        <p:tgtEl>
                                          <p:spTgt spid="88"/>
                                        </p:tgtEl>
                                        <p:attrNameLst>
                                          <p:attrName>ppt_w</p:attrName>
                                        </p:attrNameLst>
                                      </p:cBhvr>
                                      <p:tavLst>
                                        <p:tav tm="0">
                                          <p:val>
                                            <p:strVal val="0"/>
                                          </p:val>
                                        </p:tav>
                                        <p:tav tm="100000">
                                          <p:val>
                                            <p:strVal val="#ppt_w"/>
                                          </p:val>
                                        </p:tav>
                                      </p:tavLst>
                                    </p:anim>
                                    <p:anim calcmode="lin" valueType="num">
                                      <p:cBhvr additive="base">
                                        <p:cTn id="8" dur="1600"/>
                                        <p:tgtEl>
                                          <p:spTgt spid="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159150"/>
            <a:ext cx="8520600" cy="5532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Reservoir and Dam Details:</a:t>
            </a:r>
            <a:endParaRPr/>
          </a:p>
        </p:txBody>
      </p:sp>
      <p:pic>
        <p:nvPicPr>
          <p:cNvPr id="94" name="Google Shape;94;p17"/>
          <p:cNvPicPr preferRelativeResize="0"/>
          <p:nvPr/>
        </p:nvPicPr>
        <p:blipFill>
          <a:blip r:embed="rId3">
            <a:alphaModFix/>
          </a:blip>
          <a:stretch>
            <a:fillRect/>
          </a:stretch>
        </p:blipFill>
        <p:spPr>
          <a:xfrm>
            <a:off x="152400" y="773724"/>
            <a:ext cx="8839200" cy="413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89850" y="140250"/>
            <a:ext cx="8520600" cy="55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Reservoir Details:</a:t>
            </a:r>
            <a:endParaRPr/>
          </a:p>
        </p:txBody>
      </p:sp>
      <p:sp>
        <p:nvSpPr>
          <p:cNvPr id="100" name="Google Shape;100;p18"/>
          <p:cNvSpPr txBox="1">
            <a:spLocks noGrp="1"/>
          </p:cNvSpPr>
          <p:nvPr>
            <p:ph type="body" idx="1"/>
          </p:nvPr>
        </p:nvSpPr>
        <p:spPr>
          <a:xfrm>
            <a:off x="-416600" y="759325"/>
            <a:ext cx="4877100" cy="4158000"/>
          </a:xfrm>
          <a:prstGeom prst="rect">
            <a:avLst/>
          </a:prstGeom>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0"/>
              </a:spcAft>
              <a:buNone/>
            </a:pPr>
            <a:endParaRPr b="1">
              <a:solidFill>
                <a:srgbClr val="000000"/>
              </a:solidFill>
            </a:endParaRPr>
          </a:p>
          <a:p>
            <a:pPr marL="0" lvl="0" indent="457200" algn="l" rtl="0">
              <a:lnSpc>
                <a:spcPct val="115000"/>
              </a:lnSpc>
              <a:spcBef>
                <a:spcPts val="0"/>
              </a:spcBef>
              <a:spcAft>
                <a:spcPts val="0"/>
              </a:spcAft>
              <a:buNone/>
            </a:pPr>
            <a:r>
              <a:rPr lang="en" sz="1400" b="1">
                <a:solidFill>
                  <a:srgbClr val="000000"/>
                </a:solidFill>
              </a:rPr>
              <a:t>Type:</a:t>
            </a:r>
            <a:r>
              <a:rPr lang="en" sz="1400">
                <a:solidFill>
                  <a:srgbClr val="000000"/>
                </a:solidFill>
              </a:rPr>
              <a:t> Run-of-river with a small daily-peaking live </a:t>
            </a:r>
            <a:endParaRPr sz="1400">
              <a:solidFill>
                <a:srgbClr val="000000"/>
              </a:solidFill>
            </a:endParaRPr>
          </a:p>
          <a:p>
            <a:pPr marL="457200" lvl="0" indent="0" algn="l" rtl="0">
              <a:lnSpc>
                <a:spcPct val="115000"/>
              </a:lnSpc>
              <a:spcBef>
                <a:spcPts val="0"/>
              </a:spcBef>
              <a:spcAft>
                <a:spcPts val="0"/>
              </a:spcAft>
              <a:buNone/>
            </a:pPr>
            <a:r>
              <a:rPr lang="en" sz="1400">
                <a:solidFill>
                  <a:srgbClr val="000000"/>
                </a:solidFill>
              </a:rPr>
              <a:t>storage  (pondage).</a:t>
            </a:r>
            <a:br>
              <a:rPr lang="en" sz="1400">
                <a:solidFill>
                  <a:srgbClr val="000000"/>
                </a:solidFill>
              </a:rPr>
            </a:br>
            <a:endParaRPr sz="1400">
              <a:solidFill>
                <a:srgbClr val="000000"/>
              </a:solidFill>
            </a:endParaRPr>
          </a:p>
          <a:p>
            <a:pPr marL="457200" lvl="0" indent="0" algn="l" rtl="0">
              <a:lnSpc>
                <a:spcPct val="115000"/>
              </a:lnSpc>
              <a:spcBef>
                <a:spcPts val="0"/>
              </a:spcBef>
              <a:spcAft>
                <a:spcPts val="0"/>
              </a:spcAft>
              <a:buNone/>
            </a:pPr>
            <a:r>
              <a:rPr lang="en" sz="1400" b="1">
                <a:solidFill>
                  <a:srgbClr val="000000"/>
                </a:solidFill>
              </a:rPr>
              <a:t>Live Storage Capacity:</a:t>
            </a:r>
            <a:r>
              <a:rPr lang="en" sz="1400">
                <a:solidFill>
                  <a:srgbClr val="000000"/>
                </a:solidFill>
              </a:rPr>
              <a:t> 1.2 million cubic meter.</a:t>
            </a:r>
            <a:br>
              <a:rPr lang="en" sz="1400">
                <a:solidFill>
                  <a:srgbClr val="000000"/>
                </a:solidFill>
              </a:rPr>
            </a:br>
            <a:endParaRPr sz="1400">
              <a:solidFill>
                <a:srgbClr val="000000"/>
              </a:solidFill>
            </a:endParaRPr>
          </a:p>
          <a:p>
            <a:pPr marL="457200" lvl="0" indent="0" algn="l" rtl="0">
              <a:lnSpc>
                <a:spcPct val="115000"/>
              </a:lnSpc>
              <a:spcBef>
                <a:spcPts val="0"/>
              </a:spcBef>
              <a:spcAft>
                <a:spcPts val="0"/>
              </a:spcAft>
              <a:buNone/>
            </a:pPr>
            <a:r>
              <a:rPr lang="en" sz="1400" b="1">
                <a:solidFill>
                  <a:srgbClr val="000000"/>
                </a:solidFill>
              </a:rPr>
              <a:t>Dam Dimensions:</a:t>
            </a:r>
            <a:r>
              <a:rPr lang="en" sz="1400">
                <a:solidFill>
                  <a:srgbClr val="000000"/>
                </a:solidFill>
              </a:rPr>
              <a:t> 22 m high × 60 m long concrete </a:t>
            </a:r>
            <a:endParaRPr sz="1400">
              <a:solidFill>
                <a:srgbClr val="000000"/>
              </a:solidFill>
            </a:endParaRPr>
          </a:p>
          <a:p>
            <a:pPr marL="457200" lvl="0" indent="0" algn="l" rtl="0">
              <a:lnSpc>
                <a:spcPct val="115000"/>
              </a:lnSpc>
              <a:spcBef>
                <a:spcPts val="0"/>
              </a:spcBef>
              <a:spcAft>
                <a:spcPts val="0"/>
              </a:spcAft>
              <a:buNone/>
            </a:pPr>
            <a:r>
              <a:rPr lang="en" sz="1400">
                <a:solidFill>
                  <a:srgbClr val="000000"/>
                </a:solidFill>
              </a:rPr>
              <a:t>diversion dam</a:t>
            </a:r>
            <a:br>
              <a:rPr lang="en" sz="1400">
                <a:solidFill>
                  <a:srgbClr val="000000"/>
                </a:solidFill>
              </a:rPr>
            </a:br>
            <a:endParaRPr sz="1400">
              <a:solidFill>
                <a:srgbClr val="000000"/>
              </a:solidFill>
            </a:endParaRPr>
          </a:p>
          <a:p>
            <a:pPr marL="457200" lvl="0" indent="0" algn="l" rtl="0">
              <a:lnSpc>
                <a:spcPct val="115000"/>
              </a:lnSpc>
              <a:spcBef>
                <a:spcPts val="0"/>
              </a:spcBef>
              <a:spcAft>
                <a:spcPts val="0"/>
              </a:spcAft>
              <a:buNone/>
            </a:pPr>
            <a:r>
              <a:rPr lang="en" sz="1400" b="1">
                <a:solidFill>
                  <a:srgbClr val="000000"/>
                </a:solidFill>
              </a:rPr>
              <a:t>Gross Hydraulic Head:</a:t>
            </a:r>
            <a:r>
              <a:rPr lang="en" sz="1400">
                <a:solidFill>
                  <a:srgbClr val="000000"/>
                </a:solidFill>
              </a:rPr>
              <a:t> Approximately 822 m</a:t>
            </a:r>
            <a:br>
              <a:rPr lang="en" sz="1400">
                <a:solidFill>
                  <a:srgbClr val="000000"/>
                </a:solidFill>
              </a:rPr>
            </a:br>
            <a:endParaRPr sz="1400">
              <a:solidFill>
                <a:srgbClr val="000000"/>
              </a:solidFill>
            </a:endParaRPr>
          </a:p>
          <a:p>
            <a:pPr marL="457200" lvl="0" indent="0" algn="l" rtl="0">
              <a:lnSpc>
                <a:spcPct val="115000"/>
              </a:lnSpc>
              <a:spcBef>
                <a:spcPts val="0"/>
              </a:spcBef>
              <a:spcAft>
                <a:spcPts val="0"/>
              </a:spcAft>
              <a:buNone/>
            </a:pPr>
            <a:r>
              <a:rPr lang="en" sz="1400" b="1">
                <a:solidFill>
                  <a:srgbClr val="000000"/>
                </a:solidFill>
              </a:rPr>
              <a:t>Design Discharge:</a:t>
            </a:r>
            <a:r>
              <a:rPr lang="en" sz="1400">
                <a:solidFill>
                  <a:srgbClr val="000000"/>
                </a:solidFill>
              </a:rPr>
              <a:t> 66 m³/s</a:t>
            </a:r>
            <a:endParaRPr sz="1400">
              <a:solidFill>
                <a:srgbClr val="000000"/>
              </a:solidFill>
            </a:endParaRPr>
          </a:p>
          <a:p>
            <a:pPr marL="457200" lvl="0" indent="0" algn="l" rtl="0">
              <a:lnSpc>
                <a:spcPct val="115000"/>
              </a:lnSpc>
              <a:spcBef>
                <a:spcPts val="0"/>
              </a:spcBef>
              <a:spcAft>
                <a:spcPts val="0"/>
              </a:spcAft>
              <a:buNone/>
            </a:pPr>
            <a:endParaRPr sz="1400">
              <a:solidFill>
                <a:srgbClr val="000000"/>
              </a:solidFill>
            </a:endParaRPr>
          </a:p>
          <a:p>
            <a:pPr marL="457200" lvl="0" indent="0" algn="l" rtl="0">
              <a:lnSpc>
                <a:spcPct val="115000"/>
              </a:lnSpc>
              <a:spcBef>
                <a:spcPts val="0"/>
              </a:spcBef>
              <a:spcAft>
                <a:spcPts val="0"/>
              </a:spcAft>
              <a:buNone/>
            </a:pPr>
            <a:r>
              <a:rPr lang="en" sz="1400" b="1">
                <a:solidFill>
                  <a:srgbClr val="000000"/>
                </a:solidFill>
              </a:rPr>
              <a:t>Riparian Release:</a:t>
            </a:r>
            <a:r>
              <a:rPr lang="en" sz="1400">
                <a:solidFill>
                  <a:srgbClr val="000000"/>
                </a:solidFill>
              </a:rPr>
              <a:t> 1.45 </a:t>
            </a:r>
            <a:r>
              <a:rPr lang="en" sz="1500">
                <a:solidFill>
                  <a:srgbClr val="000000"/>
                </a:solidFill>
                <a:latin typeface="Arial"/>
                <a:ea typeface="Arial"/>
                <a:cs typeface="Arial"/>
                <a:sym typeface="Arial"/>
              </a:rPr>
              <a:t>m</a:t>
            </a:r>
            <a:r>
              <a:rPr lang="en" sz="1500" baseline="30000">
                <a:solidFill>
                  <a:srgbClr val="000000"/>
                </a:solidFill>
                <a:latin typeface="Arial"/>
                <a:ea typeface="Arial"/>
                <a:cs typeface="Arial"/>
                <a:sym typeface="Arial"/>
              </a:rPr>
              <a:t>3 </a:t>
            </a:r>
            <a:r>
              <a:rPr lang="en" sz="1500">
                <a:solidFill>
                  <a:srgbClr val="000000"/>
                </a:solidFill>
                <a:latin typeface="Arial"/>
                <a:ea typeface="Arial"/>
                <a:cs typeface="Arial"/>
                <a:sym typeface="Arial"/>
              </a:rPr>
              <a:t>/s </a:t>
            </a:r>
            <a:endParaRPr sz="1500">
              <a:solidFill>
                <a:srgbClr val="000000"/>
              </a:solidFill>
              <a:latin typeface="Arial"/>
              <a:ea typeface="Arial"/>
              <a:cs typeface="Arial"/>
              <a:sym typeface="Arial"/>
            </a:endParaRPr>
          </a:p>
          <a:p>
            <a:pPr marL="457200" lvl="0" indent="0" algn="l" rtl="0">
              <a:lnSpc>
                <a:spcPct val="115000"/>
              </a:lnSpc>
              <a:spcBef>
                <a:spcPts val="0"/>
              </a:spcBef>
              <a:spcAft>
                <a:spcPts val="0"/>
              </a:spcAft>
              <a:buNone/>
            </a:pPr>
            <a:r>
              <a:rPr lang="en" sz="1500">
                <a:solidFill>
                  <a:srgbClr val="000000"/>
                </a:solidFill>
                <a:latin typeface="Arial"/>
                <a:ea typeface="Arial"/>
                <a:cs typeface="Arial"/>
                <a:sym typeface="Arial"/>
              </a:rPr>
              <a:t>(policy to release minimum flow downstream to sustain aquatic ecosystem and support  local water use.)</a:t>
            </a:r>
            <a:endParaRPr sz="1500">
              <a:solidFill>
                <a:srgbClr val="000000"/>
              </a:solidFill>
              <a:latin typeface="Arial"/>
              <a:ea typeface="Arial"/>
              <a:cs typeface="Arial"/>
              <a:sym typeface="Arial"/>
            </a:endParaRPr>
          </a:p>
          <a:p>
            <a:pPr marL="457200" lvl="0" indent="0" algn="l" rtl="0">
              <a:lnSpc>
                <a:spcPct val="115000"/>
              </a:lnSpc>
              <a:spcBef>
                <a:spcPts val="0"/>
              </a:spcBef>
              <a:spcAft>
                <a:spcPts val="0"/>
              </a:spcAft>
              <a:buNone/>
            </a:pPr>
            <a:endParaRPr sz="1400">
              <a:solidFill>
                <a:srgbClr val="000000"/>
              </a:solidFill>
            </a:endParaRPr>
          </a:p>
          <a:p>
            <a:pPr marL="457200" lvl="0" indent="0" algn="l" rtl="0">
              <a:spcBef>
                <a:spcPts val="0"/>
              </a:spcBef>
              <a:spcAft>
                <a:spcPts val="0"/>
              </a:spcAft>
              <a:buNone/>
            </a:pPr>
            <a:endParaRPr sz="1400">
              <a:solidFill>
                <a:srgbClr val="000000"/>
              </a:solidFill>
            </a:endParaRPr>
          </a:p>
        </p:txBody>
      </p:sp>
      <p:pic>
        <p:nvPicPr>
          <p:cNvPr id="101" name="Google Shape;101;p18"/>
          <p:cNvPicPr preferRelativeResize="0"/>
          <p:nvPr/>
        </p:nvPicPr>
        <p:blipFill>
          <a:blip r:embed="rId3">
            <a:alphaModFix/>
          </a:blip>
          <a:stretch>
            <a:fillRect/>
          </a:stretch>
        </p:blipFill>
        <p:spPr>
          <a:xfrm>
            <a:off x="4460500" y="724175"/>
            <a:ext cx="4646323" cy="4157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Dam:</a:t>
            </a:r>
            <a:endParaRPr/>
          </a:p>
        </p:txBody>
      </p:sp>
      <p:sp>
        <p:nvSpPr>
          <p:cNvPr id="107" name="Google Shape;107;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1400" b="1">
                <a:solidFill>
                  <a:srgbClr val="212529"/>
                </a:solidFill>
              </a:rPr>
              <a:t>Type:</a:t>
            </a:r>
            <a:r>
              <a:rPr lang="en" sz="1400">
                <a:solidFill>
                  <a:srgbClr val="212529"/>
                </a:solidFill>
              </a:rPr>
              <a:t> Run‑of‑river concrete diversion dam</a:t>
            </a:r>
            <a:endParaRPr sz="1400">
              <a:solidFill>
                <a:srgbClr val="212529"/>
              </a:solidFill>
            </a:endParaRPr>
          </a:p>
          <a:p>
            <a:pPr marL="0" lvl="0" indent="0" algn="l" rtl="0">
              <a:lnSpc>
                <a:spcPct val="150000"/>
              </a:lnSpc>
              <a:spcBef>
                <a:spcPts val="1200"/>
              </a:spcBef>
              <a:spcAft>
                <a:spcPts val="0"/>
              </a:spcAft>
              <a:buNone/>
            </a:pPr>
            <a:r>
              <a:rPr lang="en" sz="1400" b="1">
                <a:solidFill>
                  <a:srgbClr val="212529"/>
                </a:solidFill>
              </a:rPr>
              <a:t>Height:</a:t>
            </a:r>
            <a:r>
              <a:rPr lang="en" sz="1400">
                <a:solidFill>
                  <a:srgbClr val="212529"/>
                </a:solidFill>
              </a:rPr>
              <a:t> 22 m</a:t>
            </a:r>
            <a:endParaRPr sz="1400">
              <a:solidFill>
                <a:srgbClr val="212529"/>
              </a:solidFill>
            </a:endParaRPr>
          </a:p>
          <a:p>
            <a:pPr marL="0" lvl="0" indent="0" algn="l" rtl="0">
              <a:lnSpc>
                <a:spcPct val="150000"/>
              </a:lnSpc>
              <a:spcBef>
                <a:spcPts val="1200"/>
              </a:spcBef>
              <a:spcAft>
                <a:spcPts val="0"/>
              </a:spcAft>
              <a:buNone/>
            </a:pPr>
            <a:r>
              <a:rPr lang="en" sz="1400" b="1">
                <a:solidFill>
                  <a:srgbClr val="212529"/>
                </a:solidFill>
              </a:rPr>
              <a:t>Length (crest)</a:t>
            </a:r>
            <a:r>
              <a:rPr lang="en" sz="1400">
                <a:solidFill>
                  <a:srgbClr val="212529"/>
                </a:solidFill>
              </a:rPr>
              <a:t>: 60 m</a:t>
            </a:r>
            <a:endParaRPr sz="1400">
              <a:solidFill>
                <a:srgbClr val="212529"/>
              </a:solidFill>
            </a:endParaRPr>
          </a:p>
          <a:p>
            <a:pPr marL="0" lvl="0" indent="0" algn="l" rtl="0">
              <a:lnSpc>
                <a:spcPct val="150000"/>
              </a:lnSpc>
              <a:spcBef>
                <a:spcPts val="1200"/>
              </a:spcBef>
              <a:spcAft>
                <a:spcPts val="0"/>
              </a:spcAft>
              <a:buNone/>
            </a:pPr>
            <a:r>
              <a:rPr lang="en" sz="1400" b="1">
                <a:solidFill>
                  <a:srgbClr val="212529"/>
                </a:solidFill>
              </a:rPr>
              <a:t>Number of Gates: </a:t>
            </a:r>
            <a:r>
              <a:rPr lang="en" sz="1400">
                <a:solidFill>
                  <a:srgbClr val="212529"/>
                </a:solidFill>
              </a:rPr>
              <a:t>4 gated spillway</a:t>
            </a:r>
            <a:endParaRPr sz="1400">
              <a:solidFill>
                <a:srgbClr val="212529"/>
              </a:solidFill>
            </a:endParaRPr>
          </a:p>
          <a:p>
            <a:pPr marL="0" lvl="0" indent="0" algn="l" rtl="0">
              <a:lnSpc>
                <a:spcPct val="150000"/>
              </a:lnSpc>
              <a:spcBef>
                <a:spcPts val="1200"/>
              </a:spcBef>
              <a:spcAft>
                <a:spcPts val="0"/>
              </a:spcAft>
              <a:buNone/>
            </a:pPr>
            <a:r>
              <a:rPr lang="en" sz="1400" b="1">
                <a:solidFill>
                  <a:srgbClr val="212529"/>
                </a:solidFill>
              </a:rPr>
              <a:t>Location: </a:t>
            </a:r>
            <a:r>
              <a:rPr lang="en" sz="1400">
                <a:solidFill>
                  <a:srgbClr val="212529"/>
                </a:solidFill>
              </a:rPr>
              <a:t>Bigu Rural Municipality, Lamabagar</a:t>
            </a:r>
            <a:endParaRPr sz="1400">
              <a:solidFill>
                <a:srgbClr val="212529"/>
              </a:solidFill>
            </a:endParaRPr>
          </a:p>
          <a:p>
            <a:pPr marL="0" lvl="0" indent="0" algn="l" rtl="0">
              <a:lnSpc>
                <a:spcPct val="150000"/>
              </a:lnSpc>
              <a:spcBef>
                <a:spcPts val="1200"/>
              </a:spcBef>
              <a:spcAft>
                <a:spcPts val="0"/>
              </a:spcAft>
              <a:buNone/>
            </a:pPr>
            <a:endParaRPr sz="1400">
              <a:solidFill>
                <a:srgbClr val="212529"/>
              </a:solidFill>
            </a:endParaRPr>
          </a:p>
          <a:p>
            <a:pPr marL="0" lvl="0" indent="0" algn="l" rtl="0">
              <a:lnSpc>
                <a:spcPct val="150000"/>
              </a:lnSpc>
              <a:spcBef>
                <a:spcPts val="1200"/>
              </a:spcBef>
              <a:spcAft>
                <a:spcPts val="1200"/>
              </a:spcAft>
              <a:buClr>
                <a:schemeClr val="dk1"/>
              </a:buClr>
              <a:buSzPts val="1100"/>
              <a:buFont typeface="Arial"/>
              <a:buNone/>
            </a:pPr>
            <a:endParaRPr sz="1400">
              <a:solidFill>
                <a:srgbClr val="212529"/>
              </a:solidFill>
            </a:endParaRPr>
          </a:p>
        </p:txBody>
      </p:sp>
      <p:pic>
        <p:nvPicPr>
          <p:cNvPr id="108" name="Google Shape;108;p19" title="pic2.jpg"/>
          <p:cNvPicPr preferRelativeResize="0"/>
          <p:nvPr/>
        </p:nvPicPr>
        <p:blipFill>
          <a:blip r:embed="rId3">
            <a:alphaModFix/>
          </a:blip>
          <a:stretch>
            <a:fillRect/>
          </a:stretch>
        </p:blipFill>
        <p:spPr>
          <a:xfrm>
            <a:off x="4357075" y="1356125"/>
            <a:ext cx="4189001" cy="27926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20"/>
          <p:cNvPicPr preferRelativeResize="0"/>
          <p:nvPr/>
        </p:nvPicPr>
        <p:blipFill rotWithShape="1">
          <a:blip r:embed="rId3">
            <a:alphaModFix/>
          </a:blip>
          <a:srcRect b="-11470"/>
          <a:stretch/>
        </p:blipFill>
        <p:spPr>
          <a:xfrm>
            <a:off x="91275" y="74375"/>
            <a:ext cx="8954926" cy="4996801"/>
          </a:xfrm>
          <a:prstGeom prst="rect">
            <a:avLst/>
          </a:prstGeom>
          <a:noFill/>
          <a:ln>
            <a:noFill/>
          </a:ln>
        </p:spPr>
      </p:pic>
      <p:sp>
        <p:nvSpPr>
          <p:cNvPr id="114" name="Google Shape;114;p20"/>
          <p:cNvSpPr txBox="1"/>
          <p:nvPr/>
        </p:nvSpPr>
        <p:spPr>
          <a:xfrm>
            <a:off x="418500" y="4626575"/>
            <a:ext cx="8307000" cy="44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2"/>
                </a:solidFill>
                <a:latin typeface="Open Sans"/>
                <a:ea typeface="Open Sans"/>
                <a:cs typeface="Open Sans"/>
                <a:sym typeface="Open Sans"/>
              </a:rPr>
              <a:t>Spillway</a:t>
            </a:r>
            <a:endParaRPr sz="2000" b="1">
              <a:solidFill>
                <a:schemeClr val="dk2"/>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Trash Rack:</a:t>
            </a:r>
            <a:endParaRPr/>
          </a:p>
          <a:p>
            <a:pPr marL="0" lvl="0" indent="0" algn="l" rtl="0">
              <a:spcBef>
                <a:spcPts val="0"/>
              </a:spcBef>
              <a:spcAft>
                <a:spcPts val="0"/>
              </a:spcAft>
              <a:buNone/>
            </a:pPr>
            <a:endParaRPr/>
          </a:p>
        </p:txBody>
      </p:sp>
      <p:sp>
        <p:nvSpPr>
          <p:cNvPr id="120" name="Google Shape;120;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Char char="●"/>
            </a:pPr>
            <a:r>
              <a:rPr lang="en" sz="2000"/>
              <a:t>Trash rack is equipped with diversion dam to prevent large debris (logs, branches, sediment, etc.) from entering the intake and damaging the turbines and other mechanical components from damage.</a:t>
            </a:r>
            <a:endParaRPr sz="2000"/>
          </a:p>
          <a:p>
            <a:pPr marL="457200" lvl="0" indent="-355600" algn="just" rtl="0">
              <a:spcBef>
                <a:spcPts val="0"/>
              </a:spcBef>
              <a:spcAft>
                <a:spcPts val="0"/>
              </a:spcAft>
              <a:buSzPts val="2000"/>
              <a:buChar char="●"/>
            </a:pPr>
            <a:r>
              <a:rPr lang="en" sz="2000"/>
              <a:t>Manual cleaning after a certain period is done to prevent clogging, especially during monsoon season as it reduces water flow, lowering power generation.</a:t>
            </a:r>
            <a:endParaRPr sz="2000"/>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2"/>
          <p:cNvPicPr preferRelativeResize="0"/>
          <p:nvPr/>
        </p:nvPicPr>
        <p:blipFill>
          <a:blip r:embed="rId3">
            <a:alphaModFix/>
          </a:blip>
          <a:stretch>
            <a:fillRect/>
          </a:stretch>
        </p:blipFill>
        <p:spPr>
          <a:xfrm>
            <a:off x="168425" y="227900"/>
            <a:ext cx="8799027" cy="4706524"/>
          </a:xfrm>
          <a:prstGeom prst="rect">
            <a:avLst/>
          </a:prstGeom>
          <a:noFill/>
          <a:ln>
            <a:noFill/>
          </a:ln>
        </p:spPr>
      </p:pic>
      <p:sp>
        <p:nvSpPr>
          <p:cNvPr id="126" name="Google Shape;126;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Trash rack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131125"/>
            <a:ext cx="8520600" cy="5727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Settling Basin And Forebay:</a:t>
            </a:r>
            <a:endParaRPr/>
          </a:p>
        </p:txBody>
      </p:sp>
      <p:sp>
        <p:nvSpPr>
          <p:cNvPr id="132" name="Google Shape;132;p23"/>
          <p:cNvSpPr txBox="1">
            <a:spLocks noGrp="1"/>
          </p:cNvSpPr>
          <p:nvPr>
            <p:ph type="body" idx="1"/>
          </p:nvPr>
        </p:nvSpPr>
        <p:spPr>
          <a:xfrm>
            <a:off x="311700" y="703825"/>
            <a:ext cx="3251100" cy="4550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b="1">
                <a:solidFill>
                  <a:srgbClr val="212529"/>
                </a:solidFill>
              </a:rPr>
              <a:t>Number of Settling Basin: </a:t>
            </a:r>
            <a:r>
              <a:rPr lang="en" sz="1700">
                <a:solidFill>
                  <a:srgbClr val="212529"/>
                </a:solidFill>
              </a:rPr>
              <a:t>2</a:t>
            </a:r>
            <a:endParaRPr sz="1700">
              <a:solidFill>
                <a:srgbClr val="212529"/>
              </a:solidFill>
            </a:endParaRPr>
          </a:p>
          <a:p>
            <a:pPr marL="0" lvl="0" indent="0" algn="l" rtl="0">
              <a:spcBef>
                <a:spcPts val="1200"/>
              </a:spcBef>
              <a:spcAft>
                <a:spcPts val="0"/>
              </a:spcAft>
              <a:buNone/>
            </a:pPr>
            <a:r>
              <a:rPr lang="en" sz="1700" b="1">
                <a:solidFill>
                  <a:srgbClr val="212529"/>
                </a:solidFill>
              </a:rPr>
              <a:t>Dimension (L*B*H):   (</a:t>
            </a:r>
            <a:r>
              <a:rPr lang="en" sz="1700">
                <a:solidFill>
                  <a:srgbClr val="212529"/>
                </a:solidFill>
              </a:rPr>
              <a:t>225*26*17.7)m</a:t>
            </a:r>
            <a:endParaRPr sz="1700">
              <a:solidFill>
                <a:srgbClr val="212529"/>
              </a:solidFill>
            </a:endParaRPr>
          </a:p>
          <a:p>
            <a:pPr marL="457200" lvl="0" indent="-330200" algn="l" rtl="0">
              <a:spcBef>
                <a:spcPts val="1200"/>
              </a:spcBef>
              <a:spcAft>
                <a:spcPts val="0"/>
              </a:spcAft>
              <a:buClr>
                <a:srgbClr val="212529"/>
              </a:buClr>
              <a:buSzPts val="1600"/>
              <a:buChar char="●"/>
            </a:pPr>
            <a:r>
              <a:rPr lang="en" sz="1600">
                <a:solidFill>
                  <a:srgbClr val="212529"/>
                </a:solidFill>
              </a:rPr>
              <a:t>Due to landslide the settling basin on the left side of the image got damaged.</a:t>
            </a:r>
            <a:endParaRPr sz="1600">
              <a:solidFill>
                <a:srgbClr val="212529"/>
              </a:solidFill>
            </a:endParaRPr>
          </a:p>
          <a:p>
            <a:pPr marL="457200" lvl="0" indent="-330200" algn="l" rtl="0">
              <a:spcBef>
                <a:spcPts val="0"/>
              </a:spcBef>
              <a:spcAft>
                <a:spcPts val="0"/>
              </a:spcAft>
              <a:buClr>
                <a:srgbClr val="212529"/>
              </a:buClr>
              <a:buSzPts val="1600"/>
              <a:buChar char="●"/>
            </a:pPr>
            <a:r>
              <a:rPr lang="en" sz="1600">
                <a:solidFill>
                  <a:srgbClr val="212529"/>
                </a:solidFill>
              </a:rPr>
              <a:t>The plant is working with one settling basin.</a:t>
            </a:r>
            <a:endParaRPr sz="1600">
              <a:solidFill>
                <a:srgbClr val="212529"/>
              </a:solidFill>
            </a:endParaRPr>
          </a:p>
          <a:p>
            <a:pPr marL="457200" lvl="0" indent="-330200" algn="l" rtl="0">
              <a:spcBef>
                <a:spcPts val="0"/>
              </a:spcBef>
              <a:spcAft>
                <a:spcPts val="0"/>
              </a:spcAft>
              <a:buClr>
                <a:srgbClr val="212529"/>
              </a:buClr>
              <a:buSzPts val="1600"/>
              <a:buChar char="●"/>
            </a:pPr>
            <a:r>
              <a:rPr lang="en" sz="1600">
                <a:solidFill>
                  <a:srgbClr val="212529"/>
                </a:solidFill>
              </a:rPr>
              <a:t>The forebay at the end of the settling basin allow the water into headrace tunnel.</a:t>
            </a:r>
            <a:endParaRPr sz="1600">
              <a:solidFill>
                <a:srgbClr val="212529"/>
              </a:solidFill>
            </a:endParaRPr>
          </a:p>
        </p:txBody>
      </p:sp>
      <p:pic>
        <p:nvPicPr>
          <p:cNvPr id="133" name="Google Shape;133;p23"/>
          <p:cNvPicPr preferRelativeResize="0"/>
          <p:nvPr/>
        </p:nvPicPr>
        <p:blipFill>
          <a:blip r:embed="rId3">
            <a:alphaModFix/>
          </a:blip>
          <a:stretch>
            <a:fillRect/>
          </a:stretch>
        </p:blipFill>
        <p:spPr>
          <a:xfrm>
            <a:off x="6232325" y="811175"/>
            <a:ext cx="2911675" cy="4110425"/>
          </a:xfrm>
          <a:prstGeom prst="rect">
            <a:avLst/>
          </a:prstGeom>
          <a:noFill/>
          <a:ln>
            <a:noFill/>
          </a:ln>
        </p:spPr>
      </p:pic>
      <p:pic>
        <p:nvPicPr>
          <p:cNvPr id="134" name="Google Shape;134;p23"/>
          <p:cNvPicPr preferRelativeResize="0"/>
          <p:nvPr/>
        </p:nvPicPr>
        <p:blipFill>
          <a:blip r:embed="rId4">
            <a:alphaModFix/>
          </a:blip>
          <a:stretch>
            <a:fillRect/>
          </a:stretch>
        </p:blipFill>
        <p:spPr>
          <a:xfrm>
            <a:off x="3408447" y="811175"/>
            <a:ext cx="2823880" cy="4110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4"/>
          <p:cNvPicPr preferRelativeResize="0"/>
          <p:nvPr/>
        </p:nvPicPr>
        <p:blipFill>
          <a:blip r:embed="rId3">
            <a:alphaModFix/>
          </a:blip>
          <a:stretch>
            <a:fillRect/>
          </a:stretch>
        </p:blipFill>
        <p:spPr>
          <a:xfrm>
            <a:off x="25400" y="0"/>
            <a:ext cx="4237173" cy="4597402"/>
          </a:xfrm>
          <a:prstGeom prst="rect">
            <a:avLst/>
          </a:prstGeom>
          <a:noFill/>
          <a:ln>
            <a:noFill/>
          </a:ln>
        </p:spPr>
      </p:pic>
      <p:pic>
        <p:nvPicPr>
          <p:cNvPr id="140" name="Google Shape;140;p24"/>
          <p:cNvPicPr preferRelativeResize="0"/>
          <p:nvPr/>
        </p:nvPicPr>
        <p:blipFill>
          <a:blip r:embed="rId4">
            <a:alphaModFix/>
          </a:blip>
          <a:stretch>
            <a:fillRect/>
          </a:stretch>
        </p:blipFill>
        <p:spPr>
          <a:xfrm>
            <a:off x="4697125" y="0"/>
            <a:ext cx="4473426" cy="4597400"/>
          </a:xfrm>
          <a:prstGeom prst="rect">
            <a:avLst/>
          </a:prstGeom>
          <a:noFill/>
          <a:ln>
            <a:noFill/>
          </a:ln>
        </p:spPr>
      </p:pic>
      <p:sp>
        <p:nvSpPr>
          <p:cNvPr id="141" name="Google Shape;141;p24"/>
          <p:cNvSpPr txBox="1"/>
          <p:nvPr/>
        </p:nvSpPr>
        <p:spPr>
          <a:xfrm>
            <a:off x="65800" y="4626275"/>
            <a:ext cx="4196700" cy="45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2"/>
                </a:solidFill>
                <a:latin typeface="Open Sans"/>
                <a:ea typeface="Open Sans"/>
                <a:cs typeface="Open Sans"/>
                <a:sym typeface="Open Sans"/>
              </a:rPr>
              <a:t>Forebay</a:t>
            </a:r>
            <a:endParaRPr sz="2000" b="1">
              <a:solidFill>
                <a:schemeClr val="dk2"/>
              </a:solidFill>
              <a:latin typeface="Open Sans"/>
              <a:ea typeface="Open Sans"/>
              <a:cs typeface="Open Sans"/>
              <a:sym typeface="Open Sans"/>
            </a:endParaRPr>
          </a:p>
          <a:p>
            <a:pPr marL="0" lvl="0" indent="0" algn="l" rtl="0">
              <a:spcBef>
                <a:spcPts val="0"/>
              </a:spcBef>
              <a:spcAft>
                <a:spcPts val="0"/>
              </a:spcAft>
              <a:buNone/>
            </a:pPr>
            <a:endParaRPr sz="1800">
              <a:solidFill>
                <a:schemeClr val="dk2"/>
              </a:solidFill>
              <a:latin typeface="Open Sans"/>
              <a:ea typeface="Open Sans"/>
              <a:cs typeface="Open Sans"/>
              <a:sym typeface="Open Sans"/>
            </a:endParaRPr>
          </a:p>
        </p:txBody>
      </p:sp>
      <p:sp>
        <p:nvSpPr>
          <p:cNvPr id="142" name="Google Shape;142;p24"/>
          <p:cNvSpPr txBox="1"/>
          <p:nvPr/>
        </p:nvSpPr>
        <p:spPr>
          <a:xfrm>
            <a:off x="4697125" y="4655150"/>
            <a:ext cx="44046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2"/>
                </a:solidFill>
                <a:latin typeface="Open Sans"/>
                <a:ea typeface="Open Sans"/>
                <a:cs typeface="Open Sans"/>
                <a:sym typeface="Open Sans"/>
              </a:rPr>
              <a:t>Damaged Settling basin</a:t>
            </a:r>
            <a:endParaRPr sz="2000" b="1">
              <a:solidFill>
                <a:schemeClr val="dk2"/>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681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Dam site view</a:t>
            </a:r>
            <a:endParaRPr/>
          </a:p>
        </p:txBody>
      </p:sp>
      <p:sp>
        <p:nvSpPr>
          <p:cNvPr id="148" name="Google Shape;148;p25"/>
          <p:cNvSpPr txBox="1">
            <a:spLocks noGrp="1"/>
          </p:cNvSpPr>
          <p:nvPr>
            <p:ph type="body" idx="1"/>
          </p:nvPr>
        </p:nvSpPr>
        <p:spPr>
          <a:xfrm>
            <a:off x="311700" y="8741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9" name="Google Shape;149;p25"/>
          <p:cNvPicPr preferRelativeResize="0"/>
          <p:nvPr/>
        </p:nvPicPr>
        <p:blipFill>
          <a:blip r:embed="rId3">
            <a:alphaModFix/>
          </a:blip>
          <a:stretch>
            <a:fillRect/>
          </a:stretch>
        </p:blipFill>
        <p:spPr>
          <a:xfrm>
            <a:off x="168650" y="874125"/>
            <a:ext cx="8837952" cy="3938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311700" y="69275"/>
            <a:ext cx="3377100" cy="584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Tunnel Details:</a:t>
            </a:r>
            <a:endParaRPr/>
          </a:p>
        </p:txBody>
      </p:sp>
      <p:sp>
        <p:nvSpPr>
          <p:cNvPr id="155" name="Google Shape;155;p26"/>
          <p:cNvSpPr txBox="1">
            <a:spLocks noGrp="1"/>
          </p:cNvSpPr>
          <p:nvPr>
            <p:ph type="body" idx="1"/>
          </p:nvPr>
        </p:nvSpPr>
        <p:spPr>
          <a:xfrm>
            <a:off x="230325" y="690625"/>
            <a:ext cx="3377100" cy="41232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rgbClr val="212529"/>
              </a:buClr>
              <a:buSzPts val="1500"/>
              <a:buAutoNum type="arabicPeriod"/>
            </a:pPr>
            <a:r>
              <a:rPr lang="en" sz="1500" b="1">
                <a:solidFill>
                  <a:srgbClr val="212529"/>
                </a:solidFill>
              </a:rPr>
              <a:t>Headrace tunnel:</a:t>
            </a:r>
            <a:r>
              <a:rPr lang="en" sz="1500">
                <a:solidFill>
                  <a:srgbClr val="212529"/>
                </a:solidFill>
              </a:rPr>
              <a:t> 8.4 km in length, </a:t>
            </a:r>
            <a:r>
              <a:rPr lang="en" sz="1500">
                <a:solidFill>
                  <a:srgbClr val="212529"/>
                </a:solidFill>
                <a:highlight>
                  <a:srgbClr val="FFFFFF"/>
                </a:highlight>
                <a:latin typeface="Roboto"/>
                <a:ea typeface="Roboto"/>
                <a:cs typeface="Roboto"/>
                <a:sym typeface="Roboto"/>
              </a:rPr>
              <a:t>Cross Sectional Area = 32.14 m</a:t>
            </a:r>
            <a:r>
              <a:rPr lang="en" sz="1500">
                <a:solidFill>
                  <a:srgbClr val="212529"/>
                </a:solidFill>
                <a:latin typeface="Roboto"/>
                <a:ea typeface="Roboto"/>
                <a:cs typeface="Roboto"/>
                <a:sym typeface="Roboto"/>
              </a:rPr>
              <a:t>2</a:t>
            </a:r>
            <a:endParaRPr sz="1500">
              <a:solidFill>
                <a:srgbClr val="212529"/>
              </a:solidFill>
            </a:endParaRPr>
          </a:p>
          <a:p>
            <a:pPr marL="457200" lvl="0" indent="-323850" algn="l" rtl="0">
              <a:spcBef>
                <a:spcPts val="0"/>
              </a:spcBef>
              <a:spcAft>
                <a:spcPts val="0"/>
              </a:spcAft>
              <a:buClr>
                <a:srgbClr val="212529"/>
              </a:buClr>
              <a:buSzPts val="1500"/>
              <a:buAutoNum type="arabicPeriod"/>
            </a:pPr>
            <a:r>
              <a:rPr lang="en" sz="1500" b="1">
                <a:solidFill>
                  <a:srgbClr val="212529"/>
                </a:solidFill>
              </a:rPr>
              <a:t>Upper penstock shaft:</a:t>
            </a:r>
            <a:r>
              <a:rPr lang="en" sz="1500">
                <a:solidFill>
                  <a:srgbClr val="212529"/>
                </a:solidFill>
              </a:rPr>
              <a:t> 310m</a:t>
            </a:r>
            <a:endParaRPr sz="1500">
              <a:solidFill>
                <a:srgbClr val="212529"/>
              </a:solidFill>
            </a:endParaRPr>
          </a:p>
          <a:p>
            <a:pPr marL="457200" lvl="0" indent="-323850" algn="l" rtl="0">
              <a:spcBef>
                <a:spcPts val="0"/>
              </a:spcBef>
              <a:spcAft>
                <a:spcPts val="0"/>
              </a:spcAft>
              <a:buClr>
                <a:srgbClr val="212529"/>
              </a:buClr>
              <a:buSzPts val="1500"/>
              <a:buAutoNum type="arabicPeriod"/>
            </a:pPr>
            <a:r>
              <a:rPr lang="en" sz="1500" b="1">
                <a:solidFill>
                  <a:srgbClr val="212529"/>
                </a:solidFill>
              </a:rPr>
              <a:t>Lower penstock shaft:</a:t>
            </a:r>
            <a:r>
              <a:rPr lang="en" sz="1500">
                <a:solidFill>
                  <a:srgbClr val="212529"/>
                </a:solidFill>
              </a:rPr>
              <a:t> 372m</a:t>
            </a:r>
            <a:endParaRPr sz="1500">
              <a:solidFill>
                <a:srgbClr val="212529"/>
              </a:solidFill>
            </a:endParaRPr>
          </a:p>
          <a:p>
            <a:pPr marL="457200" lvl="0" indent="-323850" algn="l" rtl="0">
              <a:spcBef>
                <a:spcPts val="0"/>
              </a:spcBef>
              <a:spcAft>
                <a:spcPts val="0"/>
              </a:spcAft>
              <a:buClr>
                <a:srgbClr val="212529"/>
              </a:buClr>
              <a:buSzPts val="1500"/>
              <a:buAutoNum type="arabicPeriod"/>
            </a:pPr>
            <a:r>
              <a:rPr lang="en" sz="1500" b="1">
                <a:solidFill>
                  <a:srgbClr val="212529"/>
                </a:solidFill>
              </a:rPr>
              <a:t>Main access tunnel:</a:t>
            </a:r>
            <a:r>
              <a:rPr lang="en" sz="1500">
                <a:solidFill>
                  <a:srgbClr val="212529"/>
                </a:solidFill>
              </a:rPr>
              <a:t> 1185m</a:t>
            </a:r>
            <a:endParaRPr sz="1500">
              <a:solidFill>
                <a:srgbClr val="212529"/>
              </a:solidFill>
            </a:endParaRPr>
          </a:p>
          <a:p>
            <a:pPr marL="457200" lvl="0" indent="-323850" algn="l" rtl="0">
              <a:spcBef>
                <a:spcPts val="0"/>
              </a:spcBef>
              <a:spcAft>
                <a:spcPts val="0"/>
              </a:spcAft>
              <a:buClr>
                <a:srgbClr val="212529"/>
              </a:buClr>
              <a:buSzPts val="1500"/>
              <a:buAutoNum type="arabicPeriod"/>
            </a:pPr>
            <a:r>
              <a:rPr lang="en" sz="1500" b="1">
                <a:solidFill>
                  <a:srgbClr val="212529"/>
                </a:solidFill>
              </a:rPr>
              <a:t>Tailrace tunnel:</a:t>
            </a:r>
            <a:r>
              <a:rPr lang="en" sz="1500">
                <a:solidFill>
                  <a:srgbClr val="212529"/>
                </a:solidFill>
              </a:rPr>
              <a:t> 2.9 km </a:t>
            </a:r>
            <a:r>
              <a:rPr lang="en" sz="1500">
                <a:solidFill>
                  <a:srgbClr val="212529"/>
                </a:solidFill>
                <a:highlight>
                  <a:srgbClr val="FFFFFF"/>
                </a:highlight>
                <a:latin typeface="Roboto"/>
                <a:ea typeface="Roboto"/>
                <a:cs typeface="Roboto"/>
                <a:sym typeface="Roboto"/>
              </a:rPr>
              <a:t>Cross Sectional Area = 35.0 m</a:t>
            </a:r>
            <a:r>
              <a:rPr lang="en" sz="1500">
                <a:solidFill>
                  <a:srgbClr val="212529"/>
                </a:solidFill>
                <a:latin typeface="Roboto"/>
                <a:ea typeface="Roboto"/>
                <a:cs typeface="Roboto"/>
                <a:sym typeface="Roboto"/>
              </a:rPr>
              <a:t>2</a:t>
            </a:r>
            <a:endParaRPr sz="1500">
              <a:solidFill>
                <a:srgbClr val="212529"/>
              </a:solidFill>
            </a:endParaRPr>
          </a:p>
          <a:p>
            <a:pPr marL="457200" lvl="0" indent="-323850" algn="l" rtl="0">
              <a:spcBef>
                <a:spcPts val="0"/>
              </a:spcBef>
              <a:spcAft>
                <a:spcPts val="0"/>
              </a:spcAft>
              <a:buClr>
                <a:srgbClr val="212529"/>
              </a:buClr>
              <a:buSzPts val="1500"/>
              <a:buChar char="●"/>
            </a:pPr>
            <a:r>
              <a:rPr lang="en" sz="1500">
                <a:solidFill>
                  <a:srgbClr val="212529"/>
                </a:solidFill>
              </a:rPr>
              <a:t>There is also surge tunnel and upper penstock tunnel adit and lower penstock tunnel adit as shown in the fig along side</a:t>
            </a:r>
            <a:endParaRPr sz="1500">
              <a:solidFill>
                <a:srgbClr val="212529"/>
              </a:solidFill>
            </a:endParaRPr>
          </a:p>
        </p:txBody>
      </p:sp>
      <p:pic>
        <p:nvPicPr>
          <p:cNvPr id="156" name="Google Shape;156;p26"/>
          <p:cNvPicPr preferRelativeResize="0"/>
          <p:nvPr/>
        </p:nvPicPr>
        <p:blipFill>
          <a:blip r:embed="rId3">
            <a:alphaModFix/>
          </a:blip>
          <a:stretch>
            <a:fillRect/>
          </a:stretch>
        </p:blipFill>
        <p:spPr>
          <a:xfrm>
            <a:off x="3638975" y="209975"/>
            <a:ext cx="5352625" cy="2672649"/>
          </a:xfrm>
          <a:prstGeom prst="rect">
            <a:avLst/>
          </a:prstGeom>
          <a:noFill/>
          <a:ln>
            <a:noFill/>
          </a:ln>
        </p:spPr>
      </p:pic>
      <p:pic>
        <p:nvPicPr>
          <p:cNvPr id="157" name="Google Shape;157;p26"/>
          <p:cNvPicPr preferRelativeResize="0"/>
          <p:nvPr/>
        </p:nvPicPr>
        <p:blipFill>
          <a:blip r:embed="rId4">
            <a:alphaModFix/>
          </a:blip>
          <a:stretch>
            <a:fillRect/>
          </a:stretch>
        </p:blipFill>
        <p:spPr>
          <a:xfrm>
            <a:off x="3607425" y="2865725"/>
            <a:ext cx="2499401" cy="2108475"/>
          </a:xfrm>
          <a:prstGeom prst="rect">
            <a:avLst/>
          </a:prstGeom>
          <a:noFill/>
          <a:ln>
            <a:noFill/>
          </a:ln>
        </p:spPr>
      </p:pic>
      <p:pic>
        <p:nvPicPr>
          <p:cNvPr id="158" name="Google Shape;158;p26"/>
          <p:cNvPicPr preferRelativeResize="0"/>
          <p:nvPr/>
        </p:nvPicPr>
        <p:blipFill>
          <a:blip r:embed="rId5">
            <a:alphaModFix/>
          </a:blip>
          <a:stretch>
            <a:fillRect/>
          </a:stretch>
        </p:blipFill>
        <p:spPr>
          <a:xfrm>
            <a:off x="6106825" y="2882625"/>
            <a:ext cx="2730525" cy="2108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a:spLocks noGrp="1"/>
          </p:cNvSpPr>
          <p:nvPr>
            <p:ph type="title"/>
          </p:nvPr>
        </p:nvSpPr>
        <p:spPr>
          <a:xfrm>
            <a:off x="311700" y="155875"/>
            <a:ext cx="8520600" cy="584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Power House Details</a:t>
            </a:r>
            <a:endParaRPr/>
          </a:p>
        </p:txBody>
      </p:sp>
      <p:sp>
        <p:nvSpPr>
          <p:cNvPr id="164" name="Google Shape;164;p27"/>
          <p:cNvSpPr txBox="1">
            <a:spLocks noGrp="1"/>
          </p:cNvSpPr>
          <p:nvPr>
            <p:ph type="body" idx="1"/>
          </p:nvPr>
        </p:nvSpPr>
        <p:spPr>
          <a:xfrm>
            <a:off x="808600" y="740275"/>
            <a:ext cx="8151300" cy="39261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solidFill>
                  <a:srgbClr val="212529"/>
                </a:solidFill>
              </a:rPr>
              <a:t>Divided into 4 main floors:</a:t>
            </a:r>
            <a:endParaRPr>
              <a:solidFill>
                <a:srgbClr val="212529"/>
              </a:solidFill>
            </a:endParaRPr>
          </a:p>
          <a:p>
            <a:pPr marL="0" lvl="0" indent="0" algn="l" rtl="0">
              <a:spcBef>
                <a:spcPts val="1200"/>
              </a:spcBef>
              <a:spcAft>
                <a:spcPts val="0"/>
              </a:spcAft>
              <a:buNone/>
            </a:pPr>
            <a:r>
              <a:rPr lang="en" b="1">
                <a:solidFill>
                  <a:srgbClr val="212529"/>
                </a:solidFill>
              </a:rPr>
              <a:t>Machine Hall floor:</a:t>
            </a:r>
            <a:r>
              <a:rPr lang="en">
                <a:solidFill>
                  <a:srgbClr val="212529"/>
                </a:solidFill>
              </a:rPr>
              <a:t> Consists of Transformers, Protection system,GIS substation and control room</a:t>
            </a:r>
            <a:endParaRPr>
              <a:solidFill>
                <a:srgbClr val="212529"/>
              </a:solidFill>
            </a:endParaRPr>
          </a:p>
          <a:p>
            <a:pPr marL="0" lvl="0" indent="0" algn="l" rtl="0">
              <a:spcBef>
                <a:spcPts val="1200"/>
              </a:spcBef>
              <a:spcAft>
                <a:spcPts val="0"/>
              </a:spcAft>
              <a:buNone/>
            </a:pPr>
            <a:r>
              <a:rPr lang="en" b="1">
                <a:solidFill>
                  <a:srgbClr val="212529"/>
                </a:solidFill>
              </a:rPr>
              <a:t>Generator floor:</a:t>
            </a:r>
            <a:r>
              <a:rPr lang="en">
                <a:solidFill>
                  <a:srgbClr val="212529"/>
                </a:solidFill>
              </a:rPr>
              <a:t> 6 unit of 90 MVA generator is installed.</a:t>
            </a:r>
            <a:endParaRPr>
              <a:solidFill>
                <a:srgbClr val="212529"/>
              </a:solidFill>
            </a:endParaRPr>
          </a:p>
          <a:p>
            <a:pPr marL="0" lvl="0" indent="0" algn="l" rtl="0">
              <a:spcBef>
                <a:spcPts val="1200"/>
              </a:spcBef>
              <a:spcAft>
                <a:spcPts val="0"/>
              </a:spcAft>
              <a:buNone/>
            </a:pPr>
            <a:r>
              <a:rPr lang="en" b="1">
                <a:solidFill>
                  <a:srgbClr val="212529"/>
                </a:solidFill>
              </a:rPr>
              <a:t>Turbine floor:</a:t>
            </a:r>
            <a:r>
              <a:rPr lang="en">
                <a:solidFill>
                  <a:srgbClr val="212529"/>
                </a:solidFill>
              </a:rPr>
              <a:t> 6 unit of Pelton Turbine is installed</a:t>
            </a:r>
            <a:endParaRPr>
              <a:solidFill>
                <a:srgbClr val="212529"/>
              </a:solidFill>
            </a:endParaRPr>
          </a:p>
          <a:p>
            <a:pPr marL="0" lvl="0" indent="0" algn="l" rtl="0">
              <a:spcBef>
                <a:spcPts val="1200"/>
              </a:spcBef>
              <a:spcAft>
                <a:spcPts val="0"/>
              </a:spcAft>
              <a:buNone/>
            </a:pPr>
            <a:r>
              <a:rPr lang="en" b="1">
                <a:solidFill>
                  <a:srgbClr val="212529"/>
                </a:solidFill>
              </a:rPr>
              <a:t>MIV(main inlet valve)  floor: </a:t>
            </a:r>
            <a:r>
              <a:rPr lang="en">
                <a:solidFill>
                  <a:srgbClr val="212529"/>
                </a:solidFill>
              </a:rPr>
              <a:t>Consists of the penstock access to the turbine through Inlet valve</a:t>
            </a:r>
            <a:endParaRPr>
              <a:solidFill>
                <a:srgbClr val="212529"/>
              </a:solidFill>
            </a:endParaRPr>
          </a:p>
          <a:p>
            <a:pPr marL="0" lvl="0" indent="0" algn="l" rtl="0">
              <a:spcBef>
                <a:spcPts val="1200"/>
              </a:spcBef>
              <a:spcAft>
                <a:spcPts val="0"/>
              </a:spcAft>
              <a:buNone/>
            </a:pPr>
            <a:r>
              <a:rPr lang="en">
                <a:solidFill>
                  <a:srgbClr val="212529"/>
                </a:solidFill>
              </a:rPr>
              <a:t>Along with this It also consists of a floor with cooling system tank and outlet room for parallel operation of single phase transformers.</a:t>
            </a:r>
            <a:endParaRPr>
              <a:solidFill>
                <a:srgbClr val="212529"/>
              </a:solidFill>
            </a:endParaRPr>
          </a:p>
          <a:p>
            <a:pPr marL="0" lvl="0" indent="0" algn="l" rtl="0">
              <a:spcBef>
                <a:spcPts val="1200"/>
              </a:spcBef>
              <a:spcAft>
                <a:spcPts val="1200"/>
              </a:spcAft>
              <a:buNone/>
            </a:pPr>
            <a:endParaRPr>
              <a:solidFill>
                <a:srgbClr val="21252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311700" y="47625"/>
            <a:ext cx="8520600" cy="5520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Turbine Details:</a:t>
            </a:r>
            <a:endParaRPr/>
          </a:p>
        </p:txBody>
      </p:sp>
      <p:sp>
        <p:nvSpPr>
          <p:cNvPr id="170" name="Google Shape;170;p28"/>
          <p:cNvSpPr txBox="1">
            <a:spLocks noGrp="1"/>
          </p:cNvSpPr>
          <p:nvPr>
            <p:ph type="body" idx="1"/>
          </p:nvPr>
        </p:nvSpPr>
        <p:spPr>
          <a:xfrm>
            <a:off x="311700" y="748800"/>
            <a:ext cx="4722300" cy="429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rgbClr val="000000"/>
                </a:solidFill>
                <a:latin typeface="Arial"/>
                <a:ea typeface="Arial"/>
                <a:cs typeface="Arial"/>
                <a:sym typeface="Arial"/>
              </a:rPr>
              <a:t>Here, pelton turbines are used.</a:t>
            </a:r>
            <a:endParaRPr sz="1600">
              <a:solidFill>
                <a:srgbClr val="000000"/>
              </a:solidFill>
              <a:latin typeface="Arial"/>
              <a:ea typeface="Arial"/>
              <a:cs typeface="Arial"/>
              <a:sym typeface="Arial"/>
            </a:endParaRPr>
          </a:p>
          <a:p>
            <a:pPr marL="0" lvl="0" indent="0" algn="l" rtl="0">
              <a:spcBef>
                <a:spcPts val="1200"/>
              </a:spcBef>
              <a:spcAft>
                <a:spcPts val="0"/>
              </a:spcAft>
              <a:buNone/>
            </a:pPr>
            <a:r>
              <a:rPr lang="en" sz="1600">
                <a:solidFill>
                  <a:srgbClr val="000000"/>
                </a:solidFill>
                <a:latin typeface="Arial"/>
                <a:ea typeface="Arial"/>
                <a:cs typeface="Arial"/>
                <a:sym typeface="Arial"/>
              </a:rPr>
              <a:t>A Pelton turbine (also called a Pelton wheel) is an impulse turbine designed for high-head, low-flow hydro power plants.</a:t>
            </a:r>
            <a:endParaRPr sz="1600">
              <a:solidFill>
                <a:srgbClr val="000000"/>
              </a:solidFill>
              <a:latin typeface="Arial"/>
              <a:ea typeface="Arial"/>
              <a:cs typeface="Arial"/>
              <a:sym typeface="Arial"/>
            </a:endParaRPr>
          </a:p>
          <a:p>
            <a:pPr marL="0" lvl="0" indent="0" algn="l" rtl="0">
              <a:spcBef>
                <a:spcPts val="1200"/>
              </a:spcBef>
              <a:spcAft>
                <a:spcPts val="0"/>
              </a:spcAft>
              <a:buNone/>
            </a:pPr>
            <a:r>
              <a:rPr lang="en" sz="1600">
                <a:solidFill>
                  <a:srgbClr val="000000"/>
                </a:solidFill>
                <a:latin typeface="Arial"/>
                <a:ea typeface="Arial"/>
                <a:cs typeface="Arial"/>
                <a:sym typeface="Arial"/>
              </a:rPr>
              <a:t>No of Unit= 6</a:t>
            </a:r>
            <a:endParaRPr sz="1600">
              <a:solidFill>
                <a:srgbClr val="000000"/>
              </a:solidFill>
              <a:latin typeface="Arial"/>
              <a:ea typeface="Arial"/>
              <a:cs typeface="Arial"/>
              <a:sym typeface="Arial"/>
            </a:endParaRPr>
          </a:p>
          <a:p>
            <a:pPr marL="0" lvl="0" indent="0" algn="l" rtl="0">
              <a:spcBef>
                <a:spcPts val="1200"/>
              </a:spcBef>
              <a:spcAft>
                <a:spcPts val="0"/>
              </a:spcAft>
              <a:buNone/>
            </a:pPr>
            <a:r>
              <a:rPr lang="en" sz="1600">
                <a:solidFill>
                  <a:srgbClr val="000000"/>
                </a:solidFill>
                <a:latin typeface="Arial"/>
                <a:ea typeface="Arial"/>
                <a:cs typeface="Arial"/>
                <a:sym typeface="Arial"/>
              </a:rPr>
              <a:t>Here, each turbine is rotated by 5 nozzle connected to main inlet valve of each unit.</a:t>
            </a:r>
            <a:endParaRPr sz="1600">
              <a:solidFill>
                <a:srgbClr val="000000"/>
              </a:solidFill>
              <a:latin typeface="Arial"/>
              <a:ea typeface="Arial"/>
              <a:cs typeface="Arial"/>
              <a:sym typeface="Arial"/>
            </a:endParaRPr>
          </a:p>
          <a:p>
            <a:pPr marL="0" lvl="0" indent="0" algn="l" rtl="0">
              <a:spcBef>
                <a:spcPts val="1200"/>
              </a:spcBef>
              <a:spcAft>
                <a:spcPts val="0"/>
              </a:spcAft>
              <a:buNone/>
            </a:pPr>
            <a:r>
              <a:rPr lang="en" sz="1600">
                <a:solidFill>
                  <a:srgbClr val="000000"/>
                </a:solidFill>
                <a:latin typeface="Arial"/>
                <a:ea typeface="Arial"/>
                <a:cs typeface="Arial"/>
                <a:sym typeface="Arial"/>
              </a:rPr>
              <a:t>Corrosion of the turbine was observed because of small slit particle present in the water through turbine. </a:t>
            </a:r>
            <a:endParaRPr sz="1600">
              <a:solidFill>
                <a:srgbClr val="000000"/>
              </a:solidFill>
              <a:latin typeface="Arial"/>
              <a:ea typeface="Arial"/>
              <a:cs typeface="Arial"/>
              <a:sym typeface="Arial"/>
            </a:endParaRPr>
          </a:p>
          <a:p>
            <a:pPr marL="0" lvl="0" indent="0" algn="l" rtl="0">
              <a:spcBef>
                <a:spcPts val="1200"/>
              </a:spcBef>
              <a:spcAft>
                <a:spcPts val="1200"/>
              </a:spcAft>
              <a:buNone/>
            </a:pPr>
            <a:r>
              <a:rPr lang="en" sz="1600">
                <a:solidFill>
                  <a:srgbClr val="000000"/>
                </a:solidFill>
                <a:latin typeface="Arial"/>
                <a:ea typeface="Arial"/>
                <a:cs typeface="Arial"/>
                <a:sym typeface="Arial"/>
              </a:rPr>
              <a:t> </a:t>
            </a:r>
            <a:endParaRPr sz="1600">
              <a:solidFill>
                <a:srgbClr val="000000"/>
              </a:solidFill>
              <a:latin typeface="Arial"/>
              <a:ea typeface="Arial"/>
              <a:cs typeface="Arial"/>
              <a:sym typeface="Arial"/>
            </a:endParaRPr>
          </a:p>
        </p:txBody>
      </p:sp>
      <p:pic>
        <p:nvPicPr>
          <p:cNvPr id="171" name="Google Shape;171;p28" title="images.jpeg"/>
          <p:cNvPicPr preferRelativeResize="0"/>
          <p:nvPr/>
        </p:nvPicPr>
        <p:blipFill>
          <a:blip r:embed="rId3">
            <a:alphaModFix/>
          </a:blip>
          <a:stretch>
            <a:fillRect/>
          </a:stretch>
        </p:blipFill>
        <p:spPr>
          <a:xfrm>
            <a:off x="4946375" y="153275"/>
            <a:ext cx="4000550" cy="2857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90925"/>
            <a:ext cx="8520600" cy="5736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Generator Details:</a:t>
            </a:r>
            <a:endParaRPr/>
          </a:p>
        </p:txBody>
      </p:sp>
      <p:sp>
        <p:nvSpPr>
          <p:cNvPr id="177" name="Google Shape;177;p29"/>
          <p:cNvSpPr txBox="1">
            <a:spLocks noGrp="1"/>
          </p:cNvSpPr>
          <p:nvPr>
            <p:ph type="body" idx="1"/>
          </p:nvPr>
        </p:nvSpPr>
        <p:spPr>
          <a:xfrm>
            <a:off x="464100" y="664525"/>
            <a:ext cx="3240600" cy="409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212529"/>
                </a:solidFill>
              </a:rPr>
              <a:t>Type:</a:t>
            </a:r>
            <a:r>
              <a:rPr lang="en">
                <a:solidFill>
                  <a:srgbClr val="212529"/>
                </a:solidFill>
              </a:rPr>
              <a:t> 3 phase synchronous </a:t>
            </a:r>
            <a:endParaRPr>
              <a:solidFill>
                <a:srgbClr val="212529"/>
              </a:solidFill>
            </a:endParaRPr>
          </a:p>
          <a:p>
            <a:pPr marL="0" lvl="0" indent="457200" algn="l" rtl="0">
              <a:spcBef>
                <a:spcPts val="0"/>
              </a:spcBef>
              <a:spcAft>
                <a:spcPts val="0"/>
              </a:spcAft>
              <a:buNone/>
            </a:pPr>
            <a:r>
              <a:rPr lang="en">
                <a:solidFill>
                  <a:srgbClr val="212529"/>
                </a:solidFill>
              </a:rPr>
              <a:t>Generator</a:t>
            </a:r>
            <a:endParaRPr>
              <a:solidFill>
                <a:srgbClr val="212529"/>
              </a:solidFill>
            </a:endParaRPr>
          </a:p>
          <a:p>
            <a:pPr marL="0" lvl="0" indent="0" algn="l" rtl="0">
              <a:spcBef>
                <a:spcPts val="0"/>
              </a:spcBef>
              <a:spcAft>
                <a:spcPts val="0"/>
              </a:spcAft>
              <a:buNone/>
            </a:pPr>
            <a:r>
              <a:rPr lang="en" b="1">
                <a:solidFill>
                  <a:srgbClr val="212529"/>
                </a:solidFill>
              </a:rPr>
              <a:t>No of unit:</a:t>
            </a:r>
            <a:r>
              <a:rPr lang="en">
                <a:solidFill>
                  <a:srgbClr val="212529"/>
                </a:solidFill>
              </a:rPr>
              <a:t> 6</a:t>
            </a:r>
            <a:endParaRPr>
              <a:solidFill>
                <a:srgbClr val="212529"/>
              </a:solidFill>
            </a:endParaRPr>
          </a:p>
          <a:p>
            <a:pPr marL="0" lvl="0" indent="0" algn="l" rtl="0">
              <a:spcBef>
                <a:spcPts val="0"/>
              </a:spcBef>
              <a:spcAft>
                <a:spcPts val="0"/>
              </a:spcAft>
              <a:buNone/>
            </a:pPr>
            <a:r>
              <a:rPr lang="en" b="1">
                <a:solidFill>
                  <a:srgbClr val="212529"/>
                </a:solidFill>
              </a:rPr>
              <a:t>Rating:</a:t>
            </a:r>
            <a:r>
              <a:rPr lang="en">
                <a:solidFill>
                  <a:srgbClr val="212529"/>
                </a:solidFill>
              </a:rPr>
              <a:t> 90 MVA ( 76 MW)</a:t>
            </a:r>
            <a:endParaRPr>
              <a:solidFill>
                <a:srgbClr val="212529"/>
              </a:solidFill>
            </a:endParaRPr>
          </a:p>
          <a:p>
            <a:pPr marL="0" lvl="0" indent="0" algn="l" rtl="0">
              <a:spcBef>
                <a:spcPts val="0"/>
              </a:spcBef>
              <a:spcAft>
                <a:spcPts val="0"/>
              </a:spcAft>
              <a:buNone/>
            </a:pPr>
            <a:r>
              <a:rPr lang="en" b="1">
                <a:solidFill>
                  <a:srgbClr val="212529"/>
                </a:solidFill>
              </a:rPr>
              <a:t>Rated speed:</a:t>
            </a:r>
            <a:r>
              <a:rPr lang="en">
                <a:solidFill>
                  <a:srgbClr val="212529"/>
                </a:solidFill>
              </a:rPr>
              <a:t> 600 RPM</a:t>
            </a:r>
            <a:endParaRPr>
              <a:solidFill>
                <a:srgbClr val="212529"/>
              </a:solidFill>
            </a:endParaRPr>
          </a:p>
          <a:p>
            <a:pPr marL="0" lvl="0" indent="0" algn="l" rtl="0">
              <a:spcBef>
                <a:spcPts val="0"/>
              </a:spcBef>
              <a:spcAft>
                <a:spcPts val="0"/>
              </a:spcAft>
              <a:buNone/>
            </a:pPr>
            <a:r>
              <a:rPr lang="en" b="1">
                <a:solidFill>
                  <a:srgbClr val="212529"/>
                </a:solidFill>
              </a:rPr>
              <a:t>No of poles: </a:t>
            </a:r>
            <a:r>
              <a:rPr lang="en">
                <a:solidFill>
                  <a:srgbClr val="212529"/>
                </a:solidFill>
              </a:rPr>
              <a:t>10</a:t>
            </a:r>
            <a:endParaRPr>
              <a:solidFill>
                <a:srgbClr val="212529"/>
              </a:solidFill>
            </a:endParaRPr>
          </a:p>
          <a:p>
            <a:pPr marL="0" lvl="0" indent="0" algn="l" rtl="0">
              <a:spcBef>
                <a:spcPts val="0"/>
              </a:spcBef>
              <a:spcAft>
                <a:spcPts val="0"/>
              </a:spcAft>
              <a:buNone/>
            </a:pPr>
            <a:r>
              <a:rPr lang="en" b="1">
                <a:solidFill>
                  <a:srgbClr val="212529"/>
                </a:solidFill>
              </a:rPr>
              <a:t>Rated Voltage:</a:t>
            </a:r>
            <a:r>
              <a:rPr lang="en">
                <a:solidFill>
                  <a:srgbClr val="212529"/>
                </a:solidFill>
              </a:rPr>
              <a:t> 11 kv</a:t>
            </a:r>
            <a:endParaRPr>
              <a:solidFill>
                <a:srgbClr val="212529"/>
              </a:solidFill>
            </a:endParaRPr>
          </a:p>
          <a:p>
            <a:pPr marL="0" lvl="0" indent="0" algn="l" rtl="0">
              <a:spcBef>
                <a:spcPts val="0"/>
              </a:spcBef>
              <a:spcAft>
                <a:spcPts val="0"/>
              </a:spcAft>
              <a:buNone/>
            </a:pPr>
            <a:r>
              <a:rPr lang="en" b="1">
                <a:solidFill>
                  <a:srgbClr val="212529"/>
                </a:solidFill>
              </a:rPr>
              <a:t>Total capacity of 6 unit:</a:t>
            </a:r>
            <a:r>
              <a:rPr lang="en">
                <a:solidFill>
                  <a:srgbClr val="212529"/>
                </a:solidFill>
              </a:rPr>
              <a:t> (6*76)=456 MW</a:t>
            </a:r>
            <a:endParaRPr>
              <a:solidFill>
                <a:srgbClr val="212529"/>
              </a:solidFill>
            </a:endParaRPr>
          </a:p>
          <a:p>
            <a:pPr marL="0" lvl="0" indent="0" algn="l" rtl="0">
              <a:spcBef>
                <a:spcPts val="0"/>
              </a:spcBef>
              <a:spcAft>
                <a:spcPts val="0"/>
              </a:spcAft>
              <a:buNone/>
            </a:pPr>
            <a:r>
              <a:rPr lang="en" b="1">
                <a:solidFill>
                  <a:srgbClr val="212529"/>
                </a:solidFill>
              </a:rPr>
              <a:t>Type of Earthing :</a:t>
            </a:r>
            <a:r>
              <a:rPr lang="en">
                <a:solidFill>
                  <a:srgbClr val="212529"/>
                </a:solidFill>
              </a:rPr>
              <a:t> Resistance transformer Earthing</a:t>
            </a:r>
            <a:endParaRPr>
              <a:solidFill>
                <a:srgbClr val="212529"/>
              </a:solidFill>
            </a:endParaRPr>
          </a:p>
        </p:txBody>
      </p:sp>
      <p:pic>
        <p:nvPicPr>
          <p:cNvPr id="178" name="Google Shape;178;p29"/>
          <p:cNvPicPr preferRelativeResize="0"/>
          <p:nvPr/>
        </p:nvPicPr>
        <p:blipFill>
          <a:blip r:embed="rId3">
            <a:alphaModFix/>
          </a:blip>
          <a:stretch>
            <a:fillRect/>
          </a:stretch>
        </p:blipFill>
        <p:spPr>
          <a:xfrm>
            <a:off x="3704700" y="90925"/>
            <a:ext cx="5370025" cy="2543600"/>
          </a:xfrm>
          <a:prstGeom prst="rect">
            <a:avLst/>
          </a:prstGeom>
          <a:noFill/>
          <a:ln>
            <a:noFill/>
          </a:ln>
        </p:spPr>
      </p:pic>
      <p:pic>
        <p:nvPicPr>
          <p:cNvPr id="179" name="Google Shape;179;p29"/>
          <p:cNvPicPr preferRelativeResize="0"/>
          <p:nvPr/>
        </p:nvPicPr>
        <p:blipFill>
          <a:blip r:embed="rId4">
            <a:alphaModFix/>
          </a:blip>
          <a:stretch>
            <a:fillRect/>
          </a:stretch>
        </p:blipFill>
        <p:spPr>
          <a:xfrm>
            <a:off x="3704700" y="2634525"/>
            <a:ext cx="5370024" cy="2508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a:spLocks noGrp="1"/>
          </p:cNvSpPr>
          <p:nvPr>
            <p:ph type="title"/>
          </p:nvPr>
        </p:nvSpPr>
        <p:spPr>
          <a:xfrm>
            <a:off x="311700" y="0"/>
            <a:ext cx="8520600" cy="485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Inlet Valve In the Power House</a:t>
            </a:r>
            <a:endParaRPr/>
          </a:p>
        </p:txBody>
      </p:sp>
      <p:sp>
        <p:nvSpPr>
          <p:cNvPr id="185" name="Google Shape;185;p30"/>
          <p:cNvSpPr txBox="1">
            <a:spLocks noGrp="1"/>
          </p:cNvSpPr>
          <p:nvPr>
            <p:ph type="body" idx="1"/>
          </p:nvPr>
        </p:nvSpPr>
        <p:spPr>
          <a:xfrm>
            <a:off x="159100" y="4657675"/>
            <a:ext cx="4354200" cy="485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688"/>
              <a:buNone/>
            </a:pPr>
            <a:r>
              <a:rPr lang="en" sz="1125" b="1"/>
              <a:t>Primary Inlet Valve (Mostly open)                                        </a:t>
            </a:r>
            <a:endParaRPr sz="1125" b="1"/>
          </a:p>
        </p:txBody>
      </p:sp>
      <p:pic>
        <p:nvPicPr>
          <p:cNvPr id="186" name="Google Shape;186;p30" title="Main inelt valve.jpg"/>
          <p:cNvPicPr preferRelativeResize="0"/>
          <p:nvPr/>
        </p:nvPicPr>
        <p:blipFill>
          <a:blip r:embed="rId3">
            <a:alphaModFix/>
          </a:blip>
          <a:stretch>
            <a:fillRect/>
          </a:stretch>
        </p:blipFill>
        <p:spPr>
          <a:xfrm>
            <a:off x="159100" y="633175"/>
            <a:ext cx="4354274" cy="4024499"/>
          </a:xfrm>
          <a:prstGeom prst="rect">
            <a:avLst/>
          </a:prstGeom>
          <a:noFill/>
          <a:ln>
            <a:noFill/>
          </a:ln>
        </p:spPr>
      </p:pic>
      <p:pic>
        <p:nvPicPr>
          <p:cNvPr id="187" name="Google Shape;187;p30" title="Inlet Valve to the turbine.jpg"/>
          <p:cNvPicPr preferRelativeResize="0"/>
          <p:nvPr/>
        </p:nvPicPr>
        <p:blipFill>
          <a:blip r:embed="rId4">
            <a:alphaModFix/>
          </a:blip>
          <a:stretch>
            <a:fillRect/>
          </a:stretch>
        </p:blipFill>
        <p:spPr>
          <a:xfrm>
            <a:off x="4513375" y="638100"/>
            <a:ext cx="4478224" cy="4024500"/>
          </a:xfrm>
          <a:prstGeom prst="rect">
            <a:avLst/>
          </a:prstGeom>
          <a:noFill/>
          <a:ln>
            <a:noFill/>
          </a:ln>
        </p:spPr>
      </p:pic>
      <p:sp>
        <p:nvSpPr>
          <p:cNvPr id="188" name="Google Shape;188;p30"/>
          <p:cNvSpPr txBox="1"/>
          <p:nvPr/>
        </p:nvSpPr>
        <p:spPr>
          <a:xfrm>
            <a:off x="4539675" y="4695550"/>
            <a:ext cx="4548300" cy="30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rgbClr val="000000"/>
              </a:buClr>
              <a:buSzPts val="688"/>
              <a:buFont typeface="Arial"/>
              <a:buNone/>
            </a:pPr>
            <a:r>
              <a:rPr lang="en" sz="1125" b="1">
                <a:solidFill>
                  <a:schemeClr val="dk2"/>
                </a:solidFill>
                <a:latin typeface="Open Sans"/>
                <a:ea typeface="Open Sans"/>
                <a:cs typeface="Open Sans"/>
                <a:sym typeface="Open Sans"/>
              </a:rPr>
              <a:t>Inlet Valve to the turbine(closed for maintenance of turbine)</a:t>
            </a:r>
            <a:endParaRPr sz="1800">
              <a:solidFill>
                <a:schemeClr val="dk2"/>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311700" y="153400"/>
            <a:ext cx="8520600" cy="584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Excitation System : Starting Sequence</a:t>
            </a:r>
            <a:endParaRPr/>
          </a:p>
        </p:txBody>
      </p:sp>
      <p:sp>
        <p:nvSpPr>
          <p:cNvPr id="194" name="Google Shape;194;p31"/>
          <p:cNvSpPr txBox="1">
            <a:spLocks noGrp="1"/>
          </p:cNvSpPr>
          <p:nvPr>
            <p:ph type="body" idx="1"/>
          </p:nvPr>
        </p:nvSpPr>
        <p:spPr>
          <a:xfrm>
            <a:off x="602700" y="834800"/>
            <a:ext cx="8229600" cy="4158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000000"/>
                </a:solidFill>
                <a:latin typeface="Arial"/>
                <a:ea typeface="Arial"/>
                <a:cs typeface="Arial"/>
                <a:sym typeface="Arial"/>
              </a:rPr>
              <a:t>Battery bank along with diesel generator is kept as a backup for excitation purpose in case of complete shut down of the plant.</a:t>
            </a:r>
            <a:endParaRPr sz="1500" b="1">
              <a:solidFill>
                <a:srgbClr val="000000"/>
              </a:solidFill>
              <a:latin typeface="Arial"/>
              <a:ea typeface="Arial"/>
              <a:cs typeface="Arial"/>
              <a:sym typeface="Arial"/>
            </a:endParaRPr>
          </a:p>
          <a:p>
            <a:pPr marL="0" lvl="0" indent="0" algn="l" rtl="0">
              <a:spcBef>
                <a:spcPts val="1200"/>
              </a:spcBef>
              <a:spcAft>
                <a:spcPts val="0"/>
              </a:spcAft>
              <a:buNone/>
            </a:pPr>
            <a:r>
              <a:rPr lang="en" sz="1500" b="1">
                <a:solidFill>
                  <a:srgbClr val="000000"/>
                </a:solidFill>
                <a:latin typeface="Arial"/>
                <a:ea typeface="Arial"/>
                <a:cs typeface="Arial"/>
                <a:sym typeface="Arial"/>
              </a:rPr>
              <a:t>The starting sequence is as follow:</a:t>
            </a:r>
            <a:endParaRPr sz="1500" b="1">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1.Pre-start Check: Ensure that all the mechanical and electrical components are in proper condition</a:t>
            </a:r>
            <a:endParaRPr sz="1500">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2.Battery and DC supply verification</a:t>
            </a:r>
            <a:endParaRPr sz="1500">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3.Exciter field circuit closure</a:t>
            </a:r>
            <a:endParaRPr sz="1500">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4.Voltage Build Up</a:t>
            </a:r>
            <a:endParaRPr sz="1500">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5.Generator frequency and phase matching with the grid</a:t>
            </a:r>
            <a:endParaRPr sz="1500">
              <a:solidFill>
                <a:srgbClr val="000000"/>
              </a:solidFill>
              <a:latin typeface="Arial"/>
              <a:ea typeface="Arial"/>
              <a:cs typeface="Arial"/>
              <a:sym typeface="Arial"/>
            </a:endParaRPr>
          </a:p>
          <a:p>
            <a:pPr marL="0" lvl="0" indent="0" algn="l" rtl="0">
              <a:spcBef>
                <a:spcPts val="1200"/>
              </a:spcBef>
              <a:spcAft>
                <a:spcPts val="0"/>
              </a:spcAft>
              <a:buNone/>
            </a:pPr>
            <a:r>
              <a:rPr lang="en" sz="1500">
                <a:solidFill>
                  <a:srgbClr val="000000"/>
                </a:solidFill>
                <a:latin typeface="Arial"/>
                <a:ea typeface="Arial"/>
                <a:cs typeface="Arial"/>
                <a:sym typeface="Arial"/>
              </a:rPr>
              <a:t>6.Connection to grid</a:t>
            </a:r>
            <a:endParaRPr sz="1500">
              <a:solidFill>
                <a:srgbClr val="000000"/>
              </a:solidFill>
              <a:latin typeface="Arial"/>
              <a:ea typeface="Arial"/>
              <a:cs typeface="Arial"/>
              <a:sym typeface="Arial"/>
            </a:endParaRPr>
          </a:p>
          <a:p>
            <a:pPr marL="0" lvl="0" indent="0" algn="l" rtl="0">
              <a:spcBef>
                <a:spcPts val="1200"/>
              </a:spcBef>
              <a:spcAft>
                <a:spcPts val="1200"/>
              </a:spcAft>
              <a:buNone/>
            </a:pPr>
            <a:r>
              <a:rPr lang="en" sz="1500">
                <a:solidFill>
                  <a:srgbClr val="000000"/>
                </a:solidFill>
                <a:latin typeface="Arial"/>
                <a:ea typeface="Arial"/>
                <a:cs typeface="Arial"/>
                <a:sym typeface="Arial"/>
              </a:rPr>
              <a:t>7.Load acceptance</a:t>
            </a:r>
            <a:endParaRPr sz="150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Breaking/ Stop Sequence</a:t>
            </a:r>
            <a:endParaRPr/>
          </a:p>
        </p:txBody>
      </p:sp>
      <p:sp>
        <p:nvSpPr>
          <p:cNvPr id="200" name="Google Shape;200;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Clr>
                <a:srgbClr val="000000"/>
              </a:buClr>
              <a:buSzPts val="2000"/>
              <a:buAutoNum type="arabicPeriod"/>
            </a:pPr>
            <a:r>
              <a:rPr lang="en" sz="2000" b="1">
                <a:solidFill>
                  <a:srgbClr val="000000"/>
                </a:solidFill>
              </a:rPr>
              <a:t>600 rpm - Standstill condition</a:t>
            </a:r>
            <a:endParaRPr sz="2000" b="1">
              <a:solidFill>
                <a:srgbClr val="000000"/>
              </a:solidFill>
            </a:endParaRPr>
          </a:p>
          <a:p>
            <a:pPr marL="457200" lvl="0" indent="-355600" algn="l" rtl="0">
              <a:spcBef>
                <a:spcPts val="0"/>
              </a:spcBef>
              <a:spcAft>
                <a:spcPts val="0"/>
              </a:spcAft>
              <a:buClr>
                <a:srgbClr val="000000"/>
              </a:buClr>
              <a:buSzPts val="2000"/>
              <a:buAutoNum type="arabicPeriod"/>
            </a:pPr>
            <a:r>
              <a:rPr lang="en" sz="2000" b="1">
                <a:solidFill>
                  <a:srgbClr val="000000"/>
                </a:solidFill>
              </a:rPr>
              <a:t>After rotor speed 550 rpm</a:t>
            </a:r>
            <a:endParaRPr sz="2000" b="1">
              <a:solidFill>
                <a:srgbClr val="000000"/>
              </a:solidFill>
            </a:endParaRPr>
          </a:p>
          <a:p>
            <a:pPr marL="457200" lvl="0" indent="-355600" algn="l" rtl="0">
              <a:spcBef>
                <a:spcPts val="0"/>
              </a:spcBef>
              <a:spcAft>
                <a:spcPts val="0"/>
              </a:spcAft>
              <a:buClr>
                <a:srgbClr val="000000"/>
              </a:buClr>
              <a:buSzPts val="2000"/>
              <a:buAutoNum type="arabicPeriod"/>
            </a:pPr>
            <a:r>
              <a:rPr lang="en" sz="2000" b="1">
                <a:solidFill>
                  <a:srgbClr val="000000"/>
                </a:solidFill>
              </a:rPr>
              <a:t>Electrical break - reduces speed to 300 rpm</a:t>
            </a:r>
            <a:endParaRPr sz="2000" b="1">
              <a:solidFill>
                <a:srgbClr val="000000"/>
              </a:solidFill>
            </a:endParaRPr>
          </a:p>
          <a:p>
            <a:pPr marL="457200" lvl="0" indent="-355600" algn="l" rtl="0">
              <a:spcBef>
                <a:spcPts val="0"/>
              </a:spcBef>
              <a:spcAft>
                <a:spcPts val="0"/>
              </a:spcAft>
              <a:buClr>
                <a:srgbClr val="000000"/>
              </a:buClr>
              <a:buSzPts val="2000"/>
              <a:buAutoNum type="arabicPeriod"/>
            </a:pPr>
            <a:r>
              <a:rPr lang="en" sz="2000" b="1">
                <a:solidFill>
                  <a:srgbClr val="000000"/>
                </a:solidFill>
              </a:rPr>
              <a:t>Mechanical Break - 0 rpm</a:t>
            </a:r>
            <a:endParaRPr sz="2000" b="1">
              <a:solidFill>
                <a:srgbClr val="000000"/>
              </a:solidFill>
              <a:latin typeface="PT Sans Narrow"/>
              <a:ea typeface="PT Sans Narrow"/>
              <a:cs typeface="PT Sans Narrow"/>
              <a:sym typeface="PT Sans Narro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Cooling System and Fire Hazard Prevention:</a:t>
            </a:r>
            <a:endParaRPr/>
          </a:p>
        </p:txBody>
      </p:sp>
      <p:sp>
        <p:nvSpPr>
          <p:cNvPr id="206" name="Google Shape;206;p33"/>
          <p:cNvSpPr txBox="1">
            <a:spLocks noGrp="1"/>
          </p:cNvSpPr>
          <p:nvPr>
            <p:ph type="body" idx="1"/>
          </p:nvPr>
        </p:nvSpPr>
        <p:spPr>
          <a:xfrm>
            <a:off x="796300" y="1298300"/>
            <a:ext cx="79785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212529"/>
                </a:solidFill>
              </a:rPr>
              <a:t>Closed Loop Water cooling system is used in this hydropower plant for cooling of bearing, shaft, generator. Here, river water is used for cooling closed loop water as heat exchanger.</a:t>
            </a:r>
            <a:endParaRPr>
              <a:solidFill>
                <a:srgbClr val="212529"/>
              </a:solidFill>
            </a:endParaRPr>
          </a:p>
          <a:p>
            <a:pPr marL="0" lvl="0" indent="0" algn="l" rtl="0">
              <a:spcBef>
                <a:spcPts val="1200"/>
              </a:spcBef>
              <a:spcAft>
                <a:spcPts val="1200"/>
              </a:spcAft>
              <a:buNone/>
            </a:pPr>
            <a:r>
              <a:rPr lang="en">
                <a:solidFill>
                  <a:srgbClr val="212529"/>
                </a:solidFill>
              </a:rPr>
              <a:t>For fire hazard protection, one water tank is available there at top floor which provides water supply in case of any fire attacks.The system is also fitted with automatic sprinkler system with sensors for the automation during any hazard safeguarding the plant from human errors.</a:t>
            </a:r>
            <a:endParaRPr>
              <a:solidFill>
                <a:srgbClr val="21252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4"/>
          <p:cNvSpPr txBox="1">
            <a:spLocks noGrp="1"/>
          </p:cNvSpPr>
          <p:nvPr>
            <p:ph type="title"/>
          </p:nvPr>
        </p:nvSpPr>
        <p:spPr>
          <a:xfrm>
            <a:off x="311700" y="0"/>
            <a:ext cx="8520600" cy="5037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Power Transformer  Details:</a:t>
            </a:r>
            <a:endParaRPr/>
          </a:p>
        </p:txBody>
      </p:sp>
      <p:sp>
        <p:nvSpPr>
          <p:cNvPr id="212" name="Google Shape;212;p34"/>
          <p:cNvSpPr txBox="1">
            <a:spLocks noGrp="1"/>
          </p:cNvSpPr>
          <p:nvPr>
            <p:ph type="body" idx="1"/>
          </p:nvPr>
        </p:nvSpPr>
        <p:spPr>
          <a:xfrm>
            <a:off x="271350" y="652950"/>
            <a:ext cx="4113300" cy="42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212529"/>
                </a:solidFill>
              </a:rPr>
              <a:t>Transforme Type</a:t>
            </a:r>
            <a:r>
              <a:rPr lang="en" sz="1200">
                <a:solidFill>
                  <a:srgbClr val="212529"/>
                </a:solidFill>
              </a:rPr>
              <a:t>: Single phase step up transformer</a:t>
            </a:r>
            <a:endParaRPr sz="1200">
              <a:solidFill>
                <a:srgbClr val="212529"/>
              </a:solidFill>
            </a:endParaRPr>
          </a:p>
          <a:p>
            <a:pPr marL="0" lvl="0" indent="0" algn="l" rtl="0">
              <a:spcBef>
                <a:spcPts val="1200"/>
              </a:spcBef>
              <a:spcAft>
                <a:spcPts val="0"/>
              </a:spcAft>
              <a:buNone/>
            </a:pPr>
            <a:r>
              <a:rPr lang="en" sz="1200">
                <a:solidFill>
                  <a:srgbClr val="212529"/>
                </a:solidFill>
              </a:rPr>
              <a:t>Three single phase transformer is used to form three phase transformer bank to obtain three phase output for transmission</a:t>
            </a:r>
            <a:endParaRPr sz="1200">
              <a:solidFill>
                <a:srgbClr val="212529"/>
              </a:solidFill>
            </a:endParaRPr>
          </a:p>
          <a:p>
            <a:pPr marL="0" lvl="0" indent="0" algn="l" rtl="0">
              <a:spcBef>
                <a:spcPts val="1200"/>
              </a:spcBef>
              <a:spcAft>
                <a:spcPts val="0"/>
              </a:spcAft>
              <a:buNone/>
            </a:pPr>
            <a:r>
              <a:rPr lang="en" sz="1200" b="1">
                <a:solidFill>
                  <a:srgbClr val="212529"/>
                </a:solidFill>
              </a:rPr>
              <a:t>Total Unit:</a:t>
            </a:r>
            <a:r>
              <a:rPr lang="en" sz="1200">
                <a:solidFill>
                  <a:srgbClr val="212529"/>
                </a:solidFill>
              </a:rPr>
              <a:t> 19  </a:t>
            </a:r>
            <a:endParaRPr sz="1200">
              <a:solidFill>
                <a:srgbClr val="212529"/>
              </a:solidFill>
            </a:endParaRPr>
          </a:p>
          <a:p>
            <a:pPr marL="0" lvl="0" indent="0" algn="l" rtl="0">
              <a:spcBef>
                <a:spcPts val="1200"/>
              </a:spcBef>
              <a:spcAft>
                <a:spcPts val="0"/>
              </a:spcAft>
              <a:buNone/>
            </a:pPr>
            <a:r>
              <a:rPr lang="en" sz="1200">
                <a:solidFill>
                  <a:srgbClr val="212529"/>
                </a:solidFill>
              </a:rPr>
              <a:t> 		18 in use 1 spare</a:t>
            </a:r>
            <a:endParaRPr sz="1200">
              <a:solidFill>
                <a:srgbClr val="212529"/>
              </a:solidFill>
            </a:endParaRPr>
          </a:p>
          <a:p>
            <a:pPr marL="0" lvl="0" indent="0" algn="l" rtl="0">
              <a:spcBef>
                <a:spcPts val="1200"/>
              </a:spcBef>
              <a:spcAft>
                <a:spcPts val="0"/>
              </a:spcAft>
              <a:buNone/>
            </a:pPr>
            <a:r>
              <a:rPr lang="en" sz="1200" b="1">
                <a:solidFill>
                  <a:srgbClr val="212529"/>
                </a:solidFill>
              </a:rPr>
              <a:t>Power Rating: </a:t>
            </a:r>
            <a:r>
              <a:rPr lang="en" sz="1200">
                <a:solidFill>
                  <a:srgbClr val="212529"/>
                </a:solidFill>
              </a:rPr>
              <a:t>30 MVA</a:t>
            </a:r>
            <a:endParaRPr sz="1200">
              <a:solidFill>
                <a:srgbClr val="212529"/>
              </a:solidFill>
            </a:endParaRPr>
          </a:p>
          <a:p>
            <a:pPr marL="0" lvl="0" indent="0" algn="l" rtl="0">
              <a:spcBef>
                <a:spcPts val="1200"/>
              </a:spcBef>
              <a:spcAft>
                <a:spcPts val="0"/>
              </a:spcAft>
              <a:buNone/>
            </a:pPr>
            <a:r>
              <a:rPr lang="en" sz="1200" b="1">
                <a:solidFill>
                  <a:srgbClr val="212529"/>
                </a:solidFill>
              </a:rPr>
              <a:t>3 transformer makes:</a:t>
            </a:r>
            <a:r>
              <a:rPr lang="en" sz="1200">
                <a:solidFill>
                  <a:srgbClr val="212529"/>
                </a:solidFill>
              </a:rPr>
              <a:t> 90 MVA</a:t>
            </a:r>
            <a:endParaRPr sz="1200">
              <a:solidFill>
                <a:srgbClr val="212529"/>
              </a:solidFill>
            </a:endParaRPr>
          </a:p>
          <a:p>
            <a:pPr marL="0" lvl="0" indent="0" algn="l" rtl="0">
              <a:spcBef>
                <a:spcPts val="1200"/>
              </a:spcBef>
              <a:spcAft>
                <a:spcPts val="0"/>
              </a:spcAft>
              <a:buNone/>
            </a:pPr>
            <a:r>
              <a:rPr lang="en" sz="1200" b="1">
                <a:solidFill>
                  <a:srgbClr val="212529"/>
                </a:solidFill>
              </a:rPr>
              <a:t>Voltage Rating:</a:t>
            </a:r>
            <a:r>
              <a:rPr lang="en" sz="1200">
                <a:solidFill>
                  <a:srgbClr val="212529"/>
                </a:solidFill>
              </a:rPr>
              <a:t> 11/230KV</a:t>
            </a:r>
            <a:endParaRPr sz="1200">
              <a:solidFill>
                <a:srgbClr val="212529"/>
              </a:solidFill>
            </a:endParaRPr>
          </a:p>
          <a:p>
            <a:pPr marL="0" lvl="0" indent="0" algn="l" rtl="0">
              <a:spcBef>
                <a:spcPts val="1200"/>
              </a:spcBef>
              <a:spcAft>
                <a:spcPts val="0"/>
              </a:spcAft>
              <a:buNone/>
            </a:pPr>
            <a:r>
              <a:rPr lang="en" sz="1200" b="1">
                <a:solidFill>
                  <a:srgbClr val="212529"/>
                </a:solidFill>
              </a:rPr>
              <a:t>Manufacturing year:</a:t>
            </a:r>
            <a:r>
              <a:rPr lang="en" sz="1200">
                <a:solidFill>
                  <a:srgbClr val="212529"/>
                </a:solidFill>
              </a:rPr>
              <a:t> 2015</a:t>
            </a:r>
            <a:endParaRPr sz="1200">
              <a:solidFill>
                <a:srgbClr val="212529"/>
              </a:solidFill>
            </a:endParaRPr>
          </a:p>
          <a:p>
            <a:pPr marL="0" lvl="0" indent="0" algn="l" rtl="0">
              <a:spcBef>
                <a:spcPts val="1200"/>
              </a:spcBef>
              <a:spcAft>
                <a:spcPts val="0"/>
              </a:spcAft>
              <a:buNone/>
            </a:pPr>
            <a:r>
              <a:rPr lang="en" sz="1200">
                <a:solidFill>
                  <a:srgbClr val="212529"/>
                </a:solidFill>
              </a:rPr>
              <a:t>Station Service Transformer</a:t>
            </a:r>
            <a:endParaRPr sz="1200">
              <a:solidFill>
                <a:srgbClr val="212529"/>
              </a:solidFill>
            </a:endParaRPr>
          </a:p>
          <a:p>
            <a:pPr marL="0" lvl="0" indent="0" algn="l" rtl="0">
              <a:spcBef>
                <a:spcPts val="1200"/>
              </a:spcBef>
              <a:spcAft>
                <a:spcPts val="0"/>
              </a:spcAft>
              <a:buNone/>
            </a:pPr>
            <a:r>
              <a:rPr lang="en" sz="1200">
                <a:solidFill>
                  <a:srgbClr val="212529"/>
                </a:solidFill>
              </a:rPr>
              <a:t>670 KVA SST was used, with voltage level 11000/330 v</a:t>
            </a:r>
            <a:endParaRPr sz="1200">
              <a:solidFill>
                <a:srgbClr val="212529"/>
              </a:solidFill>
            </a:endParaRPr>
          </a:p>
          <a:p>
            <a:pPr marL="0" lvl="0" indent="0" algn="l" rtl="0">
              <a:spcBef>
                <a:spcPts val="1200"/>
              </a:spcBef>
              <a:spcAft>
                <a:spcPts val="0"/>
              </a:spcAft>
              <a:buNone/>
            </a:pPr>
            <a:endParaRPr sz="1400">
              <a:solidFill>
                <a:srgbClr val="212529"/>
              </a:solidFill>
            </a:endParaRPr>
          </a:p>
          <a:p>
            <a:pPr marL="0" lvl="0" indent="0" algn="l" rtl="0">
              <a:spcBef>
                <a:spcPts val="1200"/>
              </a:spcBef>
              <a:spcAft>
                <a:spcPts val="0"/>
              </a:spcAft>
              <a:buNone/>
            </a:pPr>
            <a:endParaRPr sz="1400">
              <a:solidFill>
                <a:srgbClr val="212529"/>
              </a:solidFill>
            </a:endParaRPr>
          </a:p>
          <a:p>
            <a:pPr marL="0" lvl="0" indent="0" algn="l" rtl="0">
              <a:spcBef>
                <a:spcPts val="1200"/>
              </a:spcBef>
              <a:spcAft>
                <a:spcPts val="0"/>
              </a:spcAft>
              <a:buNone/>
            </a:pPr>
            <a:endParaRPr sz="1400">
              <a:solidFill>
                <a:srgbClr val="212529"/>
              </a:solidFill>
            </a:endParaRPr>
          </a:p>
          <a:p>
            <a:pPr marL="0" lvl="0" indent="0" algn="l" rtl="0">
              <a:spcBef>
                <a:spcPts val="1200"/>
              </a:spcBef>
              <a:spcAft>
                <a:spcPts val="1200"/>
              </a:spcAft>
              <a:buNone/>
            </a:pPr>
            <a:endParaRPr>
              <a:solidFill>
                <a:srgbClr val="212529"/>
              </a:solidFill>
            </a:endParaRPr>
          </a:p>
        </p:txBody>
      </p:sp>
      <p:pic>
        <p:nvPicPr>
          <p:cNvPr id="213" name="Google Shape;213;p34"/>
          <p:cNvPicPr preferRelativeResize="0"/>
          <p:nvPr/>
        </p:nvPicPr>
        <p:blipFill rotWithShape="1">
          <a:blip r:embed="rId3">
            <a:alphaModFix/>
          </a:blip>
          <a:srcRect l="17992"/>
          <a:stretch/>
        </p:blipFill>
        <p:spPr>
          <a:xfrm>
            <a:off x="4441225" y="690975"/>
            <a:ext cx="4702775" cy="42165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311700" y="308875"/>
            <a:ext cx="8520600" cy="6753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Substation Details</a:t>
            </a:r>
            <a:endParaRPr/>
          </a:p>
        </p:txBody>
      </p:sp>
      <p:sp>
        <p:nvSpPr>
          <p:cNvPr id="219" name="Google Shape;219;p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GIS( Gas Insulated Substation) is installed in the machine floor of the power house, which consists of all the switchgear required for the protection of the generator, transformers, busbars and overall plant. </a:t>
            </a:r>
            <a:endParaRPr/>
          </a:p>
          <a:p>
            <a:pPr marL="0" lvl="0" indent="0" algn="l" rtl="0">
              <a:spcBef>
                <a:spcPts val="1200"/>
              </a:spcBef>
              <a:spcAft>
                <a:spcPts val="0"/>
              </a:spcAft>
              <a:buNone/>
            </a:pPr>
            <a:r>
              <a:rPr lang="en"/>
              <a:t>Double Bus Single Breaker Bus Bar has been used. Double circuit XLPE cable of 220 kv has been taken out for transmission through access tunnel.</a:t>
            </a:r>
            <a:endParaRPr/>
          </a:p>
          <a:p>
            <a:pPr marL="0" lvl="0" indent="0" algn="l" rtl="0">
              <a:spcBef>
                <a:spcPts val="1200"/>
              </a:spcBef>
              <a:spcAft>
                <a:spcPts val="0"/>
              </a:spcAft>
              <a:buNone/>
            </a:pPr>
            <a:r>
              <a:rPr lang="en"/>
              <a:t>The 220 kv transmission line is being transmitted to the Khimti Substation from where it is connected to the national grid.</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Protection System</a:t>
            </a:r>
            <a:endParaRPr/>
          </a:p>
        </p:txBody>
      </p:sp>
      <p:sp>
        <p:nvSpPr>
          <p:cNvPr id="225" name="Google Shape;225;p3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Digital Protection system was used for the protection of the overall plant. Digital relay integrated with the SCADA ensures the protection of the substation , generator and transformers in the plant.</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Overall safety of the system is further enhanced with the help of redundant systems. This method ensures the system to run flawlessly even in the case of some equipment failure due to the availability of redundant systems.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7"/>
          <p:cNvSpPr txBox="1">
            <a:spLocks noGrp="1"/>
          </p:cNvSpPr>
          <p:nvPr>
            <p:ph type="title"/>
          </p:nvPr>
        </p:nvSpPr>
        <p:spPr>
          <a:xfrm>
            <a:off x="408725" y="0"/>
            <a:ext cx="4435800" cy="557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Condition Monitoring System</a:t>
            </a:r>
            <a:endParaRPr/>
          </a:p>
        </p:txBody>
      </p:sp>
      <p:sp>
        <p:nvSpPr>
          <p:cNvPr id="231" name="Google Shape;231;p37"/>
          <p:cNvSpPr txBox="1">
            <a:spLocks noGrp="1"/>
          </p:cNvSpPr>
          <p:nvPr>
            <p:ph type="body" idx="1"/>
          </p:nvPr>
        </p:nvSpPr>
        <p:spPr>
          <a:xfrm>
            <a:off x="155850" y="4002225"/>
            <a:ext cx="8832300" cy="1013100"/>
          </a:xfrm>
          <a:prstGeom prst="rect">
            <a:avLst/>
          </a:prstGeom>
        </p:spPr>
        <p:txBody>
          <a:bodyPr spcFirstLastPara="1" wrap="square" lIns="91425" tIns="91425" rIns="91425" bIns="91425" anchor="t" anchorCtr="0">
            <a:normAutofit fontScale="77500"/>
          </a:bodyPr>
          <a:lstStyle/>
          <a:p>
            <a:pPr marL="0" lvl="0" indent="0" algn="l" rtl="0">
              <a:spcBef>
                <a:spcPts val="0"/>
              </a:spcBef>
              <a:spcAft>
                <a:spcPts val="1200"/>
              </a:spcAft>
              <a:buNone/>
            </a:pPr>
            <a:r>
              <a:rPr lang="en"/>
              <a:t>Continuous monitoring of the temperature and vibration is done remotely using SCADA. Monitoring of Coil temperature of generator, transformer and vibration of turbine and generator helps in deciding the proper condition of their operation and mitigate any fault as soon as possible.</a:t>
            </a:r>
            <a:endParaRPr/>
          </a:p>
        </p:txBody>
      </p:sp>
      <p:pic>
        <p:nvPicPr>
          <p:cNvPr id="232" name="Google Shape;232;p37"/>
          <p:cNvPicPr preferRelativeResize="0"/>
          <p:nvPr/>
        </p:nvPicPr>
        <p:blipFill>
          <a:blip r:embed="rId3">
            <a:alphaModFix/>
          </a:blip>
          <a:stretch>
            <a:fillRect/>
          </a:stretch>
        </p:blipFill>
        <p:spPr>
          <a:xfrm>
            <a:off x="40750" y="821875"/>
            <a:ext cx="4531250" cy="2827700"/>
          </a:xfrm>
          <a:prstGeom prst="rect">
            <a:avLst/>
          </a:prstGeom>
          <a:noFill/>
          <a:ln>
            <a:noFill/>
          </a:ln>
        </p:spPr>
      </p:pic>
      <p:pic>
        <p:nvPicPr>
          <p:cNvPr id="233" name="Google Shape;233;p37"/>
          <p:cNvPicPr preferRelativeResize="0"/>
          <p:nvPr/>
        </p:nvPicPr>
        <p:blipFill>
          <a:blip r:embed="rId4">
            <a:alphaModFix/>
          </a:blip>
          <a:stretch>
            <a:fillRect/>
          </a:stretch>
        </p:blipFill>
        <p:spPr>
          <a:xfrm>
            <a:off x="4612750" y="789975"/>
            <a:ext cx="4531250" cy="28276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457200" lvl="0" indent="-434340" algn="l" rtl="0">
              <a:spcBef>
                <a:spcPts val="0"/>
              </a:spcBef>
              <a:spcAft>
                <a:spcPts val="0"/>
              </a:spcAft>
              <a:buSzPct val="100000"/>
              <a:buChar char="❖"/>
            </a:pPr>
            <a:r>
              <a:rPr lang="en"/>
              <a:t>Communication System &amp; SCADA</a:t>
            </a:r>
            <a:endParaRPr/>
          </a:p>
        </p:txBody>
      </p:sp>
      <p:sp>
        <p:nvSpPr>
          <p:cNvPr id="239" name="Google Shape;239;p38"/>
          <p:cNvSpPr txBox="1">
            <a:spLocks noGrp="1"/>
          </p:cNvSpPr>
          <p:nvPr>
            <p:ph type="body" idx="1"/>
          </p:nvPr>
        </p:nvSpPr>
        <p:spPr>
          <a:xfrm>
            <a:off x="582750" y="1179700"/>
            <a:ext cx="7978500" cy="16635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There are 3 communication system used in this power plant.</a:t>
            </a:r>
            <a:endParaRPr/>
          </a:p>
          <a:p>
            <a:pPr marL="457200" lvl="0" indent="-342900" algn="l" rtl="0">
              <a:spcBef>
                <a:spcPts val="1200"/>
              </a:spcBef>
              <a:spcAft>
                <a:spcPts val="0"/>
              </a:spcAft>
              <a:buSzPts val="1800"/>
              <a:buChar char="●"/>
            </a:pPr>
            <a:r>
              <a:rPr lang="en"/>
              <a:t>Walkie Talkie(Radio communication)</a:t>
            </a:r>
            <a:endParaRPr/>
          </a:p>
          <a:p>
            <a:pPr marL="457200" lvl="0" indent="-342900" algn="l" rtl="0">
              <a:spcBef>
                <a:spcPts val="0"/>
              </a:spcBef>
              <a:spcAft>
                <a:spcPts val="0"/>
              </a:spcAft>
              <a:buSzPts val="1800"/>
              <a:buChar char="●"/>
            </a:pPr>
            <a:r>
              <a:rPr lang="en"/>
              <a:t>Fibre optics communication(SCADA Communication)</a:t>
            </a:r>
            <a:endParaRPr/>
          </a:p>
          <a:p>
            <a:pPr marL="457200" lvl="0" indent="-342900" algn="l" rtl="0">
              <a:spcBef>
                <a:spcPts val="0"/>
              </a:spcBef>
              <a:spcAft>
                <a:spcPts val="0"/>
              </a:spcAft>
              <a:buSzPts val="1800"/>
              <a:buChar char="●"/>
            </a:pPr>
            <a:r>
              <a:rPr lang="en"/>
              <a:t>Nepal Telecom Communication(External Communication) Communication with LDC (Load Dispatch Center)</a:t>
            </a:r>
            <a:endParaRPr/>
          </a:p>
        </p:txBody>
      </p:sp>
      <p:sp>
        <p:nvSpPr>
          <p:cNvPr id="240" name="Google Shape;240;p38"/>
          <p:cNvSpPr txBox="1">
            <a:spLocks noGrp="1"/>
          </p:cNvSpPr>
          <p:nvPr>
            <p:ph type="body" idx="1"/>
          </p:nvPr>
        </p:nvSpPr>
        <p:spPr>
          <a:xfrm>
            <a:off x="735150" y="3005175"/>
            <a:ext cx="7978500" cy="16635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1200"/>
              </a:spcAft>
              <a:buNone/>
            </a:pPr>
            <a:r>
              <a:rPr lang="en"/>
              <a:t>SCADA means Supervisory Control and Data Acquisition.The SCADA system is an advanced control and monitoring system used in hydropower plants to manage and automate operations. It allows operators to remotely monitor, control, and collect real-time data from various components.Fiber optics has been used for the function of SCADA system in the plant.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9"/>
          <p:cNvSpPr txBox="1">
            <a:spLocks noGrp="1"/>
          </p:cNvSpPr>
          <p:nvPr>
            <p:ph type="title"/>
          </p:nvPr>
        </p:nvSpPr>
        <p:spPr>
          <a:xfrm>
            <a:off x="43475" y="0"/>
            <a:ext cx="8788800" cy="4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840"/>
              <a:t>Daily Load Forecasting Curve</a:t>
            </a:r>
            <a:endParaRPr sz="2840"/>
          </a:p>
        </p:txBody>
      </p:sp>
      <p:pic>
        <p:nvPicPr>
          <p:cNvPr id="246" name="Google Shape;246;p39"/>
          <p:cNvPicPr preferRelativeResize="0"/>
          <p:nvPr/>
        </p:nvPicPr>
        <p:blipFill>
          <a:blip r:embed="rId3">
            <a:alphaModFix/>
          </a:blip>
          <a:stretch>
            <a:fillRect/>
          </a:stretch>
        </p:blipFill>
        <p:spPr>
          <a:xfrm>
            <a:off x="0" y="504650"/>
            <a:ext cx="9143999" cy="45335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0"/>
          <p:cNvSpPr txBox="1">
            <a:spLocks noGrp="1"/>
          </p:cNvSpPr>
          <p:nvPr>
            <p:ph type="title"/>
          </p:nvPr>
        </p:nvSpPr>
        <p:spPr>
          <a:xfrm>
            <a:off x="154675" y="0"/>
            <a:ext cx="8520600" cy="496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Overall Plant single line diagram</a:t>
            </a:r>
            <a:endParaRPr/>
          </a:p>
        </p:txBody>
      </p:sp>
      <p:sp>
        <p:nvSpPr>
          <p:cNvPr id="252" name="Google Shape;252;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3" name="Google Shape;253;p40"/>
          <p:cNvPicPr preferRelativeResize="0"/>
          <p:nvPr/>
        </p:nvPicPr>
        <p:blipFill>
          <a:blip r:embed="rId3">
            <a:alphaModFix/>
          </a:blip>
          <a:stretch>
            <a:fillRect/>
          </a:stretch>
        </p:blipFill>
        <p:spPr>
          <a:xfrm>
            <a:off x="0" y="653150"/>
            <a:ext cx="9144000" cy="43961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1"/>
          <p:cNvSpPr txBox="1">
            <a:spLocks noGrp="1"/>
          </p:cNvSpPr>
          <p:nvPr>
            <p:ph type="title"/>
          </p:nvPr>
        </p:nvSpPr>
        <p:spPr>
          <a:xfrm>
            <a:off x="311700" y="161200"/>
            <a:ext cx="8520600" cy="596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Visit Photos</a:t>
            </a:r>
            <a:endParaRPr/>
          </a:p>
        </p:txBody>
      </p:sp>
      <p:sp>
        <p:nvSpPr>
          <p:cNvPr id="259" name="Google Shape;259;p4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0" name="Google Shape;260;p41" title="Upp.jpg"/>
          <p:cNvPicPr preferRelativeResize="0"/>
          <p:nvPr/>
        </p:nvPicPr>
        <p:blipFill>
          <a:blip r:embed="rId3">
            <a:alphaModFix/>
          </a:blip>
          <a:stretch>
            <a:fillRect/>
          </a:stretch>
        </p:blipFill>
        <p:spPr>
          <a:xfrm>
            <a:off x="311700" y="820625"/>
            <a:ext cx="8608302" cy="41135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2"/>
          <p:cNvSpPr txBox="1">
            <a:spLocks noGrp="1"/>
          </p:cNvSpPr>
          <p:nvPr>
            <p:ph type="title"/>
          </p:nvPr>
        </p:nvSpPr>
        <p:spPr>
          <a:xfrm>
            <a:off x="585625" y="472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Visit Photos</a:t>
            </a:r>
            <a:endParaRPr/>
          </a:p>
        </p:txBody>
      </p:sp>
      <p:pic>
        <p:nvPicPr>
          <p:cNvPr id="266" name="Google Shape;266;p42"/>
          <p:cNvPicPr preferRelativeResize="0"/>
          <p:nvPr/>
        </p:nvPicPr>
        <p:blipFill>
          <a:blip r:embed="rId3">
            <a:alphaModFix/>
          </a:blip>
          <a:stretch>
            <a:fillRect/>
          </a:stretch>
        </p:blipFill>
        <p:spPr>
          <a:xfrm>
            <a:off x="585625" y="754675"/>
            <a:ext cx="7766294" cy="4210875"/>
          </a:xfrm>
          <a:prstGeom prst="rect">
            <a:avLst/>
          </a:prstGeom>
          <a:noFill/>
          <a:ln>
            <a:noFill/>
          </a:ln>
        </p:spPr>
      </p:pic>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1197</Words>
  <Application>Microsoft Office PowerPoint</Application>
  <PresentationFormat>On-screen Show (16:9)</PresentationFormat>
  <Paragraphs>141</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PT Sans Narrow</vt:lpstr>
      <vt:lpstr>Open Sans</vt:lpstr>
      <vt:lpstr>Roboto</vt:lpstr>
      <vt:lpstr>Tropic</vt:lpstr>
      <vt:lpstr>Power Plant Study Visit – Upper Tamakoshi Hydropower</vt:lpstr>
      <vt:lpstr>Upper Tamakoshi Hydropower plant: 456 MW</vt:lpstr>
      <vt:lpstr>Overview  </vt:lpstr>
      <vt:lpstr>Overall Plant Overview</vt:lpstr>
      <vt:lpstr>Reservoir and Dam Details:</vt:lpstr>
      <vt:lpstr>Reservoir Details:</vt:lpstr>
      <vt:lpstr>Dam:</vt:lpstr>
      <vt:lpstr>PowerPoint Presentation</vt:lpstr>
      <vt:lpstr>Trash Rack: </vt:lpstr>
      <vt:lpstr>Trash rack</vt:lpstr>
      <vt:lpstr>Settling Basin And Forebay:</vt:lpstr>
      <vt:lpstr>PowerPoint Presentation</vt:lpstr>
      <vt:lpstr>Dam site view</vt:lpstr>
      <vt:lpstr>Tunnel Details:</vt:lpstr>
      <vt:lpstr>Power House Details</vt:lpstr>
      <vt:lpstr>Turbine Details:</vt:lpstr>
      <vt:lpstr>Generator Details:</vt:lpstr>
      <vt:lpstr>Main Inlet Valve In the Power House</vt:lpstr>
      <vt:lpstr>Excitation System : Starting Sequence</vt:lpstr>
      <vt:lpstr>Breaking/ Stop Sequence</vt:lpstr>
      <vt:lpstr>Cooling System and Fire Hazard Prevention:</vt:lpstr>
      <vt:lpstr>Power Transformer  Details:</vt:lpstr>
      <vt:lpstr>Substation Details</vt:lpstr>
      <vt:lpstr>Protection System</vt:lpstr>
      <vt:lpstr>Condition Monitoring System</vt:lpstr>
      <vt:lpstr>Communication System &amp; SCADA</vt:lpstr>
      <vt:lpstr>Daily Load Forecasting Curve</vt:lpstr>
      <vt:lpstr>Overall Plant single line diagram</vt:lpstr>
      <vt:lpstr>Visit Photos</vt:lpstr>
      <vt:lpstr>Visit Photos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Plant Study Visit – Upper Tamakoshi Hydropower</dc:title>
  <dc:creator>Acer</dc:creator>
  <cp:lastModifiedBy>chandan sah</cp:lastModifiedBy>
  <cp:revision>1</cp:revision>
  <dcterms:modified xsi:type="dcterms:W3CDTF">2025-06-13T05:38:08Z</dcterms:modified>
</cp:coreProperties>
</file>